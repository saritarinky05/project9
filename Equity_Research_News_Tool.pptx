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37446F-DBE2-47A2-8127-949F5F840133}" v="2" dt="2026-10-24T14:32:20.2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0" d="100"/>
          <a:sy n="70" d="100"/>
        </p:scale>
        <p:origin x="512"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bhash Sahoo" userId="cbda5c0254b87e85" providerId="LiveId" clId="{9C838C22-C32E-4DCE-B262-08D7E02A02EB}"/>
    <pc:docChg chg="undo custSel modSld">
      <pc:chgData name="Subhash Sahoo" userId="cbda5c0254b87e85" providerId="LiveId" clId="{9C838C22-C32E-4DCE-B262-08D7E02A02EB}" dt="2026-10-24T15:39:08.254" v="22" actId="14100"/>
      <pc:docMkLst>
        <pc:docMk/>
      </pc:docMkLst>
      <pc:sldChg chg="addSp delSp modSp mod">
        <pc:chgData name="Subhash Sahoo" userId="cbda5c0254b87e85" providerId="LiveId" clId="{9C838C22-C32E-4DCE-B262-08D7E02A02EB}" dt="2026-10-24T14:32:42.626" v="9" actId="14100"/>
        <pc:sldMkLst>
          <pc:docMk/>
          <pc:sldMk cId="0" sldId="256"/>
        </pc:sldMkLst>
        <pc:spChg chg="del">
          <ac:chgData name="Subhash Sahoo" userId="cbda5c0254b87e85" providerId="LiveId" clId="{9C838C22-C32E-4DCE-B262-08D7E02A02EB}" dt="2026-10-24T14:28:25.734" v="0" actId="478"/>
          <ac:spMkLst>
            <pc:docMk/>
            <pc:sldMk cId="0" sldId="256"/>
            <ac:spMk id="16" creationId="{00000000-0000-0000-0000-000000000000}"/>
          </ac:spMkLst>
        </pc:spChg>
        <pc:spChg chg="add mod">
          <ac:chgData name="Subhash Sahoo" userId="cbda5c0254b87e85" providerId="LiveId" clId="{9C838C22-C32E-4DCE-B262-08D7E02A02EB}" dt="2026-10-24T14:32:42.626" v="9" actId="14100"/>
          <ac:spMkLst>
            <pc:docMk/>
            <pc:sldMk cId="0" sldId="256"/>
            <ac:spMk id="17" creationId="{8C786156-574F-41AE-6276-D05180CB554C}"/>
          </ac:spMkLst>
        </pc:spChg>
      </pc:sldChg>
      <pc:sldChg chg="modSp mod">
        <pc:chgData name="Subhash Sahoo" userId="cbda5c0254b87e85" providerId="LiveId" clId="{9C838C22-C32E-4DCE-B262-08D7E02A02EB}" dt="2026-10-24T15:37:52.780" v="12" actId="1076"/>
        <pc:sldMkLst>
          <pc:docMk/>
          <pc:sldMk cId="0" sldId="265"/>
        </pc:sldMkLst>
        <pc:spChg chg="mod">
          <ac:chgData name="Subhash Sahoo" userId="cbda5c0254b87e85" providerId="LiveId" clId="{9C838C22-C32E-4DCE-B262-08D7E02A02EB}" dt="2026-10-24T15:37:52.780" v="12" actId="1076"/>
          <ac:spMkLst>
            <pc:docMk/>
            <pc:sldMk cId="0" sldId="265"/>
            <ac:spMk id="16" creationId="{00000000-0000-0000-0000-000000000000}"/>
          </ac:spMkLst>
        </pc:spChg>
      </pc:sldChg>
      <pc:sldChg chg="addSp modSp mod">
        <pc:chgData name="Subhash Sahoo" userId="cbda5c0254b87e85" providerId="LiveId" clId="{9C838C22-C32E-4DCE-B262-08D7E02A02EB}" dt="2026-10-24T15:39:08.254" v="22" actId="14100"/>
        <pc:sldMkLst>
          <pc:docMk/>
          <pc:sldMk cId="0" sldId="267"/>
        </pc:sldMkLst>
        <pc:spChg chg="mod">
          <ac:chgData name="Subhash Sahoo" userId="cbda5c0254b87e85" providerId="LiveId" clId="{9C838C22-C32E-4DCE-B262-08D7E02A02EB}" dt="2026-10-24T15:39:08.254" v="22" actId="14100"/>
          <ac:spMkLst>
            <pc:docMk/>
            <pc:sldMk cId="0" sldId="267"/>
            <ac:spMk id="8" creationId="{00000000-0000-0000-0000-000000000000}"/>
          </ac:spMkLst>
        </pc:spChg>
        <pc:picChg chg="add mod">
          <ac:chgData name="Subhash Sahoo" userId="cbda5c0254b87e85" providerId="LiveId" clId="{9C838C22-C32E-4DCE-B262-08D7E02A02EB}" dt="2026-10-24T15:39:02.199" v="21" actId="1076"/>
          <ac:picMkLst>
            <pc:docMk/>
            <pc:sldMk cId="0" sldId="267"/>
            <ac:picMk id="28" creationId="{78C3B4F9-FC36-D6E3-37F7-C4D4CA0E2F9B}"/>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2286000"/>
            <a:ext cx="12188952" cy="64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475488"/>
            <a:ext cx="9418320" cy="1097280"/>
          </a:xfrm>
          <a:prstGeom prst="rect">
            <a:avLst/>
          </a:prstGeom>
          <a:noFill/>
        </p:spPr>
        <p:txBody>
          <a:bodyPr wrap="square">
            <a:spAutoFit/>
          </a:bodyPr>
          <a:lstStyle/>
          <a:p>
            <a:pPr algn="l"/>
            <a:r>
              <a:rPr sz="4200" b="1">
                <a:solidFill>
                  <a:srgbClr val="F1F5F9"/>
                </a:solidFill>
              </a:rPr>
              <a:t>Equity Research News Tool</a:t>
            </a:r>
          </a:p>
        </p:txBody>
      </p:sp>
      <p:sp>
        <p:nvSpPr>
          <p:cNvPr id="4" name="TextBox 3"/>
          <p:cNvSpPr txBox="1"/>
          <p:nvPr/>
        </p:nvSpPr>
        <p:spPr>
          <a:xfrm>
            <a:off x="1371600" y="1664208"/>
            <a:ext cx="9418320" cy="457200"/>
          </a:xfrm>
          <a:prstGeom prst="rect">
            <a:avLst/>
          </a:prstGeom>
          <a:noFill/>
        </p:spPr>
        <p:txBody>
          <a:bodyPr wrap="square">
            <a:spAutoFit/>
          </a:bodyPr>
          <a:lstStyle/>
          <a:p>
            <a:pPr algn="l"/>
            <a:r>
              <a:rPr sz="1700" b="0">
                <a:solidFill>
                  <a:srgbClr val="94A3B8"/>
                </a:solidFill>
              </a:rPr>
              <a:t>LLM Machine Learning Project  |  Project 9</a:t>
            </a:r>
          </a:p>
        </p:txBody>
      </p:sp>
      <p:sp>
        <p:nvSpPr>
          <p:cNvPr id="5" name="TextBox 4"/>
          <p:cNvSpPr txBox="1"/>
          <p:nvPr/>
        </p:nvSpPr>
        <p:spPr>
          <a:xfrm>
            <a:off x="1371600" y="2450592"/>
            <a:ext cx="9418320" cy="411480"/>
          </a:xfrm>
          <a:prstGeom prst="rect">
            <a:avLst/>
          </a:prstGeom>
          <a:noFill/>
        </p:spPr>
        <p:txBody>
          <a:bodyPr wrap="square">
            <a:spAutoFit/>
          </a:bodyPr>
          <a:lstStyle/>
          <a:p>
            <a:pPr algn="l"/>
            <a:r>
              <a:rPr sz="1300" b="0">
                <a:solidFill>
                  <a:srgbClr val="64748B"/>
                </a:solidFill>
              </a:rPr>
              <a:t>AI-powered equity news research using LangChain · OpenAI · NewsAPI · Streamlit</a:t>
            </a:r>
          </a:p>
        </p:txBody>
      </p:sp>
      <p:sp>
        <p:nvSpPr>
          <p:cNvPr id="6" name="Rectangle 5"/>
          <p:cNvSpPr/>
          <p:nvPr/>
        </p:nvSpPr>
        <p:spPr>
          <a:xfrm>
            <a:off x="1828800" y="3246120"/>
            <a:ext cx="1737360" cy="40233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901952" y="3310127"/>
            <a:ext cx="1609343" cy="310896"/>
          </a:xfrm>
          <a:prstGeom prst="rect">
            <a:avLst/>
          </a:prstGeom>
          <a:noFill/>
        </p:spPr>
        <p:txBody>
          <a:bodyPr wrap="square">
            <a:spAutoFit/>
          </a:bodyPr>
          <a:lstStyle/>
          <a:p>
            <a:pPr algn="ctr"/>
            <a:r>
              <a:rPr sz="1300" b="1">
                <a:solidFill>
                  <a:srgbClr val="F1F5F9"/>
                </a:solidFill>
              </a:rPr>
              <a:t>LangChain</a:t>
            </a:r>
          </a:p>
        </p:txBody>
      </p:sp>
      <p:sp>
        <p:nvSpPr>
          <p:cNvPr id="8" name="Rectangle 7"/>
          <p:cNvSpPr/>
          <p:nvPr/>
        </p:nvSpPr>
        <p:spPr>
          <a:xfrm>
            <a:off x="3703320" y="3246120"/>
            <a:ext cx="1737360" cy="40233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776472" y="3310127"/>
            <a:ext cx="1609343" cy="310896"/>
          </a:xfrm>
          <a:prstGeom prst="rect">
            <a:avLst/>
          </a:prstGeom>
          <a:noFill/>
        </p:spPr>
        <p:txBody>
          <a:bodyPr wrap="square">
            <a:spAutoFit/>
          </a:bodyPr>
          <a:lstStyle/>
          <a:p>
            <a:pPr algn="ctr"/>
            <a:r>
              <a:rPr sz="1300" b="1">
                <a:solidFill>
                  <a:srgbClr val="F1F5F9"/>
                </a:solidFill>
              </a:rPr>
              <a:t>OpenAI</a:t>
            </a:r>
          </a:p>
        </p:txBody>
      </p:sp>
      <p:sp>
        <p:nvSpPr>
          <p:cNvPr id="10" name="Rectangle 9"/>
          <p:cNvSpPr/>
          <p:nvPr/>
        </p:nvSpPr>
        <p:spPr>
          <a:xfrm>
            <a:off x="5577840" y="3246120"/>
            <a:ext cx="1737360" cy="40233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50992" y="3310127"/>
            <a:ext cx="1609343" cy="310896"/>
          </a:xfrm>
          <a:prstGeom prst="rect">
            <a:avLst/>
          </a:prstGeom>
          <a:noFill/>
        </p:spPr>
        <p:txBody>
          <a:bodyPr wrap="square">
            <a:spAutoFit/>
          </a:bodyPr>
          <a:lstStyle/>
          <a:p>
            <a:pPr algn="ctr"/>
            <a:r>
              <a:rPr sz="1300" b="1">
                <a:solidFill>
                  <a:srgbClr val="F1F5F9"/>
                </a:solidFill>
              </a:rPr>
              <a:t>NewsAPI</a:t>
            </a:r>
          </a:p>
        </p:txBody>
      </p:sp>
      <p:sp>
        <p:nvSpPr>
          <p:cNvPr id="12" name="Rectangle 11"/>
          <p:cNvSpPr/>
          <p:nvPr/>
        </p:nvSpPr>
        <p:spPr>
          <a:xfrm>
            <a:off x="7452360" y="3246120"/>
            <a:ext cx="1737360" cy="402336"/>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25512" y="3310127"/>
            <a:ext cx="1609343" cy="310896"/>
          </a:xfrm>
          <a:prstGeom prst="rect">
            <a:avLst/>
          </a:prstGeom>
          <a:noFill/>
        </p:spPr>
        <p:txBody>
          <a:bodyPr wrap="square">
            <a:spAutoFit/>
          </a:bodyPr>
          <a:lstStyle/>
          <a:p>
            <a:pPr algn="ctr"/>
            <a:r>
              <a:rPr sz="1300" b="1">
                <a:solidFill>
                  <a:srgbClr val="F1F5F9"/>
                </a:solidFill>
              </a:rPr>
              <a:t>Streamlit</a:t>
            </a:r>
          </a:p>
        </p:txBody>
      </p:sp>
      <p:sp>
        <p:nvSpPr>
          <p:cNvPr id="14" name="Rectangle 13"/>
          <p:cNvSpPr/>
          <p:nvPr/>
        </p:nvSpPr>
        <p:spPr>
          <a:xfrm>
            <a:off x="9326880" y="3246120"/>
            <a:ext cx="1737360" cy="402336"/>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400032" y="3310127"/>
            <a:ext cx="1609343" cy="310896"/>
          </a:xfrm>
          <a:prstGeom prst="rect">
            <a:avLst/>
          </a:prstGeom>
          <a:noFill/>
        </p:spPr>
        <p:txBody>
          <a:bodyPr wrap="square">
            <a:spAutoFit/>
          </a:bodyPr>
          <a:lstStyle/>
          <a:p>
            <a:pPr algn="ctr"/>
            <a:r>
              <a:rPr sz="1300" b="1">
                <a:solidFill>
                  <a:srgbClr val="F1F5F9"/>
                </a:solidFill>
              </a:rPr>
              <a:t>Python</a:t>
            </a:r>
          </a:p>
        </p:txBody>
      </p:sp>
      <p:sp>
        <p:nvSpPr>
          <p:cNvPr id="17" name="TextBox 16">
            <a:extLst>
              <a:ext uri="{FF2B5EF4-FFF2-40B4-BE49-F238E27FC236}">
                <a16:creationId xmlns:a16="http://schemas.microsoft.com/office/drawing/2014/main" id="{8C786156-574F-41AE-6276-D05180CB554C}"/>
              </a:ext>
            </a:extLst>
          </p:cNvPr>
          <p:cNvSpPr txBox="1"/>
          <p:nvPr/>
        </p:nvSpPr>
        <p:spPr>
          <a:xfrm>
            <a:off x="8174736" y="4791456"/>
            <a:ext cx="2889504" cy="966931"/>
          </a:xfrm>
          <a:prstGeom prst="rect">
            <a:avLst/>
          </a:prstGeom>
          <a:noFill/>
        </p:spPr>
        <p:txBody>
          <a:bodyPr wrap="square" rtlCol="0">
            <a:spAutoFit/>
          </a:bodyPr>
          <a:lstStyle/>
          <a:p>
            <a:pPr>
              <a:spcBef>
                <a:spcPts val="2500"/>
              </a:spcBef>
            </a:pPr>
            <a:r>
              <a:rPr lang="en-IN" dirty="0" err="1">
                <a:solidFill>
                  <a:srgbClr val="00B0F0"/>
                </a:solidFill>
              </a:rPr>
              <a:t>NextHikes</a:t>
            </a:r>
            <a:r>
              <a:rPr lang="en-IN" dirty="0">
                <a:solidFill>
                  <a:srgbClr val="00B0F0"/>
                </a:solidFill>
              </a:rPr>
              <a:t> IT Solutions</a:t>
            </a:r>
          </a:p>
          <a:p>
            <a:pPr>
              <a:spcBef>
                <a:spcPts val="2500"/>
              </a:spcBef>
            </a:pPr>
            <a:r>
              <a:rPr lang="en-IN" dirty="0">
                <a:solidFill>
                  <a:srgbClr val="00B0F0"/>
                </a:solidFill>
              </a:rPr>
              <a:t>Sarita Sahoo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82296"/>
            <a:ext cx="11521440" cy="548640"/>
          </a:xfrm>
          <a:prstGeom prst="rect">
            <a:avLst/>
          </a:prstGeom>
          <a:noFill/>
        </p:spPr>
        <p:txBody>
          <a:bodyPr wrap="square">
            <a:spAutoFit/>
          </a:bodyPr>
          <a:lstStyle/>
          <a:p>
            <a:pPr algn="l"/>
            <a:r>
              <a:rPr sz="2600" b="1">
                <a:solidFill>
                  <a:srgbClr val="F1F5F9"/>
                </a:solidFill>
              </a:rPr>
              <a:t>Table of Contents</a:t>
            </a:r>
          </a:p>
        </p:txBody>
      </p:sp>
      <p:sp>
        <p:nvSpPr>
          <p:cNvPr id="4" name="TextBox 3"/>
          <p:cNvSpPr txBox="1"/>
          <p:nvPr/>
        </p:nvSpPr>
        <p:spPr>
          <a:xfrm>
            <a:off x="274320" y="658368"/>
            <a:ext cx="11521440" cy="347472"/>
          </a:xfrm>
          <a:prstGeom prst="rect">
            <a:avLst/>
          </a:prstGeom>
          <a:noFill/>
        </p:spPr>
        <p:txBody>
          <a:bodyPr wrap="square">
            <a:spAutoFit/>
          </a:bodyPr>
          <a:lstStyle/>
          <a:p>
            <a:pPr algn="l"/>
            <a:r>
              <a:rPr sz="1100" b="0">
                <a:solidFill>
                  <a:srgbClr val="94A3B8"/>
                </a:solidFill>
              </a:rPr>
              <a:t>Six phases from environment setup to deployment</a:t>
            </a:r>
          </a:p>
        </p:txBody>
      </p:sp>
      <p:sp>
        <p:nvSpPr>
          <p:cNvPr id="5" name="Rectangle 4"/>
          <p:cNvSpPr/>
          <p:nvPr/>
        </p:nvSpPr>
        <p:spPr>
          <a:xfrm>
            <a:off x="320040" y="1188720"/>
            <a:ext cx="1828800" cy="7498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1408176"/>
            <a:ext cx="1828800" cy="347472"/>
          </a:xfrm>
          <a:prstGeom prst="rect">
            <a:avLst/>
          </a:prstGeom>
          <a:noFill/>
        </p:spPr>
        <p:txBody>
          <a:bodyPr wrap="square">
            <a:spAutoFit/>
          </a:bodyPr>
          <a:lstStyle/>
          <a:p>
            <a:pPr algn="ctr"/>
            <a:r>
              <a:rPr sz="1300" b="1">
                <a:solidFill>
                  <a:srgbClr val="F1F5F9"/>
                </a:solidFill>
              </a:rPr>
              <a:t>Phase 1</a:t>
            </a:r>
          </a:p>
        </p:txBody>
      </p:sp>
      <p:sp>
        <p:nvSpPr>
          <p:cNvPr id="7" name="Rectangle 6"/>
          <p:cNvSpPr/>
          <p:nvPr/>
        </p:nvSpPr>
        <p:spPr>
          <a:xfrm>
            <a:off x="2286000" y="1188720"/>
            <a:ext cx="9601200" cy="74980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423160" y="1234440"/>
            <a:ext cx="9326880" cy="320040"/>
          </a:xfrm>
          <a:prstGeom prst="rect">
            <a:avLst/>
          </a:prstGeom>
          <a:noFill/>
        </p:spPr>
        <p:txBody>
          <a:bodyPr wrap="square">
            <a:spAutoFit/>
          </a:bodyPr>
          <a:lstStyle/>
          <a:p>
            <a:pPr algn="l"/>
            <a:r>
              <a:rPr sz="1300" b="1">
                <a:solidFill>
                  <a:srgbClr val="F1F5F9"/>
                </a:solidFill>
              </a:rPr>
              <a:t>Environment Setup</a:t>
            </a:r>
          </a:p>
        </p:txBody>
      </p:sp>
      <p:sp>
        <p:nvSpPr>
          <p:cNvPr id="9" name="TextBox 8"/>
          <p:cNvSpPr txBox="1"/>
          <p:nvPr/>
        </p:nvSpPr>
        <p:spPr>
          <a:xfrm>
            <a:off x="2423160" y="1591056"/>
            <a:ext cx="9326880" cy="292608"/>
          </a:xfrm>
          <a:prstGeom prst="rect">
            <a:avLst/>
          </a:prstGeom>
          <a:noFill/>
        </p:spPr>
        <p:txBody>
          <a:bodyPr wrap="square">
            <a:spAutoFit/>
          </a:bodyPr>
          <a:lstStyle/>
          <a:p>
            <a:pPr algn="l"/>
            <a:r>
              <a:rPr sz="1000" b="0">
                <a:solidFill>
                  <a:srgbClr val="94A3B8"/>
                </a:solidFill>
              </a:rPr>
              <a:t>Install libraries (LangChain, OpenAI, Streamlit, NewsAPI) and configure API keys</a:t>
            </a:r>
          </a:p>
        </p:txBody>
      </p:sp>
      <p:sp>
        <p:nvSpPr>
          <p:cNvPr id="10" name="Rectangle 9"/>
          <p:cNvSpPr/>
          <p:nvPr/>
        </p:nvSpPr>
        <p:spPr>
          <a:xfrm>
            <a:off x="320040" y="2084832"/>
            <a:ext cx="1828800" cy="7498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 y="2304288"/>
            <a:ext cx="1828800" cy="347472"/>
          </a:xfrm>
          <a:prstGeom prst="rect">
            <a:avLst/>
          </a:prstGeom>
          <a:noFill/>
        </p:spPr>
        <p:txBody>
          <a:bodyPr wrap="square">
            <a:spAutoFit/>
          </a:bodyPr>
          <a:lstStyle/>
          <a:p>
            <a:pPr algn="ctr"/>
            <a:r>
              <a:rPr sz="1300" b="1">
                <a:solidFill>
                  <a:srgbClr val="F1F5F9"/>
                </a:solidFill>
              </a:rPr>
              <a:t>Phase 2</a:t>
            </a:r>
          </a:p>
        </p:txBody>
      </p:sp>
      <p:sp>
        <p:nvSpPr>
          <p:cNvPr id="12" name="Rectangle 11"/>
          <p:cNvSpPr/>
          <p:nvPr/>
        </p:nvSpPr>
        <p:spPr>
          <a:xfrm>
            <a:off x="2286000" y="2084832"/>
            <a:ext cx="9601200" cy="74980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423160" y="2130552"/>
            <a:ext cx="9326880" cy="320040"/>
          </a:xfrm>
          <a:prstGeom prst="rect">
            <a:avLst/>
          </a:prstGeom>
          <a:noFill/>
        </p:spPr>
        <p:txBody>
          <a:bodyPr wrap="square">
            <a:spAutoFit/>
          </a:bodyPr>
          <a:lstStyle/>
          <a:p>
            <a:pPr algn="l"/>
            <a:r>
              <a:rPr sz="1300" b="1">
                <a:solidFill>
                  <a:srgbClr val="F1F5F9"/>
                </a:solidFill>
              </a:rPr>
              <a:t>LangChain Configuration</a:t>
            </a:r>
          </a:p>
        </p:txBody>
      </p:sp>
      <p:sp>
        <p:nvSpPr>
          <p:cNvPr id="14" name="TextBox 13"/>
          <p:cNvSpPr txBox="1"/>
          <p:nvPr/>
        </p:nvSpPr>
        <p:spPr>
          <a:xfrm>
            <a:off x="2423160" y="2487168"/>
            <a:ext cx="9326880" cy="292608"/>
          </a:xfrm>
          <a:prstGeom prst="rect">
            <a:avLst/>
          </a:prstGeom>
          <a:noFill/>
        </p:spPr>
        <p:txBody>
          <a:bodyPr wrap="square">
            <a:spAutoFit/>
          </a:bodyPr>
          <a:lstStyle/>
          <a:p>
            <a:pPr algn="l"/>
            <a:r>
              <a:rPr sz="1000" b="0">
                <a:solidFill>
                  <a:srgbClr val="94A3B8"/>
                </a:solidFill>
              </a:rPr>
              <a:t>Initialise OpenAI LLM, build PromptTemplate, compose LCEL chain (prompt | llm)</a:t>
            </a:r>
          </a:p>
        </p:txBody>
      </p:sp>
      <p:sp>
        <p:nvSpPr>
          <p:cNvPr id="15" name="Rectangle 14"/>
          <p:cNvSpPr/>
          <p:nvPr/>
        </p:nvSpPr>
        <p:spPr>
          <a:xfrm>
            <a:off x="320040" y="2980944"/>
            <a:ext cx="1828800" cy="74980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20040" y="3200400"/>
            <a:ext cx="1828800" cy="347472"/>
          </a:xfrm>
          <a:prstGeom prst="rect">
            <a:avLst/>
          </a:prstGeom>
          <a:noFill/>
        </p:spPr>
        <p:txBody>
          <a:bodyPr wrap="square">
            <a:spAutoFit/>
          </a:bodyPr>
          <a:lstStyle/>
          <a:p>
            <a:pPr algn="ctr"/>
            <a:r>
              <a:rPr sz="1300" b="1">
                <a:solidFill>
                  <a:srgbClr val="F1F5F9"/>
                </a:solidFill>
              </a:rPr>
              <a:t>Phase 3</a:t>
            </a:r>
          </a:p>
        </p:txBody>
      </p:sp>
      <p:sp>
        <p:nvSpPr>
          <p:cNvPr id="17" name="Rectangle 16"/>
          <p:cNvSpPr/>
          <p:nvPr/>
        </p:nvSpPr>
        <p:spPr>
          <a:xfrm>
            <a:off x="2286000" y="2980944"/>
            <a:ext cx="9601200" cy="74980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423160" y="3026663"/>
            <a:ext cx="9326880" cy="320040"/>
          </a:xfrm>
          <a:prstGeom prst="rect">
            <a:avLst/>
          </a:prstGeom>
          <a:noFill/>
        </p:spPr>
        <p:txBody>
          <a:bodyPr wrap="square">
            <a:spAutoFit/>
          </a:bodyPr>
          <a:lstStyle/>
          <a:p>
            <a:pPr algn="l"/>
            <a:r>
              <a:rPr sz="1300" b="1">
                <a:solidFill>
                  <a:srgbClr val="F1F5F9"/>
                </a:solidFill>
              </a:rPr>
              <a:t>Streamlit Interface</a:t>
            </a:r>
          </a:p>
        </p:txBody>
      </p:sp>
      <p:sp>
        <p:nvSpPr>
          <p:cNvPr id="19" name="TextBox 18"/>
          <p:cNvSpPr txBox="1"/>
          <p:nvPr/>
        </p:nvSpPr>
        <p:spPr>
          <a:xfrm>
            <a:off x="2423160" y="3383279"/>
            <a:ext cx="9326880" cy="292608"/>
          </a:xfrm>
          <a:prstGeom prst="rect">
            <a:avLst/>
          </a:prstGeom>
          <a:noFill/>
        </p:spPr>
        <p:txBody>
          <a:bodyPr wrap="square">
            <a:spAutoFit/>
          </a:bodyPr>
          <a:lstStyle/>
          <a:p>
            <a:pPr algn="l"/>
            <a:r>
              <a:rPr sz="1000" b="0">
                <a:solidFill>
                  <a:srgbClr val="94A3B8"/>
                </a:solidFill>
              </a:rPr>
              <a:t>Create app.py with text input, spinner, summary display, and source article expanders</a:t>
            </a:r>
          </a:p>
        </p:txBody>
      </p:sp>
      <p:sp>
        <p:nvSpPr>
          <p:cNvPr id="20" name="Rectangle 19"/>
          <p:cNvSpPr/>
          <p:nvPr/>
        </p:nvSpPr>
        <p:spPr>
          <a:xfrm>
            <a:off x="320040" y="3877056"/>
            <a:ext cx="1828800" cy="749808"/>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20040" y="4096512"/>
            <a:ext cx="1828800" cy="347472"/>
          </a:xfrm>
          <a:prstGeom prst="rect">
            <a:avLst/>
          </a:prstGeom>
          <a:noFill/>
        </p:spPr>
        <p:txBody>
          <a:bodyPr wrap="square">
            <a:spAutoFit/>
          </a:bodyPr>
          <a:lstStyle/>
          <a:p>
            <a:pPr algn="ctr"/>
            <a:r>
              <a:rPr sz="1300" b="1">
                <a:solidFill>
                  <a:srgbClr val="F1F5F9"/>
                </a:solidFill>
              </a:rPr>
              <a:t>Phase 4</a:t>
            </a:r>
          </a:p>
        </p:txBody>
      </p:sp>
      <p:sp>
        <p:nvSpPr>
          <p:cNvPr id="22" name="Rectangle 21"/>
          <p:cNvSpPr/>
          <p:nvPr/>
        </p:nvSpPr>
        <p:spPr>
          <a:xfrm>
            <a:off x="2286000" y="3877056"/>
            <a:ext cx="9601200" cy="74980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423160" y="3922776"/>
            <a:ext cx="9326880" cy="320040"/>
          </a:xfrm>
          <a:prstGeom prst="rect">
            <a:avLst/>
          </a:prstGeom>
          <a:noFill/>
        </p:spPr>
        <p:txBody>
          <a:bodyPr wrap="square">
            <a:spAutoFit/>
          </a:bodyPr>
          <a:lstStyle/>
          <a:p>
            <a:pPr algn="l"/>
            <a:r>
              <a:rPr sz="1300" b="1">
                <a:solidFill>
                  <a:srgbClr val="F1F5F9"/>
                </a:solidFill>
              </a:rPr>
              <a:t>Enhancing the Tool</a:t>
            </a:r>
          </a:p>
        </p:txBody>
      </p:sp>
      <p:sp>
        <p:nvSpPr>
          <p:cNvPr id="24" name="TextBox 23"/>
          <p:cNvSpPr txBox="1"/>
          <p:nvPr/>
        </p:nvSpPr>
        <p:spPr>
          <a:xfrm>
            <a:off x="2423160" y="4279392"/>
            <a:ext cx="9326880" cy="292608"/>
          </a:xfrm>
          <a:prstGeom prst="rect">
            <a:avLst/>
          </a:prstGeom>
          <a:noFill/>
        </p:spPr>
        <p:txBody>
          <a:bodyPr wrap="square">
            <a:spAutoFit/>
          </a:bodyPr>
          <a:lstStyle/>
          <a:p>
            <a:pPr algn="l"/>
            <a:r>
              <a:rPr sz="1000" b="0">
                <a:solidFill>
                  <a:srgbClr val="94A3B8"/>
                </a:solidFill>
              </a:rPr>
              <a:t>Integrate live NewsAPI data; update Streamlit app to consume the full pipeline</a:t>
            </a:r>
          </a:p>
        </p:txBody>
      </p:sp>
      <p:sp>
        <p:nvSpPr>
          <p:cNvPr id="25" name="Rectangle 24"/>
          <p:cNvSpPr/>
          <p:nvPr/>
        </p:nvSpPr>
        <p:spPr>
          <a:xfrm>
            <a:off x="320040" y="4773168"/>
            <a:ext cx="1828800" cy="74980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20040" y="4992624"/>
            <a:ext cx="1828800" cy="347472"/>
          </a:xfrm>
          <a:prstGeom prst="rect">
            <a:avLst/>
          </a:prstGeom>
          <a:noFill/>
        </p:spPr>
        <p:txBody>
          <a:bodyPr wrap="square">
            <a:spAutoFit/>
          </a:bodyPr>
          <a:lstStyle/>
          <a:p>
            <a:pPr algn="ctr"/>
            <a:r>
              <a:rPr sz="1300" b="1">
                <a:solidFill>
                  <a:srgbClr val="F1F5F9"/>
                </a:solidFill>
              </a:rPr>
              <a:t>Phase 5</a:t>
            </a:r>
          </a:p>
        </p:txBody>
      </p:sp>
      <p:sp>
        <p:nvSpPr>
          <p:cNvPr id="27" name="Rectangle 26"/>
          <p:cNvSpPr/>
          <p:nvPr/>
        </p:nvSpPr>
        <p:spPr>
          <a:xfrm>
            <a:off x="2286000" y="4773168"/>
            <a:ext cx="9601200" cy="74980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423160" y="4818888"/>
            <a:ext cx="9326880" cy="320040"/>
          </a:xfrm>
          <a:prstGeom prst="rect">
            <a:avLst/>
          </a:prstGeom>
          <a:noFill/>
        </p:spPr>
        <p:txBody>
          <a:bodyPr wrap="square">
            <a:spAutoFit/>
          </a:bodyPr>
          <a:lstStyle/>
          <a:p>
            <a:pPr algn="l"/>
            <a:r>
              <a:rPr sz="1300" b="1">
                <a:solidFill>
                  <a:srgbClr val="F1F5F9"/>
                </a:solidFill>
              </a:rPr>
              <a:t>Testing &amp; Validation</a:t>
            </a:r>
          </a:p>
        </p:txBody>
      </p:sp>
      <p:sp>
        <p:nvSpPr>
          <p:cNvPr id="29" name="TextBox 28"/>
          <p:cNvSpPr txBox="1"/>
          <p:nvPr/>
        </p:nvSpPr>
        <p:spPr>
          <a:xfrm>
            <a:off x="2423160" y="5175504"/>
            <a:ext cx="9326880" cy="292608"/>
          </a:xfrm>
          <a:prstGeom prst="rect">
            <a:avLst/>
          </a:prstGeom>
          <a:noFill/>
        </p:spPr>
        <p:txBody>
          <a:bodyPr wrap="square">
            <a:spAutoFit/>
          </a:bodyPr>
          <a:lstStyle/>
          <a:p>
            <a:pPr algn="l"/>
            <a:r>
              <a:rPr sz="1000" b="0">
                <a:solidFill>
                  <a:srgbClr val="94A3B8"/>
                </a:solidFill>
              </a:rPr>
              <a:t>Multi-query functional tests and programmatic quality checks in Jupyter notebook</a:t>
            </a:r>
          </a:p>
        </p:txBody>
      </p:sp>
      <p:sp>
        <p:nvSpPr>
          <p:cNvPr id="30" name="Rectangle 29"/>
          <p:cNvSpPr/>
          <p:nvPr/>
        </p:nvSpPr>
        <p:spPr>
          <a:xfrm>
            <a:off x="320040" y="5669280"/>
            <a:ext cx="1828800" cy="749808"/>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20040" y="5888736"/>
            <a:ext cx="1828800" cy="347472"/>
          </a:xfrm>
          <a:prstGeom prst="rect">
            <a:avLst/>
          </a:prstGeom>
          <a:noFill/>
        </p:spPr>
        <p:txBody>
          <a:bodyPr wrap="square">
            <a:spAutoFit/>
          </a:bodyPr>
          <a:lstStyle/>
          <a:p>
            <a:pPr algn="ctr"/>
            <a:r>
              <a:rPr sz="1300" b="1">
                <a:solidFill>
                  <a:srgbClr val="F1F5F9"/>
                </a:solidFill>
              </a:rPr>
              <a:t>Phase 6</a:t>
            </a:r>
          </a:p>
        </p:txBody>
      </p:sp>
      <p:sp>
        <p:nvSpPr>
          <p:cNvPr id="32" name="Rectangle 31"/>
          <p:cNvSpPr/>
          <p:nvPr/>
        </p:nvSpPr>
        <p:spPr>
          <a:xfrm>
            <a:off x="2286000" y="5669280"/>
            <a:ext cx="9601200" cy="74980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423160" y="5715000"/>
            <a:ext cx="9326880" cy="320040"/>
          </a:xfrm>
          <a:prstGeom prst="rect">
            <a:avLst/>
          </a:prstGeom>
          <a:noFill/>
        </p:spPr>
        <p:txBody>
          <a:bodyPr wrap="square">
            <a:spAutoFit/>
          </a:bodyPr>
          <a:lstStyle/>
          <a:p>
            <a:pPr algn="l"/>
            <a:r>
              <a:rPr sz="1300" b="1">
                <a:solidFill>
                  <a:srgbClr val="F1F5F9"/>
                </a:solidFill>
              </a:rPr>
              <a:t>Documentation &amp; Finalization</a:t>
            </a:r>
          </a:p>
        </p:txBody>
      </p:sp>
      <p:sp>
        <p:nvSpPr>
          <p:cNvPr id="34" name="TextBox 33"/>
          <p:cNvSpPr txBox="1"/>
          <p:nvPr/>
        </p:nvSpPr>
        <p:spPr>
          <a:xfrm>
            <a:off x="2423160" y="6071616"/>
            <a:ext cx="9326880" cy="292608"/>
          </a:xfrm>
          <a:prstGeom prst="rect">
            <a:avLst/>
          </a:prstGeom>
          <a:noFill/>
        </p:spPr>
        <p:txBody>
          <a:bodyPr wrap="square">
            <a:spAutoFit/>
          </a:bodyPr>
          <a:lstStyle/>
          <a:p>
            <a:pPr algn="l"/>
            <a:r>
              <a:rPr sz="1000" b="0">
                <a:solidFill>
                  <a:srgbClr val="94A3B8"/>
                </a:solidFill>
              </a:rPr>
              <a:t>README, inline code comments, requirements.txt, and optional enhancements (Task 7)</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82296"/>
            <a:ext cx="11521440" cy="548640"/>
          </a:xfrm>
          <a:prstGeom prst="rect">
            <a:avLst/>
          </a:prstGeom>
          <a:noFill/>
        </p:spPr>
        <p:txBody>
          <a:bodyPr wrap="square">
            <a:spAutoFit/>
          </a:bodyPr>
          <a:lstStyle/>
          <a:p>
            <a:pPr algn="l"/>
            <a:r>
              <a:rPr sz="2600" b="1">
                <a:solidFill>
                  <a:srgbClr val="F1F5F9"/>
                </a:solidFill>
              </a:rPr>
              <a:t>Project Overview</a:t>
            </a:r>
          </a:p>
        </p:txBody>
      </p:sp>
      <p:sp>
        <p:nvSpPr>
          <p:cNvPr id="4" name="TextBox 3"/>
          <p:cNvSpPr txBox="1"/>
          <p:nvPr/>
        </p:nvSpPr>
        <p:spPr>
          <a:xfrm>
            <a:off x="274320" y="658368"/>
            <a:ext cx="11521440" cy="347472"/>
          </a:xfrm>
          <a:prstGeom prst="rect">
            <a:avLst/>
          </a:prstGeom>
          <a:noFill/>
        </p:spPr>
        <p:txBody>
          <a:bodyPr wrap="square">
            <a:spAutoFit/>
          </a:bodyPr>
          <a:lstStyle/>
          <a:p>
            <a:pPr algn="l"/>
            <a:r>
              <a:rPr sz="1100" b="0">
                <a:solidFill>
                  <a:srgbClr val="94A3B8"/>
                </a:solidFill>
              </a:rPr>
              <a:t>Objective · Problem Statement · Target Use Cases</a:t>
            </a:r>
          </a:p>
        </p:txBody>
      </p:sp>
      <p:sp>
        <p:nvSpPr>
          <p:cNvPr id="5" name="Rectangle 4"/>
          <p:cNvSpPr/>
          <p:nvPr/>
        </p:nvSpPr>
        <p:spPr>
          <a:xfrm>
            <a:off x="320040" y="1188720"/>
            <a:ext cx="7315200" cy="1828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280160"/>
            <a:ext cx="7040880" cy="292608"/>
          </a:xfrm>
          <a:prstGeom prst="rect">
            <a:avLst/>
          </a:prstGeom>
          <a:noFill/>
        </p:spPr>
        <p:txBody>
          <a:bodyPr wrap="square">
            <a:spAutoFit/>
          </a:bodyPr>
          <a:lstStyle/>
          <a:p>
            <a:pPr algn="l"/>
            <a:r>
              <a:rPr sz="1100" b="1">
                <a:solidFill>
                  <a:srgbClr val="6366F1"/>
                </a:solidFill>
              </a:rPr>
              <a:t>Objective</a:t>
            </a:r>
          </a:p>
        </p:txBody>
      </p:sp>
      <p:sp>
        <p:nvSpPr>
          <p:cNvPr id="7" name="TextBox 6"/>
          <p:cNvSpPr txBox="1"/>
          <p:nvPr/>
        </p:nvSpPr>
        <p:spPr>
          <a:xfrm>
            <a:off x="457200" y="1627632"/>
            <a:ext cx="7040880" cy="1261872"/>
          </a:xfrm>
          <a:prstGeom prst="rect">
            <a:avLst/>
          </a:prstGeom>
          <a:noFill/>
        </p:spPr>
        <p:txBody>
          <a:bodyPr wrap="square">
            <a:spAutoFit/>
          </a:bodyPr>
          <a:lstStyle/>
          <a:p>
            <a:pPr algn="l"/>
            <a:r>
              <a:rPr sz="1100" b="0">
                <a:solidFill>
                  <a:srgbClr val="F1F5F9"/>
                </a:solidFill>
              </a:rPr>
              <a:t>Build an AI-powered Equity Research News Tool that fetches real-time news articles via NewsAPI, summarises them using OpenAI's GPT language model orchestrated through LangChain, and presents the result in an interactive Streamlit web application — enabling faster, smarter research for equity analysts.</a:t>
            </a:r>
          </a:p>
        </p:txBody>
      </p:sp>
      <p:sp>
        <p:nvSpPr>
          <p:cNvPr id="8" name="Rectangle 7"/>
          <p:cNvSpPr/>
          <p:nvPr/>
        </p:nvSpPr>
        <p:spPr>
          <a:xfrm>
            <a:off x="320040" y="3154680"/>
            <a:ext cx="7315200" cy="171907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3246120"/>
            <a:ext cx="7040880" cy="292608"/>
          </a:xfrm>
          <a:prstGeom prst="rect">
            <a:avLst/>
          </a:prstGeom>
          <a:noFill/>
        </p:spPr>
        <p:txBody>
          <a:bodyPr wrap="square">
            <a:spAutoFit/>
          </a:bodyPr>
          <a:lstStyle/>
          <a:p>
            <a:pPr algn="l"/>
            <a:r>
              <a:rPr sz="1100" b="1">
                <a:solidFill>
                  <a:srgbClr val="10B981"/>
                </a:solidFill>
              </a:rPr>
              <a:t>Problem Statement</a:t>
            </a:r>
          </a:p>
        </p:txBody>
      </p:sp>
      <p:sp>
        <p:nvSpPr>
          <p:cNvPr id="10" name="TextBox 9"/>
          <p:cNvSpPr txBox="1"/>
          <p:nvPr/>
        </p:nvSpPr>
        <p:spPr>
          <a:xfrm>
            <a:off x="457200" y="3593592"/>
            <a:ext cx="7040880" cy="1170432"/>
          </a:xfrm>
          <a:prstGeom prst="rect">
            <a:avLst/>
          </a:prstGeom>
          <a:noFill/>
        </p:spPr>
        <p:txBody>
          <a:bodyPr wrap="square">
            <a:spAutoFit/>
          </a:bodyPr>
          <a:lstStyle/>
          <a:p>
            <a:pPr algn="l"/>
            <a:r>
              <a:rPr sz="1100" b="0">
                <a:solidFill>
                  <a:srgbClr val="F1F5F9"/>
                </a:solidFill>
              </a:rPr>
              <a:t>Equity analysts spend significant time manually scanning news sources to track market-moving events for specific companies or sectors. This tool automates that research step — from fetching relevant articles to producing a concise, LLM-generated analyst summary — in under 30 seconds.</a:t>
            </a:r>
          </a:p>
        </p:txBody>
      </p:sp>
      <p:sp>
        <p:nvSpPr>
          <p:cNvPr id="11" name="Rectangle 10"/>
          <p:cNvSpPr/>
          <p:nvPr/>
        </p:nvSpPr>
        <p:spPr>
          <a:xfrm>
            <a:off x="320040" y="5010912"/>
            <a:ext cx="7315200" cy="1600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5102352"/>
            <a:ext cx="7040880" cy="292608"/>
          </a:xfrm>
          <a:prstGeom prst="rect">
            <a:avLst/>
          </a:prstGeom>
          <a:noFill/>
        </p:spPr>
        <p:txBody>
          <a:bodyPr wrap="square">
            <a:spAutoFit/>
          </a:bodyPr>
          <a:lstStyle/>
          <a:p>
            <a:pPr algn="l"/>
            <a:r>
              <a:rPr sz="1100" b="1">
                <a:solidFill>
                  <a:srgbClr val="F59E0B"/>
                </a:solidFill>
              </a:rPr>
              <a:t>Target Use Cases</a:t>
            </a:r>
          </a:p>
        </p:txBody>
      </p:sp>
      <p:sp>
        <p:nvSpPr>
          <p:cNvPr id="13" name="TextBox 12"/>
          <p:cNvSpPr txBox="1"/>
          <p:nvPr/>
        </p:nvSpPr>
        <p:spPr>
          <a:xfrm>
            <a:off x="457200" y="5468112"/>
            <a:ext cx="7040880" cy="1024128"/>
          </a:xfrm>
          <a:prstGeom prst="rect">
            <a:avLst/>
          </a:prstGeom>
          <a:noFill/>
        </p:spPr>
        <p:txBody>
          <a:bodyPr wrap="square">
            <a:spAutoFit/>
          </a:bodyPr>
          <a:lstStyle/>
          <a:p>
            <a:pPr algn="l">
              <a:spcBef>
                <a:spcPts val="400"/>
              </a:spcBef>
            </a:pPr>
            <a:r>
              <a:rPr sz="1100" b="0">
                <a:solidFill>
                  <a:srgbClr val="F1F5F9"/>
                </a:solidFill>
              </a:rPr>
              <a:t>▸  Track earnings news for a specific company (e.g. Apple, Tesla, JPMorgan)</a:t>
            </a:r>
          </a:p>
          <a:p>
            <a:pPr algn="l">
              <a:spcBef>
                <a:spcPts val="400"/>
              </a:spcBef>
            </a:pPr>
            <a:r>
              <a:rPr sz="1100" b="0">
                <a:solidFill>
                  <a:srgbClr val="F1F5F9"/>
                </a:solidFill>
              </a:rPr>
              <a:t>▸  Monitor sector-wide regulatory or macro-economic events</a:t>
            </a:r>
          </a:p>
          <a:p>
            <a:pPr algn="l">
              <a:spcBef>
                <a:spcPts val="400"/>
              </a:spcBef>
            </a:pPr>
            <a:r>
              <a:rPr sz="1100" b="0">
                <a:solidFill>
                  <a:srgbClr val="F1F5F9"/>
                </a:solidFill>
              </a:rPr>
              <a:t>▸  Generate rapid research summaries for client reports or morning briefings</a:t>
            </a:r>
          </a:p>
        </p:txBody>
      </p:sp>
      <p:sp>
        <p:nvSpPr>
          <p:cNvPr id="14" name="Rectangle 13"/>
          <p:cNvSpPr/>
          <p:nvPr/>
        </p:nvSpPr>
        <p:spPr>
          <a:xfrm>
            <a:off x="7955279" y="1188720"/>
            <a:ext cx="3931920" cy="12344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046719" y="1353312"/>
            <a:ext cx="3749039" cy="548640"/>
          </a:xfrm>
          <a:prstGeom prst="rect">
            <a:avLst/>
          </a:prstGeom>
          <a:noFill/>
        </p:spPr>
        <p:txBody>
          <a:bodyPr wrap="square">
            <a:spAutoFit/>
          </a:bodyPr>
          <a:lstStyle/>
          <a:p>
            <a:pPr algn="ctr"/>
            <a:r>
              <a:rPr sz="3000" b="1">
                <a:solidFill>
                  <a:srgbClr val="6366F1"/>
                </a:solidFill>
              </a:rPr>
              <a:t>3</a:t>
            </a:r>
          </a:p>
        </p:txBody>
      </p:sp>
      <p:sp>
        <p:nvSpPr>
          <p:cNvPr id="16" name="TextBox 15"/>
          <p:cNvSpPr txBox="1"/>
          <p:nvPr/>
        </p:nvSpPr>
        <p:spPr>
          <a:xfrm>
            <a:off x="8046719" y="1993392"/>
            <a:ext cx="3749039" cy="320040"/>
          </a:xfrm>
          <a:prstGeom prst="rect">
            <a:avLst/>
          </a:prstGeom>
          <a:noFill/>
        </p:spPr>
        <p:txBody>
          <a:bodyPr wrap="square">
            <a:spAutoFit/>
          </a:bodyPr>
          <a:lstStyle/>
          <a:p>
            <a:pPr algn="ctr"/>
            <a:r>
              <a:rPr sz="1100" b="0">
                <a:solidFill>
                  <a:srgbClr val="94A3B8"/>
                </a:solidFill>
              </a:rPr>
              <a:t>Core Libraries</a:t>
            </a:r>
          </a:p>
        </p:txBody>
      </p:sp>
      <p:sp>
        <p:nvSpPr>
          <p:cNvPr id="17" name="Rectangle 16"/>
          <p:cNvSpPr/>
          <p:nvPr/>
        </p:nvSpPr>
        <p:spPr>
          <a:xfrm>
            <a:off x="7955279" y="2606040"/>
            <a:ext cx="3931920" cy="12344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046719" y="2770632"/>
            <a:ext cx="3749039" cy="548640"/>
          </a:xfrm>
          <a:prstGeom prst="rect">
            <a:avLst/>
          </a:prstGeom>
          <a:noFill/>
        </p:spPr>
        <p:txBody>
          <a:bodyPr wrap="square">
            <a:spAutoFit/>
          </a:bodyPr>
          <a:lstStyle/>
          <a:p>
            <a:pPr algn="ctr"/>
            <a:r>
              <a:rPr sz="3000" b="1">
                <a:solidFill>
                  <a:srgbClr val="10B981"/>
                </a:solidFill>
              </a:rPr>
              <a:t>10</a:t>
            </a:r>
          </a:p>
        </p:txBody>
      </p:sp>
      <p:sp>
        <p:nvSpPr>
          <p:cNvPr id="19" name="TextBox 18"/>
          <p:cNvSpPr txBox="1"/>
          <p:nvPr/>
        </p:nvSpPr>
        <p:spPr>
          <a:xfrm>
            <a:off x="8046719" y="3410712"/>
            <a:ext cx="3749039" cy="320040"/>
          </a:xfrm>
          <a:prstGeom prst="rect">
            <a:avLst/>
          </a:prstGeom>
          <a:noFill/>
        </p:spPr>
        <p:txBody>
          <a:bodyPr wrap="square">
            <a:spAutoFit/>
          </a:bodyPr>
          <a:lstStyle/>
          <a:p>
            <a:pPr algn="ctr"/>
            <a:r>
              <a:rPr sz="1100" b="0">
                <a:solidFill>
                  <a:srgbClr val="94A3B8"/>
                </a:solidFill>
              </a:rPr>
              <a:t>Articles per Query (NewsAPI)</a:t>
            </a:r>
          </a:p>
        </p:txBody>
      </p:sp>
      <p:sp>
        <p:nvSpPr>
          <p:cNvPr id="20" name="Rectangle 19"/>
          <p:cNvSpPr/>
          <p:nvPr/>
        </p:nvSpPr>
        <p:spPr>
          <a:xfrm>
            <a:off x="7955279" y="4023360"/>
            <a:ext cx="3931920" cy="12344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046719" y="4187952"/>
            <a:ext cx="3749039" cy="548640"/>
          </a:xfrm>
          <a:prstGeom prst="rect">
            <a:avLst/>
          </a:prstGeom>
          <a:noFill/>
        </p:spPr>
        <p:txBody>
          <a:bodyPr wrap="square">
            <a:spAutoFit/>
          </a:bodyPr>
          <a:lstStyle/>
          <a:p>
            <a:pPr algn="ctr"/>
            <a:r>
              <a:rPr sz="3000" b="1">
                <a:solidFill>
                  <a:srgbClr val="F59E0B"/>
                </a:solidFill>
              </a:rPr>
              <a:t>&lt;30s</a:t>
            </a:r>
          </a:p>
        </p:txBody>
      </p:sp>
      <p:sp>
        <p:nvSpPr>
          <p:cNvPr id="22" name="TextBox 21"/>
          <p:cNvSpPr txBox="1"/>
          <p:nvPr/>
        </p:nvSpPr>
        <p:spPr>
          <a:xfrm>
            <a:off x="8046719" y="4828032"/>
            <a:ext cx="3749039" cy="320040"/>
          </a:xfrm>
          <a:prstGeom prst="rect">
            <a:avLst/>
          </a:prstGeom>
          <a:noFill/>
        </p:spPr>
        <p:txBody>
          <a:bodyPr wrap="square">
            <a:spAutoFit/>
          </a:bodyPr>
          <a:lstStyle/>
          <a:p>
            <a:pPr algn="ctr"/>
            <a:r>
              <a:rPr sz="1100" b="0">
                <a:solidFill>
                  <a:srgbClr val="94A3B8"/>
                </a:solidFill>
              </a:rPr>
              <a:t>End-to-End Response Time</a:t>
            </a:r>
          </a:p>
        </p:txBody>
      </p:sp>
      <p:sp>
        <p:nvSpPr>
          <p:cNvPr id="23" name="Rectangle 22"/>
          <p:cNvSpPr/>
          <p:nvPr/>
        </p:nvSpPr>
        <p:spPr>
          <a:xfrm>
            <a:off x="7955279" y="5440680"/>
            <a:ext cx="3931920" cy="11887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046719" y="5605272"/>
            <a:ext cx="3749039" cy="548640"/>
          </a:xfrm>
          <a:prstGeom prst="rect">
            <a:avLst/>
          </a:prstGeom>
          <a:noFill/>
        </p:spPr>
        <p:txBody>
          <a:bodyPr wrap="square">
            <a:spAutoFit/>
          </a:bodyPr>
          <a:lstStyle/>
          <a:p>
            <a:pPr algn="ctr"/>
            <a:r>
              <a:rPr sz="3000" b="1">
                <a:solidFill>
                  <a:srgbClr val="A855F7"/>
                </a:solidFill>
              </a:rPr>
              <a:t>6</a:t>
            </a:r>
          </a:p>
        </p:txBody>
      </p:sp>
      <p:sp>
        <p:nvSpPr>
          <p:cNvPr id="25" name="TextBox 24"/>
          <p:cNvSpPr txBox="1"/>
          <p:nvPr/>
        </p:nvSpPr>
        <p:spPr>
          <a:xfrm>
            <a:off x="8046719" y="6245352"/>
            <a:ext cx="3749039" cy="320040"/>
          </a:xfrm>
          <a:prstGeom prst="rect">
            <a:avLst/>
          </a:prstGeom>
          <a:noFill/>
        </p:spPr>
        <p:txBody>
          <a:bodyPr wrap="square">
            <a:spAutoFit/>
          </a:bodyPr>
          <a:lstStyle/>
          <a:p>
            <a:pPr algn="ctr"/>
            <a:r>
              <a:rPr sz="1100" b="0">
                <a:solidFill>
                  <a:srgbClr val="94A3B8"/>
                </a:solidFill>
              </a:rPr>
              <a:t>Project Phases Completed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82296"/>
            <a:ext cx="11521440" cy="548640"/>
          </a:xfrm>
          <a:prstGeom prst="rect">
            <a:avLst/>
          </a:prstGeom>
          <a:noFill/>
        </p:spPr>
        <p:txBody>
          <a:bodyPr wrap="square">
            <a:spAutoFit/>
          </a:bodyPr>
          <a:lstStyle/>
          <a:p>
            <a:pPr algn="l"/>
            <a:r>
              <a:rPr sz="2600" b="1">
                <a:solidFill>
                  <a:srgbClr val="F1F5F9"/>
                </a:solidFill>
              </a:rPr>
              <a:t>Technology Stack</a:t>
            </a:r>
          </a:p>
        </p:txBody>
      </p:sp>
      <p:sp>
        <p:nvSpPr>
          <p:cNvPr id="4" name="TextBox 3"/>
          <p:cNvSpPr txBox="1"/>
          <p:nvPr/>
        </p:nvSpPr>
        <p:spPr>
          <a:xfrm>
            <a:off x="274320" y="658368"/>
            <a:ext cx="11521440" cy="347472"/>
          </a:xfrm>
          <a:prstGeom prst="rect">
            <a:avLst/>
          </a:prstGeom>
          <a:noFill/>
        </p:spPr>
        <p:txBody>
          <a:bodyPr wrap="square">
            <a:spAutoFit/>
          </a:bodyPr>
          <a:lstStyle/>
          <a:p>
            <a:pPr algn="l"/>
            <a:r>
              <a:rPr sz="1100" b="0">
                <a:solidFill>
                  <a:srgbClr val="94A3B8"/>
                </a:solidFill>
              </a:rPr>
              <a:t>Libraries, APIs, and frameworks powering the tool</a:t>
            </a:r>
          </a:p>
        </p:txBody>
      </p:sp>
      <p:sp>
        <p:nvSpPr>
          <p:cNvPr id="5" name="Rectangle 4"/>
          <p:cNvSpPr/>
          <p:nvPr/>
        </p:nvSpPr>
        <p:spPr>
          <a:xfrm>
            <a:off x="320040" y="1188720"/>
            <a:ext cx="1691640" cy="896112"/>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1335024"/>
            <a:ext cx="1691640" cy="347472"/>
          </a:xfrm>
          <a:prstGeom prst="rect">
            <a:avLst/>
          </a:prstGeom>
          <a:noFill/>
        </p:spPr>
        <p:txBody>
          <a:bodyPr wrap="square">
            <a:spAutoFit/>
          </a:bodyPr>
          <a:lstStyle/>
          <a:p>
            <a:pPr algn="ctr"/>
            <a:r>
              <a:rPr sz="1300" b="1">
                <a:solidFill>
                  <a:srgbClr val="F1F5F9"/>
                </a:solidFill>
              </a:rPr>
              <a:t>LangChain</a:t>
            </a:r>
          </a:p>
        </p:txBody>
      </p:sp>
      <p:sp>
        <p:nvSpPr>
          <p:cNvPr id="7" name="TextBox 6"/>
          <p:cNvSpPr txBox="1"/>
          <p:nvPr/>
        </p:nvSpPr>
        <p:spPr>
          <a:xfrm>
            <a:off x="320040" y="1719072"/>
            <a:ext cx="1691640" cy="256032"/>
          </a:xfrm>
          <a:prstGeom prst="rect">
            <a:avLst/>
          </a:prstGeom>
          <a:noFill/>
        </p:spPr>
        <p:txBody>
          <a:bodyPr wrap="square">
            <a:spAutoFit/>
          </a:bodyPr>
          <a:lstStyle/>
          <a:p>
            <a:pPr algn="ctr"/>
            <a:r>
              <a:rPr sz="800" b="0">
                <a:solidFill>
                  <a:srgbClr val="F1F5F9"/>
                </a:solidFill>
              </a:rPr>
              <a:t>pip: langchain, langchain-openai</a:t>
            </a:r>
          </a:p>
        </p:txBody>
      </p:sp>
      <p:sp>
        <p:nvSpPr>
          <p:cNvPr id="8" name="Rectangle 7"/>
          <p:cNvSpPr/>
          <p:nvPr/>
        </p:nvSpPr>
        <p:spPr>
          <a:xfrm>
            <a:off x="2148840" y="1188720"/>
            <a:ext cx="9738360" cy="89611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286000" y="1298448"/>
            <a:ext cx="9464040" cy="676656"/>
          </a:xfrm>
          <a:prstGeom prst="rect">
            <a:avLst/>
          </a:prstGeom>
          <a:noFill/>
        </p:spPr>
        <p:txBody>
          <a:bodyPr wrap="square">
            <a:spAutoFit/>
          </a:bodyPr>
          <a:lstStyle/>
          <a:p>
            <a:pPr algn="l"/>
            <a:r>
              <a:rPr sz="1100" b="0">
                <a:solidFill>
                  <a:srgbClr val="F1F5F9"/>
                </a:solidFill>
              </a:rPr>
              <a:t>Orchestration framework for LLM applications. Provides PromptTemplate and LCEL (LangChain Expression Language) to declaratively compose prompts and language models using the | operator — replacing legacy LLMChain with a cleaner pipeline syntax.</a:t>
            </a:r>
          </a:p>
        </p:txBody>
      </p:sp>
      <p:sp>
        <p:nvSpPr>
          <p:cNvPr id="10" name="Rectangle 9"/>
          <p:cNvSpPr/>
          <p:nvPr/>
        </p:nvSpPr>
        <p:spPr>
          <a:xfrm>
            <a:off x="320040" y="2249424"/>
            <a:ext cx="1691640" cy="89611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 y="2395728"/>
            <a:ext cx="1691640" cy="347472"/>
          </a:xfrm>
          <a:prstGeom prst="rect">
            <a:avLst/>
          </a:prstGeom>
          <a:noFill/>
        </p:spPr>
        <p:txBody>
          <a:bodyPr wrap="square">
            <a:spAutoFit/>
          </a:bodyPr>
          <a:lstStyle/>
          <a:p>
            <a:pPr algn="ctr"/>
            <a:r>
              <a:rPr sz="1300" b="1">
                <a:solidFill>
                  <a:srgbClr val="F1F5F9"/>
                </a:solidFill>
              </a:rPr>
              <a:t>OpenAI API</a:t>
            </a:r>
          </a:p>
        </p:txBody>
      </p:sp>
      <p:sp>
        <p:nvSpPr>
          <p:cNvPr id="12" name="TextBox 11"/>
          <p:cNvSpPr txBox="1"/>
          <p:nvPr/>
        </p:nvSpPr>
        <p:spPr>
          <a:xfrm>
            <a:off x="320040" y="2779776"/>
            <a:ext cx="1691640" cy="256032"/>
          </a:xfrm>
          <a:prstGeom prst="rect">
            <a:avLst/>
          </a:prstGeom>
          <a:noFill/>
        </p:spPr>
        <p:txBody>
          <a:bodyPr wrap="square">
            <a:spAutoFit/>
          </a:bodyPr>
          <a:lstStyle/>
          <a:p>
            <a:pPr algn="ctr"/>
            <a:r>
              <a:rPr sz="800" b="0">
                <a:solidFill>
                  <a:srgbClr val="F1F5F9"/>
                </a:solidFill>
              </a:rPr>
              <a:t>pip: openai</a:t>
            </a:r>
          </a:p>
        </p:txBody>
      </p:sp>
      <p:sp>
        <p:nvSpPr>
          <p:cNvPr id="13" name="Rectangle 12"/>
          <p:cNvSpPr/>
          <p:nvPr/>
        </p:nvSpPr>
        <p:spPr>
          <a:xfrm>
            <a:off x="2148840" y="2249424"/>
            <a:ext cx="9738360" cy="89611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286000" y="2359152"/>
            <a:ext cx="9464040" cy="676656"/>
          </a:xfrm>
          <a:prstGeom prst="rect">
            <a:avLst/>
          </a:prstGeom>
          <a:noFill/>
        </p:spPr>
        <p:txBody>
          <a:bodyPr wrap="square">
            <a:spAutoFit/>
          </a:bodyPr>
          <a:lstStyle/>
          <a:p>
            <a:pPr algn="l"/>
            <a:r>
              <a:rPr sz="1100" b="0">
                <a:solidFill>
                  <a:srgbClr val="F1F5F9"/>
                </a:solidFill>
              </a:rPr>
              <a:t>GPT-3 (text-davinci) language model via the OpenAI API. Receives the formatted analyst prompt and returns a concise, context-aware news summary. Temperature set to 0.7 for creative yet focused output suitable for research use.</a:t>
            </a:r>
          </a:p>
        </p:txBody>
      </p:sp>
      <p:sp>
        <p:nvSpPr>
          <p:cNvPr id="15" name="Rectangle 14"/>
          <p:cNvSpPr/>
          <p:nvPr/>
        </p:nvSpPr>
        <p:spPr>
          <a:xfrm>
            <a:off x="320040" y="3310128"/>
            <a:ext cx="1691640" cy="89611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20040" y="3456432"/>
            <a:ext cx="1691640" cy="347472"/>
          </a:xfrm>
          <a:prstGeom prst="rect">
            <a:avLst/>
          </a:prstGeom>
          <a:noFill/>
        </p:spPr>
        <p:txBody>
          <a:bodyPr wrap="square">
            <a:spAutoFit/>
          </a:bodyPr>
          <a:lstStyle/>
          <a:p>
            <a:pPr algn="ctr"/>
            <a:r>
              <a:rPr sz="1300" b="1">
                <a:solidFill>
                  <a:srgbClr val="F1F5F9"/>
                </a:solidFill>
              </a:rPr>
              <a:t>NewsAPI</a:t>
            </a:r>
          </a:p>
        </p:txBody>
      </p:sp>
      <p:sp>
        <p:nvSpPr>
          <p:cNvPr id="17" name="TextBox 16"/>
          <p:cNvSpPr txBox="1"/>
          <p:nvPr/>
        </p:nvSpPr>
        <p:spPr>
          <a:xfrm>
            <a:off x="320040" y="3840480"/>
            <a:ext cx="1691640" cy="256032"/>
          </a:xfrm>
          <a:prstGeom prst="rect">
            <a:avLst/>
          </a:prstGeom>
          <a:noFill/>
        </p:spPr>
        <p:txBody>
          <a:bodyPr wrap="square">
            <a:spAutoFit/>
          </a:bodyPr>
          <a:lstStyle/>
          <a:p>
            <a:pPr algn="ctr"/>
            <a:r>
              <a:rPr sz="800" b="0">
                <a:solidFill>
                  <a:srgbClr val="F1F5F9"/>
                </a:solidFill>
              </a:rPr>
              <a:t>pip: newsapi-python</a:t>
            </a:r>
          </a:p>
        </p:txBody>
      </p:sp>
      <p:sp>
        <p:nvSpPr>
          <p:cNvPr id="18" name="Rectangle 17"/>
          <p:cNvSpPr/>
          <p:nvPr/>
        </p:nvSpPr>
        <p:spPr>
          <a:xfrm>
            <a:off x="2148840" y="3310128"/>
            <a:ext cx="9738360" cy="89611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286000" y="3419856"/>
            <a:ext cx="9464040" cy="676656"/>
          </a:xfrm>
          <a:prstGeom prst="rect">
            <a:avLst/>
          </a:prstGeom>
          <a:noFill/>
        </p:spPr>
        <p:txBody>
          <a:bodyPr wrap="square">
            <a:spAutoFit/>
          </a:bodyPr>
          <a:lstStyle/>
          <a:p>
            <a:pPr algn="l"/>
            <a:r>
              <a:rPr sz="1100" b="0">
                <a:solidFill>
                  <a:srgbClr val="F1F5F9"/>
                </a:solidFill>
              </a:rPr>
              <a:t>Real-time news data provider with access to 80,000+ sources. The /everything endpoint is queried with the user's search term, filtered to English, and sorted by relevancy — returning up to 10 article objects including title, description, source, and URL.</a:t>
            </a:r>
          </a:p>
        </p:txBody>
      </p:sp>
      <p:sp>
        <p:nvSpPr>
          <p:cNvPr id="20" name="Rectangle 19"/>
          <p:cNvSpPr/>
          <p:nvPr/>
        </p:nvSpPr>
        <p:spPr>
          <a:xfrm>
            <a:off x="320040" y="4370831"/>
            <a:ext cx="1691640" cy="89611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20040" y="4517136"/>
            <a:ext cx="1691640" cy="347472"/>
          </a:xfrm>
          <a:prstGeom prst="rect">
            <a:avLst/>
          </a:prstGeom>
          <a:noFill/>
        </p:spPr>
        <p:txBody>
          <a:bodyPr wrap="square">
            <a:spAutoFit/>
          </a:bodyPr>
          <a:lstStyle/>
          <a:p>
            <a:pPr algn="ctr"/>
            <a:r>
              <a:rPr sz="1300" b="1">
                <a:solidFill>
                  <a:srgbClr val="F1F5F9"/>
                </a:solidFill>
              </a:rPr>
              <a:t>Streamlit</a:t>
            </a:r>
          </a:p>
        </p:txBody>
      </p:sp>
      <p:sp>
        <p:nvSpPr>
          <p:cNvPr id="22" name="TextBox 21"/>
          <p:cNvSpPr txBox="1"/>
          <p:nvPr/>
        </p:nvSpPr>
        <p:spPr>
          <a:xfrm>
            <a:off x="320040" y="4901183"/>
            <a:ext cx="1691640" cy="256032"/>
          </a:xfrm>
          <a:prstGeom prst="rect">
            <a:avLst/>
          </a:prstGeom>
          <a:noFill/>
        </p:spPr>
        <p:txBody>
          <a:bodyPr wrap="square">
            <a:spAutoFit/>
          </a:bodyPr>
          <a:lstStyle/>
          <a:p>
            <a:pPr algn="ctr"/>
            <a:r>
              <a:rPr sz="800" b="0">
                <a:solidFill>
                  <a:srgbClr val="F1F5F9"/>
                </a:solidFill>
              </a:rPr>
              <a:t>pip: streamlit</a:t>
            </a:r>
          </a:p>
        </p:txBody>
      </p:sp>
      <p:sp>
        <p:nvSpPr>
          <p:cNvPr id="23" name="Rectangle 22"/>
          <p:cNvSpPr/>
          <p:nvPr/>
        </p:nvSpPr>
        <p:spPr>
          <a:xfrm>
            <a:off x="2148840" y="4370831"/>
            <a:ext cx="9738360" cy="89611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286000" y="4480559"/>
            <a:ext cx="9464040" cy="676656"/>
          </a:xfrm>
          <a:prstGeom prst="rect">
            <a:avLst/>
          </a:prstGeom>
          <a:noFill/>
        </p:spPr>
        <p:txBody>
          <a:bodyPr wrap="square">
            <a:spAutoFit/>
          </a:bodyPr>
          <a:lstStyle/>
          <a:p>
            <a:pPr algn="l"/>
            <a:r>
              <a:rPr sz="1100" b="0">
                <a:solidFill>
                  <a:srgbClr val="F1F5F9"/>
                </a:solidFill>
              </a:rPr>
              <a:t>Python-native web framework for data applications. Powers the interactive front-end: text input for query entry, spinner during API calls, formatted summary display, and expandable cards for each source article with clickable read-more links.</a:t>
            </a:r>
          </a:p>
        </p:txBody>
      </p:sp>
      <p:sp>
        <p:nvSpPr>
          <p:cNvPr id="25" name="Rectangle 24"/>
          <p:cNvSpPr/>
          <p:nvPr/>
        </p:nvSpPr>
        <p:spPr>
          <a:xfrm>
            <a:off x="320040" y="5431536"/>
            <a:ext cx="1691640" cy="896112"/>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20040" y="5577840"/>
            <a:ext cx="1691640" cy="347472"/>
          </a:xfrm>
          <a:prstGeom prst="rect">
            <a:avLst/>
          </a:prstGeom>
          <a:noFill/>
        </p:spPr>
        <p:txBody>
          <a:bodyPr wrap="square">
            <a:spAutoFit/>
          </a:bodyPr>
          <a:lstStyle/>
          <a:p>
            <a:pPr algn="ctr"/>
            <a:r>
              <a:rPr sz="1300" b="1">
                <a:solidFill>
                  <a:srgbClr val="F1F5F9"/>
                </a:solidFill>
              </a:rPr>
              <a:t>python-dotenv</a:t>
            </a:r>
          </a:p>
        </p:txBody>
      </p:sp>
      <p:sp>
        <p:nvSpPr>
          <p:cNvPr id="27" name="TextBox 26"/>
          <p:cNvSpPr txBox="1"/>
          <p:nvPr/>
        </p:nvSpPr>
        <p:spPr>
          <a:xfrm>
            <a:off x="320040" y="5961888"/>
            <a:ext cx="1691640" cy="256032"/>
          </a:xfrm>
          <a:prstGeom prst="rect">
            <a:avLst/>
          </a:prstGeom>
          <a:noFill/>
        </p:spPr>
        <p:txBody>
          <a:bodyPr wrap="square">
            <a:spAutoFit/>
          </a:bodyPr>
          <a:lstStyle/>
          <a:p>
            <a:pPr algn="ctr"/>
            <a:r>
              <a:rPr sz="800" b="0">
                <a:solidFill>
                  <a:srgbClr val="F1F5F9"/>
                </a:solidFill>
              </a:rPr>
              <a:t>pip: python-dotenv</a:t>
            </a:r>
          </a:p>
        </p:txBody>
      </p:sp>
      <p:sp>
        <p:nvSpPr>
          <p:cNvPr id="28" name="Rectangle 27"/>
          <p:cNvSpPr/>
          <p:nvPr/>
        </p:nvSpPr>
        <p:spPr>
          <a:xfrm>
            <a:off x="2148840" y="5431536"/>
            <a:ext cx="9738360" cy="89611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286000" y="5541264"/>
            <a:ext cx="9464040" cy="676656"/>
          </a:xfrm>
          <a:prstGeom prst="rect">
            <a:avLst/>
          </a:prstGeom>
          <a:noFill/>
        </p:spPr>
        <p:txBody>
          <a:bodyPr wrap="square">
            <a:spAutoFit/>
          </a:bodyPr>
          <a:lstStyle/>
          <a:p>
            <a:pPr algn="l"/>
            <a:r>
              <a:rPr sz="1100" b="0">
                <a:solidFill>
                  <a:srgbClr val="F1F5F9"/>
                </a:solidFill>
              </a:rPr>
              <a:t>Secure API key management via .env files. load_dotenv() reads OPENAI_API_KEY and NEWSAPI_KEY at runtime — keeping credentials out of source code and preventing accidental key exposure in version control or shared notebooks.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82296"/>
            <a:ext cx="11521440" cy="548640"/>
          </a:xfrm>
          <a:prstGeom prst="rect">
            <a:avLst/>
          </a:prstGeom>
          <a:noFill/>
        </p:spPr>
        <p:txBody>
          <a:bodyPr wrap="square">
            <a:spAutoFit/>
          </a:bodyPr>
          <a:lstStyle/>
          <a:p>
            <a:pPr algn="l"/>
            <a:r>
              <a:rPr sz="2600" b="1">
                <a:solidFill>
                  <a:srgbClr val="F1F5F9"/>
                </a:solidFill>
              </a:rPr>
              <a:t>System Architecture</a:t>
            </a:r>
          </a:p>
        </p:txBody>
      </p:sp>
      <p:sp>
        <p:nvSpPr>
          <p:cNvPr id="4" name="TextBox 3"/>
          <p:cNvSpPr txBox="1"/>
          <p:nvPr/>
        </p:nvSpPr>
        <p:spPr>
          <a:xfrm>
            <a:off x="274320" y="658368"/>
            <a:ext cx="11521440" cy="347472"/>
          </a:xfrm>
          <a:prstGeom prst="rect">
            <a:avLst/>
          </a:prstGeom>
          <a:noFill/>
        </p:spPr>
        <p:txBody>
          <a:bodyPr wrap="square">
            <a:spAutoFit/>
          </a:bodyPr>
          <a:lstStyle/>
          <a:p>
            <a:pPr algn="l"/>
            <a:r>
              <a:rPr sz="1100" b="0">
                <a:solidFill>
                  <a:srgbClr val="94A3B8"/>
                </a:solidFill>
              </a:rPr>
              <a:t>End-to-end data flow from user query to AI-generated summary</a:t>
            </a:r>
          </a:p>
        </p:txBody>
      </p:sp>
      <p:sp>
        <p:nvSpPr>
          <p:cNvPr id="5" name="Rectangle 4"/>
          <p:cNvSpPr/>
          <p:nvPr/>
        </p:nvSpPr>
        <p:spPr>
          <a:xfrm>
            <a:off x="320040" y="1188720"/>
            <a:ext cx="1051560" cy="7498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1389888"/>
            <a:ext cx="1051560" cy="365760"/>
          </a:xfrm>
          <a:prstGeom prst="rect">
            <a:avLst/>
          </a:prstGeom>
          <a:noFill/>
        </p:spPr>
        <p:txBody>
          <a:bodyPr wrap="square">
            <a:spAutoFit/>
          </a:bodyPr>
          <a:lstStyle/>
          <a:p>
            <a:pPr algn="ctr"/>
            <a:r>
              <a:rPr sz="1300" b="1">
                <a:solidFill>
                  <a:srgbClr val="F1F5F9"/>
                </a:solidFill>
              </a:rPr>
              <a:t>1</a:t>
            </a:r>
          </a:p>
        </p:txBody>
      </p:sp>
      <p:sp>
        <p:nvSpPr>
          <p:cNvPr id="7" name="Rectangle 6"/>
          <p:cNvSpPr/>
          <p:nvPr/>
        </p:nvSpPr>
        <p:spPr>
          <a:xfrm>
            <a:off x="1463040" y="1188720"/>
            <a:ext cx="10424160" cy="74980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00200" y="1225296"/>
            <a:ext cx="10058400" cy="347472"/>
          </a:xfrm>
          <a:prstGeom prst="rect">
            <a:avLst/>
          </a:prstGeom>
          <a:noFill/>
        </p:spPr>
        <p:txBody>
          <a:bodyPr wrap="square">
            <a:spAutoFit/>
          </a:bodyPr>
          <a:lstStyle/>
          <a:p>
            <a:pPr algn="l"/>
            <a:r>
              <a:rPr sz="1300" b="1">
                <a:solidFill>
                  <a:srgbClr val="F1F5F9"/>
                </a:solidFill>
              </a:rPr>
              <a:t>User enters a query</a:t>
            </a:r>
          </a:p>
        </p:txBody>
      </p:sp>
      <p:sp>
        <p:nvSpPr>
          <p:cNvPr id="9" name="TextBox 8"/>
          <p:cNvSpPr txBox="1"/>
          <p:nvPr/>
        </p:nvSpPr>
        <p:spPr>
          <a:xfrm>
            <a:off x="1600200" y="1591056"/>
            <a:ext cx="10058400" cy="292608"/>
          </a:xfrm>
          <a:prstGeom prst="rect">
            <a:avLst/>
          </a:prstGeom>
          <a:noFill/>
        </p:spPr>
        <p:txBody>
          <a:bodyPr wrap="square">
            <a:spAutoFit/>
          </a:bodyPr>
          <a:lstStyle/>
          <a:p>
            <a:pPr algn="l"/>
            <a:r>
              <a:rPr sz="1000" b="0">
                <a:solidFill>
                  <a:srgbClr val="94A3B8"/>
                </a:solidFill>
              </a:rPr>
              <a:t>Equity research term typed in Streamlit st.text_input()  —  e.g. 'Apple Q3 2024 earnings'</a:t>
            </a:r>
          </a:p>
        </p:txBody>
      </p:sp>
      <p:sp>
        <p:nvSpPr>
          <p:cNvPr id="10" name="Rectangle 9"/>
          <p:cNvSpPr/>
          <p:nvPr/>
        </p:nvSpPr>
        <p:spPr>
          <a:xfrm>
            <a:off x="320040" y="2084832"/>
            <a:ext cx="1051560" cy="74980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 y="2286000"/>
            <a:ext cx="1051560" cy="365760"/>
          </a:xfrm>
          <a:prstGeom prst="rect">
            <a:avLst/>
          </a:prstGeom>
          <a:noFill/>
        </p:spPr>
        <p:txBody>
          <a:bodyPr wrap="square">
            <a:spAutoFit/>
          </a:bodyPr>
          <a:lstStyle/>
          <a:p>
            <a:pPr algn="ctr"/>
            <a:r>
              <a:rPr sz="1300" b="1">
                <a:solidFill>
                  <a:srgbClr val="F1F5F9"/>
                </a:solidFill>
              </a:rPr>
              <a:t>2</a:t>
            </a:r>
          </a:p>
        </p:txBody>
      </p:sp>
      <p:sp>
        <p:nvSpPr>
          <p:cNvPr id="12" name="Rectangle 11"/>
          <p:cNvSpPr/>
          <p:nvPr/>
        </p:nvSpPr>
        <p:spPr>
          <a:xfrm>
            <a:off x="1463040" y="2084832"/>
            <a:ext cx="10424160" cy="74980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600200" y="2121408"/>
            <a:ext cx="10058400" cy="347472"/>
          </a:xfrm>
          <a:prstGeom prst="rect">
            <a:avLst/>
          </a:prstGeom>
          <a:noFill/>
        </p:spPr>
        <p:txBody>
          <a:bodyPr wrap="square">
            <a:spAutoFit/>
          </a:bodyPr>
          <a:lstStyle/>
          <a:p>
            <a:pPr algn="l"/>
            <a:r>
              <a:rPr sz="1300" b="1">
                <a:solidFill>
                  <a:srgbClr val="F1F5F9"/>
                </a:solidFill>
              </a:rPr>
              <a:t>NewsAPI article fetch</a:t>
            </a:r>
          </a:p>
        </p:txBody>
      </p:sp>
      <p:sp>
        <p:nvSpPr>
          <p:cNvPr id="14" name="TextBox 13"/>
          <p:cNvSpPr txBox="1"/>
          <p:nvPr/>
        </p:nvSpPr>
        <p:spPr>
          <a:xfrm>
            <a:off x="1600200" y="2487168"/>
            <a:ext cx="10058400" cy="292608"/>
          </a:xfrm>
          <a:prstGeom prst="rect">
            <a:avLst/>
          </a:prstGeom>
          <a:noFill/>
        </p:spPr>
        <p:txBody>
          <a:bodyPr wrap="square">
            <a:spAutoFit/>
          </a:bodyPr>
          <a:lstStyle/>
          <a:p>
            <a:pPr algn="l"/>
            <a:r>
              <a:rPr sz="1000" b="0">
                <a:solidFill>
                  <a:srgbClr val="94A3B8"/>
                </a:solidFill>
              </a:rPr>
              <a:t>newsapi.get_everything(q=query, language='en', sort_by='relevancy', page_size=10) called</a:t>
            </a:r>
          </a:p>
        </p:txBody>
      </p:sp>
      <p:sp>
        <p:nvSpPr>
          <p:cNvPr id="15" name="Rectangle 14"/>
          <p:cNvSpPr/>
          <p:nvPr/>
        </p:nvSpPr>
        <p:spPr>
          <a:xfrm>
            <a:off x="320040" y="2980944"/>
            <a:ext cx="1051560" cy="7498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20040" y="3182112"/>
            <a:ext cx="1051560" cy="365760"/>
          </a:xfrm>
          <a:prstGeom prst="rect">
            <a:avLst/>
          </a:prstGeom>
          <a:noFill/>
        </p:spPr>
        <p:txBody>
          <a:bodyPr wrap="square">
            <a:spAutoFit/>
          </a:bodyPr>
          <a:lstStyle/>
          <a:p>
            <a:pPr algn="ctr"/>
            <a:r>
              <a:rPr sz="1300" b="1">
                <a:solidFill>
                  <a:srgbClr val="F1F5F9"/>
                </a:solidFill>
              </a:rPr>
              <a:t>3</a:t>
            </a:r>
          </a:p>
        </p:txBody>
      </p:sp>
      <p:sp>
        <p:nvSpPr>
          <p:cNvPr id="17" name="Rectangle 16"/>
          <p:cNvSpPr/>
          <p:nvPr/>
        </p:nvSpPr>
        <p:spPr>
          <a:xfrm>
            <a:off x="1463040" y="2980944"/>
            <a:ext cx="10424160" cy="74980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600200" y="3017520"/>
            <a:ext cx="10058400" cy="347472"/>
          </a:xfrm>
          <a:prstGeom prst="rect">
            <a:avLst/>
          </a:prstGeom>
          <a:noFill/>
        </p:spPr>
        <p:txBody>
          <a:bodyPr wrap="square">
            <a:spAutoFit/>
          </a:bodyPr>
          <a:lstStyle/>
          <a:p>
            <a:pPr algn="l"/>
            <a:r>
              <a:rPr sz="1300" b="1">
                <a:solidFill>
                  <a:srgbClr val="F1F5F9"/>
                </a:solidFill>
              </a:rPr>
              <a:t>Description extraction</a:t>
            </a:r>
          </a:p>
        </p:txBody>
      </p:sp>
      <p:sp>
        <p:nvSpPr>
          <p:cNvPr id="19" name="TextBox 18"/>
          <p:cNvSpPr txBox="1"/>
          <p:nvPr/>
        </p:nvSpPr>
        <p:spPr>
          <a:xfrm>
            <a:off x="1600200" y="3383279"/>
            <a:ext cx="10058400" cy="292608"/>
          </a:xfrm>
          <a:prstGeom prst="rect">
            <a:avLst/>
          </a:prstGeom>
          <a:noFill/>
        </p:spPr>
        <p:txBody>
          <a:bodyPr wrap="square">
            <a:spAutoFit/>
          </a:bodyPr>
          <a:lstStyle/>
          <a:p>
            <a:pPr algn="l"/>
            <a:r>
              <a:rPr sz="1000" b="0">
                <a:solidFill>
                  <a:srgbClr val="94A3B8"/>
                </a:solidFill>
              </a:rPr>
              <a:t>article['description'] collected from each result and joined into one summaries string</a:t>
            </a:r>
          </a:p>
        </p:txBody>
      </p:sp>
      <p:sp>
        <p:nvSpPr>
          <p:cNvPr id="20" name="Rectangle 19"/>
          <p:cNvSpPr/>
          <p:nvPr/>
        </p:nvSpPr>
        <p:spPr>
          <a:xfrm>
            <a:off x="320040" y="3877056"/>
            <a:ext cx="1051560" cy="74980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20040" y="4078224"/>
            <a:ext cx="1051560" cy="365760"/>
          </a:xfrm>
          <a:prstGeom prst="rect">
            <a:avLst/>
          </a:prstGeom>
          <a:noFill/>
        </p:spPr>
        <p:txBody>
          <a:bodyPr wrap="square">
            <a:spAutoFit/>
          </a:bodyPr>
          <a:lstStyle/>
          <a:p>
            <a:pPr algn="ctr"/>
            <a:r>
              <a:rPr sz="1300" b="1">
                <a:solidFill>
                  <a:srgbClr val="F1F5F9"/>
                </a:solidFill>
              </a:rPr>
              <a:t>4</a:t>
            </a:r>
          </a:p>
        </p:txBody>
      </p:sp>
      <p:sp>
        <p:nvSpPr>
          <p:cNvPr id="22" name="Rectangle 21"/>
          <p:cNvSpPr/>
          <p:nvPr/>
        </p:nvSpPr>
        <p:spPr>
          <a:xfrm>
            <a:off x="1463040" y="3877056"/>
            <a:ext cx="10424160" cy="74980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600200" y="3913632"/>
            <a:ext cx="10058400" cy="347472"/>
          </a:xfrm>
          <a:prstGeom prst="rect">
            <a:avLst/>
          </a:prstGeom>
          <a:noFill/>
        </p:spPr>
        <p:txBody>
          <a:bodyPr wrap="square">
            <a:spAutoFit/>
          </a:bodyPr>
          <a:lstStyle/>
          <a:p>
            <a:pPr algn="l"/>
            <a:r>
              <a:rPr sz="1300" b="1">
                <a:solidFill>
                  <a:srgbClr val="F1F5F9"/>
                </a:solidFill>
              </a:rPr>
              <a:t>LangChain prompt formatting</a:t>
            </a:r>
          </a:p>
        </p:txBody>
      </p:sp>
      <p:sp>
        <p:nvSpPr>
          <p:cNvPr id="24" name="TextBox 23"/>
          <p:cNvSpPr txBox="1"/>
          <p:nvPr/>
        </p:nvSpPr>
        <p:spPr>
          <a:xfrm>
            <a:off x="1600200" y="4279392"/>
            <a:ext cx="10058400" cy="292608"/>
          </a:xfrm>
          <a:prstGeom prst="rect">
            <a:avLst/>
          </a:prstGeom>
          <a:noFill/>
        </p:spPr>
        <p:txBody>
          <a:bodyPr wrap="square">
            <a:spAutoFit/>
          </a:bodyPr>
          <a:lstStyle/>
          <a:p>
            <a:pPr algn="l"/>
            <a:r>
              <a:rPr sz="1000" b="0">
                <a:solidFill>
                  <a:srgbClr val="94A3B8"/>
                </a:solidFill>
              </a:rPr>
              <a:t>PromptTemplate inserts {query} + {summaries} into the analyst system prompt template</a:t>
            </a:r>
          </a:p>
        </p:txBody>
      </p:sp>
      <p:sp>
        <p:nvSpPr>
          <p:cNvPr id="25" name="Rectangle 24"/>
          <p:cNvSpPr/>
          <p:nvPr/>
        </p:nvSpPr>
        <p:spPr>
          <a:xfrm>
            <a:off x="320040" y="4773168"/>
            <a:ext cx="1051560" cy="749808"/>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20040" y="4974336"/>
            <a:ext cx="1051560" cy="365760"/>
          </a:xfrm>
          <a:prstGeom prst="rect">
            <a:avLst/>
          </a:prstGeom>
          <a:noFill/>
        </p:spPr>
        <p:txBody>
          <a:bodyPr wrap="square">
            <a:spAutoFit/>
          </a:bodyPr>
          <a:lstStyle/>
          <a:p>
            <a:pPr algn="ctr"/>
            <a:r>
              <a:rPr sz="1300" b="1">
                <a:solidFill>
                  <a:srgbClr val="F1F5F9"/>
                </a:solidFill>
              </a:rPr>
              <a:t>5</a:t>
            </a:r>
          </a:p>
        </p:txBody>
      </p:sp>
      <p:sp>
        <p:nvSpPr>
          <p:cNvPr id="27" name="Rectangle 26"/>
          <p:cNvSpPr/>
          <p:nvPr/>
        </p:nvSpPr>
        <p:spPr>
          <a:xfrm>
            <a:off x="1463040" y="4773168"/>
            <a:ext cx="10424160" cy="74980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600200" y="4809744"/>
            <a:ext cx="10058400" cy="347472"/>
          </a:xfrm>
          <a:prstGeom prst="rect">
            <a:avLst/>
          </a:prstGeom>
          <a:noFill/>
        </p:spPr>
        <p:txBody>
          <a:bodyPr wrap="square">
            <a:spAutoFit/>
          </a:bodyPr>
          <a:lstStyle/>
          <a:p>
            <a:pPr algn="l"/>
            <a:r>
              <a:rPr sz="1300" b="1">
                <a:solidFill>
                  <a:srgbClr val="F1F5F9"/>
                </a:solidFill>
              </a:rPr>
              <a:t>OpenAI LLM invocation</a:t>
            </a:r>
          </a:p>
        </p:txBody>
      </p:sp>
      <p:sp>
        <p:nvSpPr>
          <p:cNvPr id="29" name="TextBox 28"/>
          <p:cNvSpPr txBox="1"/>
          <p:nvPr/>
        </p:nvSpPr>
        <p:spPr>
          <a:xfrm>
            <a:off x="1600200" y="5175504"/>
            <a:ext cx="10058400" cy="292608"/>
          </a:xfrm>
          <a:prstGeom prst="rect">
            <a:avLst/>
          </a:prstGeom>
          <a:noFill/>
        </p:spPr>
        <p:txBody>
          <a:bodyPr wrap="square">
            <a:spAutoFit/>
          </a:bodyPr>
          <a:lstStyle/>
          <a:p>
            <a:pPr algn="l"/>
            <a:r>
              <a:rPr sz="1000" b="0">
                <a:solidFill>
                  <a:srgbClr val="94A3B8"/>
                </a:solidFill>
              </a:rPr>
              <a:t>chain.invoke({'query': q, 'summaries': s}) sends prompt to OpenAI GPT and receives summary</a:t>
            </a:r>
          </a:p>
        </p:txBody>
      </p:sp>
      <p:sp>
        <p:nvSpPr>
          <p:cNvPr id="30" name="Rectangle 29"/>
          <p:cNvSpPr/>
          <p:nvPr/>
        </p:nvSpPr>
        <p:spPr>
          <a:xfrm>
            <a:off x="320040" y="5669280"/>
            <a:ext cx="1051560" cy="749808"/>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20040" y="5870448"/>
            <a:ext cx="1051560" cy="365760"/>
          </a:xfrm>
          <a:prstGeom prst="rect">
            <a:avLst/>
          </a:prstGeom>
          <a:noFill/>
        </p:spPr>
        <p:txBody>
          <a:bodyPr wrap="square">
            <a:spAutoFit/>
          </a:bodyPr>
          <a:lstStyle/>
          <a:p>
            <a:pPr algn="ctr"/>
            <a:r>
              <a:rPr sz="1300" b="1">
                <a:solidFill>
                  <a:srgbClr val="F1F5F9"/>
                </a:solidFill>
              </a:rPr>
              <a:t>6</a:t>
            </a:r>
          </a:p>
        </p:txBody>
      </p:sp>
      <p:sp>
        <p:nvSpPr>
          <p:cNvPr id="32" name="Rectangle 31"/>
          <p:cNvSpPr/>
          <p:nvPr/>
        </p:nvSpPr>
        <p:spPr>
          <a:xfrm>
            <a:off x="1463040" y="5669280"/>
            <a:ext cx="10424160" cy="74980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600200" y="5705856"/>
            <a:ext cx="10058400" cy="347472"/>
          </a:xfrm>
          <a:prstGeom prst="rect">
            <a:avLst/>
          </a:prstGeom>
          <a:noFill/>
        </p:spPr>
        <p:txBody>
          <a:bodyPr wrap="square">
            <a:spAutoFit/>
          </a:bodyPr>
          <a:lstStyle/>
          <a:p>
            <a:pPr algn="l"/>
            <a:r>
              <a:rPr sz="1300" b="1">
                <a:solidFill>
                  <a:srgbClr val="F1F5F9"/>
                </a:solidFill>
              </a:rPr>
              <a:t>Streamlit result display</a:t>
            </a:r>
          </a:p>
        </p:txBody>
      </p:sp>
      <p:sp>
        <p:nvSpPr>
          <p:cNvPr id="34" name="TextBox 33"/>
          <p:cNvSpPr txBox="1"/>
          <p:nvPr/>
        </p:nvSpPr>
        <p:spPr>
          <a:xfrm>
            <a:off x="1600200" y="6071616"/>
            <a:ext cx="10058400" cy="292608"/>
          </a:xfrm>
          <a:prstGeom prst="rect">
            <a:avLst/>
          </a:prstGeom>
          <a:noFill/>
        </p:spPr>
        <p:txBody>
          <a:bodyPr wrap="square">
            <a:spAutoFit/>
          </a:bodyPr>
          <a:lstStyle/>
          <a:p>
            <a:pPr algn="l"/>
            <a:r>
              <a:rPr sz="1000" b="0">
                <a:solidFill>
                  <a:srgbClr val="94A3B8"/>
                </a:solidFill>
              </a:rPr>
              <a:t>AI summary rendered via st.write(); source articles shown in st.expander() cards with links</a:t>
            </a:r>
          </a:p>
        </p:txBody>
      </p:sp>
      <p:sp>
        <p:nvSpPr>
          <p:cNvPr id="35" name="Rectangle 34"/>
          <p:cNvSpPr/>
          <p:nvPr/>
        </p:nvSpPr>
        <p:spPr>
          <a:xfrm>
            <a:off x="320040" y="6446520"/>
            <a:ext cx="11521440" cy="347472"/>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57200" y="6492240"/>
            <a:ext cx="11155680" cy="256032"/>
          </a:xfrm>
          <a:prstGeom prst="rect">
            <a:avLst/>
          </a:prstGeom>
          <a:noFill/>
        </p:spPr>
        <p:txBody>
          <a:bodyPr wrap="square">
            <a:spAutoFit/>
          </a:bodyPr>
          <a:lstStyle/>
          <a:p>
            <a:pPr algn="l"/>
            <a:r>
              <a:rPr sz="1000" b="0">
                <a:solidFill>
                  <a:srgbClr val="F59E0B"/>
                </a:solidFill>
              </a:rPr>
              <a:t>Key: Query → NewsAPI (live data) → Descriptions → LangChain Prompt → OpenAI GPT → Summary → Streamlit UI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82296"/>
            <a:ext cx="11521440" cy="548640"/>
          </a:xfrm>
          <a:prstGeom prst="rect">
            <a:avLst/>
          </a:prstGeom>
          <a:noFill/>
        </p:spPr>
        <p:txBody>
          <a:bodyPr wrap="square">
            <a:spAutoFit/>
          </a:bodyPr>
          <a:lstStyle/>
          <a:p>
            <a:pPr algn="l"/>
            <a:r>
              <a:rPr sz="2600" b="1">
                <a:solidFill>
                  <a:srgbClr val="F1F5F9"/>
                </a:solidFill>
              </a:rPr>
              <a:t>Phase 1 &amp; 2 — Setup &amp; LangChain Configuration</a:t>
            </a:r>
          </a:p>
        </p:txBody>
      </p:sp>
      <p:sp>
        <p:nvSpPr>
          <p:cNvPr id="4" name="TextBox 3"/>
          <p:cNvSpPr txBox="1"/>
          <p:nvPr/>
        </p:nvSpPr>
        <p:spPr>
          <a:xfrm>
            <a:off x="274320" y="658368"/>
            <a:ext cx="11521440" cy="347472"/>
          </a:xfrm>
          <a:prstGeom prst="rect">
            <a:avLst/>
          </a:prstGeom>
          <a:noFill/>
        </p:spPr>
        <p:txBody>
          <a:bodyPr wrap="square">
            <a:spAutoFit/>
          </a:bodyPr>
          <a:lstStyle/>
          <a:p>
            <a:pPr algn="l"/>
            <a:r>
              <a:rPr sz="1100" b="0">
                <a:solidFill>
                  <a:srgbClr val="94A3B8"/>
                </a:solidFill>
              </a:rPr>
              <a:t>Install dependencies, configure API keys, and build the LLM chain</a:t>
            </a:r>
          </a:p>
        </p:txBody>
      </p:sp>
      <p:sp>
        <p:nvSpPr>
          <p:cNvPr id="5" name="Rectangle 4"/>
          <p:cNvSpPr/>
          <p:nvPr/>
        </p:nvSpPr>
        <p:spPr>
          <a:xfrm>
            <a:off x="320040" y="1188720"/>
            <a:ext cx="5486400" cy="52120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280160"/>
            <a:ext cx="5212080" cy="292608"/>
          </a:xfrm>
          <a:prstGeom prst="rect">
            <a:avLst/>
          </a:prstGeom>
          <a:noFill/>
        </p:spPr>
        <p:txBody>
          <a:bodyPr wrap="square">
            <a:spAutoFit/>
          </a:bodyPr>
          <a:lstStyle/>
          <a:p>
            <a:pPr algn="l"/>
            <a:r>
              <a:rPr sz="1100" b="1">
                <a:solidFill>
                  <a:srgbClr val="6366F1"/>
                </a:solidFill>
              </a:rPr>
              <a:t>Phase 1: Environment Setup</a:t>
            </a:r>
          </a:p>
        </p:txBody>
      </p:sp>
      <p:sp>
        <p:nvSpPr>
          <p:cNvPr id="7" name="Rectangle 6"/>
          <p:cNvSpPr/>
          <p:nvPr/>
        </p:nvSpPr>
        <p:spPr>
          <a:xfrm>
            <a:off x="411480" y="1682496"/>
            <a:ext cx="5303520" cy="82296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728216"/>
            <a:ext cx="5029200" cy="347472"/>
          </a:xfrm>
          <a:prstGeom prst="rect">
            <a:avLst/>
          </a:prstGeom>
          <a:noFill/>
        </p:spPr>
        <p:txBody>
          <a:bodyPr wrap="square">
            <a:spAutoFit/>
          </a:bodyPr>
          <a:lstStyle/>
          <a:p>
            <a:pPr algn="l"/>
            <a:r>
              <a:rPr sz="900" b="1">
                <a:solidFill>
                  <a:srgbClr val="F59E0B"/>
                </a:solidFill>
              </a:rPr>
              <a:t>pip install langchain langchain-openai openai</a:t>
            </a:r>
          </a:p>
        </p:txBody>
      </p:sp>
      <p:sp>
        <p:nvSpPr>
          <p:cNvPr id="9" name="TextBox 8"/>
          <p:cNvSpPr txBox="1"/>
          <p:nvPr/>
        </p:nvSpPr>
        <p:spPr>
          <a:xfrm>
            <a:off x="548640" y="2139696"/>
            <a:ext cx="5029200" cy="292608"/>
          </a:xfrm>
          <a:prstGeom prst="rect">
            <a:avLst/>
          </a:prstGeom>
          <a:noFill/>
        </p:spPr>
        <p:txBody>
          <a:bodyPr wrap="square">
            <a:spAutoFit/>
          </a:bodyPr>
          <a:lstStyle/>
          <a:p>
            <a:pPr algn="l"/>
            <a:r>
              <a:rPr sz="1000" b="0">
                <a:solidFill>
                  <a:srgbClr val="94A3B8"/>
                </a:solidFill>
              </a:rPr>
              <a:t>LangChain framework + OpenAI Python SDK</a:t>
            </a:r>
          </a:p>
        </p:txBody>
      </p:sp>
      <p:sp>
        <p:nvSpPr>
          <p:cNvPr id="10" name="Rectangle 9"/>
          <p:cNvSpPr/>
          <p:nvPr/>
        </p:nvSpPr>
        <p:spPr>
          <a:xfrm>
            <a:off x="411480" y="2670048"/>
            <a:ext cx="5303520" cy="82296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2715768"/>
            <a:ext cx="5029200" cy="347472"/>
          </a:xfrm>
          <a:prstGeom prst="rect">
            <a:avLst/>
          </a:prstGeom>
          <a:noFill/>
        </p:spPr>
        <p:txBody>
          <a:bodyPr wrap="square">
            <a:spAutoFit/>
          </a:bodyPr>
          <a:lstStyle/>
          <a:p>
            <a:pPr algn="l"/>
            <a:r>
              <a:rPr sz="900" b="1">
                <a:solidFill>
                  <a:srgbClr val="F59E0B"/>
                </a:solidFill>
              </a:rPr>
              <a:t>pip install streamlit newsapi-python</a:t>
            </a:r>
          </a:p>
        </p:txBody>
      </p:sp>
      <p:sp>
        <p:nvSpPr>
          <p:cNvPr id="12" name="TextBox 11"/>
          <p:cNvSpPr txBox="1"/>
          <p:nvPr/>
        </p:nvSpPr>
        <p:spPr>
          <a:xfrm>
            <a:off x="548640" y="3127248"/>
            <a:ext cx="5029200" cy="292608"/>
          </a:xfrm>
          <a:prstGeom prst="rect">
            <a:avLst/>
          </a:prstGeom>
          <a:noFill/>
        </p:spPr>
        <p:txBody>
          <a:bodyPr wrap="square">
            <a:spAutoFit/>
          </a:bodyPr>
          <a:lstStyle/>
          <a:p>
            <a:pPr algn="l"/>
            <a:r>
              <a:rPr sz="1000" b="0">
                <a:solidFill>
                  <a:srgbClr val="94A3B8"/>
                </a:solidFill>
              </a:rPr>
              <a:t>Streamlit web framework and NewsAPI Python client</a:t>
            </a:r>
          </a:p>
        </p:txBody>
      </p:sp>
      <p:sp>
        <p:nvSpPr>
          <p:cNvPr id="13" name="Rectangle 12"/>
          <p:cNvSpPr/>
          <p:nvPr/>
        </p:nvSpPr>
        <p:spPr>
          <a:xfrm>
            <a:off x="411480" y="3657600"/>
            <a:ext cx="5303520" cy="82296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3703320"/>
            <a:ext cx="5029200" cy="347472"/>
          </a:xfrm>
          <a:prstGeom prst="rect">
            <a:avLst/>
          </a:prstGeom>
          <a:noFill/>
        </p:spPr>
        <p:txBody>
          <a:bodyPr wrap="square">
            <a:spAutoFit/>
          </a:bodyPr>
          <a:lstStyle/>
          <a:p>
            <a:pPr algn="l"/>
            <a:r>
              <a:rPr sz="900" b="1">
                <a:solidFill>
                  <a:srgbClr val="F59E0B"/>
                </a:solidFill>
              </a:rPr>
              <a:t>pip install python-dotenv</a:t>
            </a:r>
          </a:p>
        </p:txBody>
      </p:sp>
      <p:sp>
        <p:nvSpPr>
          <p:cNvPr id="15" name="TextBox 14"/>
          <p:cNvSpPr txBox="1"/>
          <p:nvPr/>
        </p:nvSpPr>
        <p:spPr>
          <a:xfrm>
            <a:off x="548640" y="4114800"/>
            <a:ext cx="5029200" cy="292608"/>
          </a:xfrm>
          <a:prstGeom prst="rect">
            <a:avLst/>
          </a:prstGeom>
          <a:noFill/>
        </p:spPr>
        <p:txBody>
          <a:bodyPr wrap="square">
            <a:spAutoFit/>
          </a:bodyPr>
          <a:lstStyle/>
          <a:p>
            <a:pPr algn="l"/>
            <a:r>
              <a:rPr sz="1000" b="0">
                <a:solidFill>
                  <a:srgbClr val="94A3B8"/>
                </a:solidFill>
              </a:rPr>
              <a:t>Secure environment variable loading from .env file</a:t>
            </a:r>
          </a:p>
        </p:txBody>
      </p:sp>
      <p:sp>
        <p:nvSpPr>
          <p:cNvPr id="16" name="Rectangle 15"/>
          <p:cNvSpPr/>
          <p:nvPr/>
        </p:nvSpPr>
        <p:spPr>
          <a:xfrm>
            <a:off x="411480" y="4645152"/>
            <a:ext cx="5303520" cy="82296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48640" y="4690872"/>
            <a:ext cx="5029200" cy="347472"/>
          </a:xfrm>
          <a:prstGeom prst="rect">
            <a:avLst/>
          </a:prstGeom>
          <a:noFill/>
        </p:spPr>
        <p:txBody>
          <a:bodyPr wrap="square">
            <a:spAutoFit/>
          </a:bodyPr>
          <a:lstStyle/>
          <a:p>
            <a:pPr algn="l"/>
            <a:r>
              <a:rPr sz="900" b="1">
                <a:solidFill>
                  <a:srgbClr val="F59E0B"/>
                </a:solidFill>
              </a:rPr>
              <a:t>cp env.example .env  →  add real keys</a:t>
            </a:r>
          </a:p>
        </p:txBody>
      </p:sp>
      <p:sp>
        <p:nvSpPr>
          <p:cNvPr id="18" name="TextBox 17"/>
          <p:cNvSpPr txBox="1"/>
          <p:nvPr/>
        </p:nvSpPr>
        <p:spPr>
          <a:xfrm>
            <a:off x="548640" y="5102352"/>
            <a:ext cx="5029200" cy="292608"/>
          </a:xfrm>
          <a:prstGeom prst="rect">
            <a:avLst/>
          </a:prstGeom>
          <a:noFill/>
        </p:spPr>
        <p:txBody>
          <a:bodyPr wrap="square">
            <a:spAutoFit/>
          </a:bodyPr>
          <a:lstStyle/>
          <a:p>
            <a:pPr algn="l"/>
            <a:r>
              <a:rPr sz="1000" b="0">
                <a:solidFill>
                  <a:srgbClr val="94A3B8"/>
                </a:solidFill>
              </a:rPr>
              <a:t>OPENAI_API_KEY from platform.openai.com/api-keys</a:t>
            </a:r>
          </a:p>
        </p:txBody>
      </p:sp>
      <p:sp>
        <p:nvSpPr>
          <p:cNvPr id="19" name="Rectangle 18"/>
          <p:cNvSpPr/>
          <p:nvPr/>
        </p:nvSpPr>
        <p:spPr>
          <a:xfrm>
            <a:off x="6035040" y="1188720"/>
            <a:ext cx="5852160" cy="52120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172200" y="1280160"/>
            <a:ext cx="5577840" cy="292608"/>
          </a:xfrm>
          <a:prstGeom prst="rect">
            <a:avLst/>
          </a:prstGeom>
          <a:noFill/>
        </p:spPr>
        <p:txBody>
          <a:bodyPr wrap="square">
            <a:spAutoFit/>
          </a:bodyPr>
          <a:lstStyle/>
          <a:p>
            <a:pPr algn="l"/>
            <a:r>
              <a:rPr sz="1100" b="1">
                <a:solidFill>
                  <a:srgbClr val="10B981"/>
                </a:solidFill>
              </a:rPr>
              <a:t>Phase 2: LangChain Configuration</a:t>
            </a:r>
          </a:p>
        </p:txBody>
      </p:sp>
      <p:sp>
        <p:nvSpPr>
          <p:cNvPr id="21" name="Rectangle 20"/>
          <p:cNvSpPr/>
          <p:nvPr/>
        </p:nvSpPr>
        <p:spPr>
          <a:xfrm>
            <a:off x="6126480" y="1682496"/>
            <a:ext cx="411480" cy="7772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126480" y="1901952"/>
            <a:ext cx="411480" cy="347472"/>
          </a:xfrm>
          <a:prstGeom prst="rect">
            <a:avLst/>
          </a:prstGeom>
          <a:noFill/>
        </p:spPr>
        <p:txBody>
          <a:bodyPr wrap="square">
            <a:spAutoFit/>
          </a:bodyPr>
          <a:lstStyle/>
          <a:p>
            <a:pPr algn="ctr"/>
            <a:r>
              <a:rPr sz="1100" b="1">
                <a:solidFill>
                  <a:srgbClr val="F1F5F9"/>
                </a:solidFill>
              </a:rPr>
              <a:t>1</a:t>
            </a:r>
          </a:p>
        </p:txBody>
      </p:sp>
      <p:sp>
        <p:nvSpPr>
          <p:cNvPr id="23" name="Rectangle 22"/>
          <p:cNvSpPr/>
          <p:nvPr/>
        </p:nvSpPr>
        <p:spPr>
          <a:xfrm>
            <a:off x="6601968" y="1682496"/>
            <a:ext cx="5166360" cy="77724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693408" y="1719072"/>
            <a:ext cx="4983480" cy="347472"/>
          </a:xfrm>
          <a:prstGeom prst="rect">
            <a:avLst/>
          </a:prstGeom>
          <a:noFill/>
        </p:spPr>
        <p:txBody>
          <a:bodyPr wrap="square">
            <a:spAutoFit/>
          </a:bodyPr>
          <a:lstStyle/>
          <a:p>
            <a:pPr algn="l"/>
            <a:r>
              <a:rPr sz="900" b="1">
                <a:solidFill>
                  <a:srgbClr val="F59E0B"/>
                </a:solidFill>
              </a:rPr>
              <a:t>load_dotenv()</a:t>
            </a:r>
          </a:p>
        </p:txBody>
      </p:sp>
      <p:sp>
        <p:nvSpPr>
          <p:cNvPr id="25" name="TextBox 24"/>
          <p:cNvSpPr txBox="1"/>
          <p:nvPr/>
        </p:nvSpPr>
        <p:spPr>
          <a:xfrm>
            <a:off x="6693408" y="2121408"/>
            <a:ext cx="4983480" cy="274320"/>
          </a:xfrm>
          <a:prstGeom prst="rect">
            <a:avLst/>
          </a:prstGeom>
          <a:noFill/>
        </p:spPr>
        <p:txBody>
          <a:bodyPr wrap="square">
            <a:spAutoFit/>
          </a:bodyPr>
          <a:lstStyle/>
          <a:p>
            <a:pPr algn="l"/>
            <a:r>
              <a:rPr sz="900" b="0">
                <a:solidFill>
                  <a:srgbClr val="94A3B8"/>
                </a:solidFill>
              </a:rPr>
              <a:t>Reads .env — never hard-code API keys in source code</a:t>
            </a:r>
          </a:p>
        </p:txBody>
      </p:sp>
      <p:sp>
        <p:nvSpPr>
          <p:cNvPr id="26" name="Rectangle 25"/>
          <p:cNvSpPr/>
          <p:nvPr/>
        </p:nvSpPr>
        <p:spPr>
          <a:xfrm>
            <a:off x="6126480" y="2615184"/>
            <a:ext cx="411480" cy="7772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126480" y="2834640"/>
            <a:ext cx="411480" cy="347472"/>
          </a:xfrm>
          <a:prstGeom prst="rect">
            <a:avLst/>
          </a:prstGeom>
          <a:noFill/>
        </p:spPr>
        <p:txBody>
          <a:bodyPr wrap="square">
            <a:spAutoFit/>
          </a:bodyPr>
          <a:lstStyle/>
          <a:p>
            <a:pPr algn="ctr"/>
            <a:r>
              <a:rPr sz="1100" b="1">
                <a:solidFill>
                  <a:srgbClr val="F1F5F9"/>
                </a:solidFill>
              </a:rPr>
              <a:t>2</a:t>
            </a:r>
          </a:p>
        </p:txBody>
      </p:sp>
      <p:sp>
        <p:nvSpPr>
          <p:cNvPr id="28" name="Rectangle 27"/>
          <p:cNvSpPr/>
          <p:nvPr/>
        </p:nvSpPr>
        <p:spPr>
          <a:xfrm>
            <a:off x="6601968" y="2615184"/>
            <a:ext cx="5166360" cy="77724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693408" y="2651760"/>
            <a:ext cx="4983480" cy="347472"/>
          </a:xfrm>
          <a:prstGeom prst="rect">
            <a:avLst/>
          </a:prstGeom>
          <a:noFill/>
        </p:spPr>
        <p:txBody>
          <a:bodyPr wrap="square">
            <a:spAutoFit/>
          </a:bodyPr>
          <a:lstStyle/>
          <a:p>
            <a:pPr algn="l"/>
            <a:r>
              <a:rPr sz="900" b="1">
                <a:solidFill>
                  <a:srgbClr val="F59E0B"/>
                </a:solidFill>
              </a:rPr>
              <a:t>llm = OpenAI(api_key=..., temperature=0.7)</a:t>
            </a:r>
          </a:p>
        </p:txBody>
      </p:sp>
      <p:sp>
        <p:nvSpPr>
          <p:cNvPr id="30" name="TextBox 29"/>
          <p:cNvSpPr txBox="1"/>
          <p:nvPr/>
        </p:nvSpPr>
        <p:spPr>
          <a:xfrm>
            <a:off x="6693408" y="3054096"/>
            <a:ext cx="4983480" cy="274320"/>
          </a:xfrm>
          <a:prstGeom prst="rect">
            <a:avLst/>
          </a:prstGeom>
          <a:noFill/>
        </p:spPr>
        <p:txBody>
          <a:bodyPr wrap="square">
            <a:spAutoFit/>
          </a:bodyPr>
          <a:lstStyle/>
          <a:p>
            <a:pPr algn="l"/>
            <a:r>
              <a:rPr sz="900" b="0">
                <a:solidFill>
                  <a:srgbClr val="94A3B8"/>
                </a:solidFill>
              </a:rPr>
              <a:t>Initialises GPT model; temperature=0.7 = focused yet creative</a:t>
            </a:r>
          </a:p>
        </p:txBody>
      </p:sp>
      <p:sp>
        <p:nvSpPr>
          <p:cNvPr id="31" name="Rectangle 30"/>
          <p:cNvSpPr/>
          <p:nvPr/>
        </p:nvSpPr>
        <p:spPr>
          <a:xfrm>
            <a:off x="6126480" y="3547872"/>
            <a:ext cx="411480" cy="7772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126480" y="3767328"/>
            <a:ext cx="411480" cy="347472"/>
          </a:xfrm>
          <a:prstGeom prst="rect">
            <a:avLst/>
          </a:prstGeom>
          <a:noFill/>
        </p:spPr>
        <p:txBody>
          <a:bodyPr wrap="square">
            <a:spAutoFit/>
          </a:bodyPr>
          <a:lstStyle/>
          <a:p>
            <a:pPr algn="ctr"/>
            <a:r>
              <a:rPr sz="1100" b="1">
                <a:solidFill>
                  <a:srgbClr val="F1F5F9"/>
                </a:solidFill>
              </a:rPr>
              <a:t>3</a:t>
            </a:r>
          </a:p>
        </p:txBody>
      </p:sp>
      <p:sp>
        <p:nvSpPr>
          <p:cNvPr id="33" name="Rectangle 32"/>
          <p:cNvSpPr/>
          <p:nvPr/>
        </p:nvSpPr>
        <p:spPr>
          <a:xfrm>
            <a:off x="6601968" y="3547872"/>
            <a:ext cx="5166360" cy="77724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693408" y="3584448"/>
            <a:ext cx="4983480" cy="347472"/>
          </a:xfrm>
          <a:prstGeom prst="rect">
            <a:avLst/>
          </a:prstGeom>
          <a:noFill/>
        </p:spPr>
        <p:txBody>
          <a:bodyPr wrap="square">
            <a:spAutoFit/>
          </a:bodyPr>
          <a:lstStyle/>
          <a:p>
            <a:pPr algn="l"/>
            <a:r>
              <a:rPr sz="900" b="1">
                <a:solidFill>
                  <a:srgbClr val="F59E0B"/>
                </a:solidFill>
              </a:rPr>
              <a:t>PromptTemplate(template, input_variables=[...])</a:t>
            </a:r>
          </a:p>
        </p:txBody>
      </p:sp>
      <p:sp>
        <p:nvSpPr>
          <p:cNvPr id="35" name="TextBox 34"/>
          <p:cNvSpPr txBox="1"/>
          <p:nvPr/>
        </p:nvSpPr>
        <p:spPr>
          <a:xfrm>
            <a:off x="6693408" y="3986783"/>
            <a:ext cx="4983480" cy="274320"/>
          </a:xfrm>
          <a:prstGeom prst="rect">
            <a:avLst/>
          </a:prstGeom>
          <a:noFill/>
        </p:spPr>
        <p:txBody>
          <a:bodyPr wrap="square">
            <a:spAutoFit/>
          </a:bodyPr>
          <a:lstStyle/>
          <a:p>
            <a:pPr algn="l"/>
            <a:r>
              <a:rPr sz="900" b="0">
                <a:solidFill>
                  <a:srgbClr val="94A3B8"/>
                </a:solidFill>
              </a:rPr>
              <a:t>Template with {query} + {summaries} for analyst role prompt</a:t>
            </a:r>
          </a:p>
        </p:txBody>
      </p:sp>
      <p:sp>
        <p:nvSpPr>
          <p:cNvPr id="36" name="Rectangle 35"/>
          <p:cNvSpPr/>
          <p:nvPr/>
        </p:nvSpPr>
        <p:spPr>
          <a:xfrm>
            <a:off x="6126480" y="4480560"/>
            <a:ext cx="411480" cy="7772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126480" y="4700016"/>
            <a:ext cx="411480" cy="347472"/>
          </a:xfrm>
          <a:prstGeom prst="rect">
            <a:avLst/>
          </a:prstGeom>
          <a:noFill/>
        </p:spPr>
        <p:txBody>
          <a:bodyPr wrap="square">
            <a:spAutoFit/>
          </a:bodyPr>
          <a:lstStyle/>
          <a:p>
            <a:pPr algn="ctr"/>
            <a:r>
              <a:rPr sz="1100" b="1">
                <a:solidFill>
                  <a:srgbClr val="F1F5F9"/>
                </a:solidFill>
              </a:rPr>
              <a:t>4</a:t>
            </a:r>
          </a:p>
        </p:txBody>
      </p:sp>
      <p:sp>
        <p:nvSpPr>
          <p:cNvPr id="38" name="Rectangle 37"/>
          <p:cNvSpPr/>
          <p:nvPr/>
        </p:nvSpPr>
        <p:spPr>
          <a:xfrm>
            <a:off x="6601968" y="4480560"/>
            <a:ext cx="5166360" cy="77724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693408" y="4517136"/>
            <a:ext cx="4983480" cy="347472"/>
          </a:xfrm>
          <a:prstGeom prst="rect">
            <a:avLst/>
          </a:prstGeom>
          <a:noFill/>
        </p:spPr>
        <p:txBody>
          <a:bodyPr wrap="square">
            <a:spAutoFit/>
          </a:bodyPr>
          <a:lstStyle/>
          <a:p>
            <a:pPr algn="l"/>
            <a:r>
              <a:rPr sz="900" b="1">
                <a:solidFill>
                  <a:srgbClr val="F59E0B"/>
                </a:solidFill>
              </a:rPr>
              <a:t>chain = prompt | llm</a:t>
            </a:r>
          </a:p>
        </p:txBody>
      </p:sp>
      <p:sp>
        <p:nvSpPr>
          <p:cNvPr id="40" name="TextBox 39"/>
          <p:cNvSpPr txBox="1"/>
          <p:nvPr/>
        </p:nvSpPr>
        <p:spPr>
          <a:xfrm>
            <a:off x="6693408" y="4919472"/>
            <a:ext cx="4983480" cy="274320"/>
          </a:xfrm>
          <a:prstGeom prst="rect">
            <a:avLst/>
          </a:prstGeom>
          <a:noFill/>
        </p:spPr>
        <p:txBody>
          <a:bodyPr wrap="square">
            <a:spAutoFit/>
          </a:bodyPr>
          <a:lstStyle/>
          <a:p>
            <a:pPr algn="l"/>
            <a:r>
              <a:rPr sz="900" b="0">
                <a:solidFill>
                  <a:srgbClr val="94A3B8"/>
                </a:solidFill>
              </a:rPr>
              <a:t>LCEL pipe operator: output of prompt feeds directly into LLM</a:t>
            </a:r>
          </a:p>
        </p:txBody>
      </p:sp>
      <p:sp>
        <p:nvSpPr>
          <p:cNvPr id="41" name="Rectangle 40"/>
          <p:cNvSpPr/>
          <p:nvPr/>
        </p:nvSpPr>
        <p:spPr>
          <a:xfrm>
            <a:off x="6126480" y="5413248"/>
            <a:ext cx="411480" cy="7772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126480" y="5632704"/>
            <a:ext cx="411480" cy="347472"/>
          </a:xfrm>
          <a:prstGeom prst="rect">
            <a:avLst/>
          </a:prstGeom>
          <a:noFill/>
        </p:spPr>
        <p:txBody>
          <a:bodyPr wrap="square">
            <a:spAutoFit/>
          </a:bodyPr>
          <a:lstStyle/>
          <a:p>
            <a:pPr algn="ctr"/>
            <a:r>
              <a:rPr sz="1100" b="1">
                <a:solidFill>
                  <a:srgbClr val="F1F5F9"/>
                </a:solidFill>
              </a:rPr>
              <a:t>5</a:t>
            </a:r>
          </a:p>
        </p:txBody>
      </p:sp>
      <p:sp>
        <p:nvSpPr>
          <p:cNvPr id="43" name="Rectangle 42"/>
          <p:cNvSpPr/>
          <p:nvPr/>
        </p:nvSpPr>
        <p:spPr>
          <a:xfrm>
            <a:off x="6601968" y="5413248"/>
            <a:ext cx="5166360" cy="77724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693408" y="5449824"/>
            <a:ext cx="4983480" cy="347472"/>
          </a:xfrm>
          <a:prstGeom prst="rect">
            <a:avLst/>
          </a:prstGeom>
          <a:noFill/>
        </p:spPr>
        <p:txBody>
          <a:bodyPr wrap="square">
            <a:spAutoFit/>
          </a:bodyPr>
          <a:lstStyle/>
          <a:p>
            <a:pPr algn="l"/>
            <a:r>
              <a:rPr sz="900" b="1">
                <a:solidFill>
                  <a:srgbClr val="F59E0B"/>
                </a:solidFill>
              </a:rPr>
              <a:t>chain.invoke({'query': q, 'summaries': s})</a:t>
            </a:r>
          </a:p>
        </p:txBody>
      </p:sp>
      <p:sp>
        <p:nvSpPr>
          <p:cNvPr id="45" name="TextBox 44"/>
          <p:cNvSpPr txBox="1"/>
          <p:nvPr/>
        </p:nvSpPr>
        <p:spPr>
          <a:xfrm>
            <a:off x="6693408" y="5852160"/>
            <a:ext cx="4983480" cy="274320"/>
          </a:xfrm>
          <a:prstGeom prst="rect">
            <a:avLst/>
          </a:prstGeom>
          <a:noFill/>
        </p:spPr>
        <p:txBody>
          <a:bodyPr wrap="square">
            <a:spAutoFit/>
          </a:bodyPr>
          <a:lstStyle/>
          <a:p>
            <a:pPr algn="l"/>
            <a:r>
              <a:rPr sz="900" b="0">
                <a:solidFill>
                  <a:srgbClr val="94A3B8"/>
                </a:solidFill>
              </a:rPr>
              <a:t>Execute chain to produce the final analyst-grade AI summary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82296"/>
            <a:ext cx="11521440" cy="548640"/>
          </a:xfrm>
          <a:prstGeom prst="rect">
            <a:avLst/>
          </a:prstGeom>
          <a:noFill/>
        </p:spPr>
        <p:txBody>
          <a:bodyPr wrap="square">
            <a:spAutoFit/>
          </a:bodyPr>
          <a:lstStyle/>
          <a:p>
            <a:pPr algn="l"/>
            <a:r>
              <a:rPr sz="2600" b="1">
                <a:solidFill>
                  <a:srgbClr val="F1F5F9"/>
                </a:solidFill>
              </a:rPr>
              <a:t>Phase 4 — NewsAPI Integration</a:t>
            </a:r>
          </a:p>
        </p:txBody>
      </p:sp>
      <p:sp>
        <p:nvSpPr>
          <p:cNvPr id="4" name="TextBox 3"/>
          <p:cNvSpPr txBox="1"/>
          <p:nvPr/>
        </p:nvSpPr>
        <p:spPr>
          <a:xfrm>
            <a:off x="274320" y="658368"/>
            <a:ext cx="11521440" cy="347472"/>
          </a:xfrm>
          <a:prstGeom prst="rect">
            <a:avLst/>
          </a:prstGeom>
          <a:noFill/>
        </p:spPr>
        <p:txBody>
          <a:bodyPr wrap="square">
            <a:spAutoFit/>
          </a:bodyPr>
          <a:lstStyle/>
          <a:p>
            <a:pPr algn="l"/>
            <a:r>
              <a:rPr sz="1100" b="0">
                <a:solidFill>
                  <a:srgbClr val="94A3B8"/>
                </a:solidFill>
              </a:rPr>
              <a:t>Three core functions in langchain_config.py that power the data pipeline</a:t>
            </a:r>
          </a:p>
        </p:txBody>
      </p:sp>
      <p:sp>
        <p:nvSpPr>
          <p:cNvPr id="5" name="Rectangle 4"/>
          <p:cNvSpPr/>
          <p:nvPr/>
        </p:nvSpPr>
        <p:spPr>
          <a:xfrm>
            <a:off x="320040" y="1188720"/>
            <a:ext cx="3474720" cy="16002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1755648"/>
            <a:ext cx="3291840" cy="475488"/>
          </a:xfrm>
          <a:prstGeom prst="rect">
            <a:avLst/>
          </a:prstGeom>
          <a:noFill/>
        </p:spPr>
        <p:txBody>
          <a:bodyPr wrap="square">
            <a:spAutoFit/>
          </a:bodyPr>
          <a:lstStyle/>
          <a:p>
            <a:pPr algn="ctr"/>
            <a:r>
              <a:rPr sz="1200" b="1">
                <a:solidFill>
                  <a:srgbClr val="F1F5F9"/>
                </a:solidFill>
              </a:rPr>
              <a:t>get_news_articles(query)</a:t>
            </a:r>
          </a:p>
        </p:txBody>
      </p:sp>
      <p:sp>
        <p:nvSpPr>
          <p:cNvPr id="7" name="Rectangle 6"/>
          <p:cNvSpPr/>
          <p:nvPr/>
        </p:nvSpPr>
        <p:spPr>
          <a:xfrm>
            <a:off x="3931920" y="1188720"/>
            <a:ext cx="7955279" cy="1600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069080" y="1298448"/>
            <a:ext cx="7726679" cy="292608"/>
          </a:xfrm>
          <a:prstGeom prst="rect">
            <a:avLst/>
          </a:prstGeom>
          <a:noFill/>
        </p:spPr>
        <p:txBody>
          <a:bodyPr wrap="square">
            <a:spAutoFit/>
          </a:bodyPr>
          <a:lstStyle/>
          <a:p>
            <a:pPr algn="l"/>
            <a:r>
              <a:rPr sz="1000" b="0">
                <a:solidFill>
                  <a:srgbClr val="F1F5F9"/>
                </a:solidFill>
              </a:rPr>
              <a:t>▸  Calls newsapi.get_everything() with the user's search query</a:t>
            </a:r>
          </a:p>
        </p:txBody>
      </p:sp>
      <p:sp>
        <p:nvSpPr>
          <p:cNvPr id="9" name="TextBox 8"/>
          <p:cNvSpPr txBox="1"/>
          <p:nvPr/>
        </p:nvSpPr>
        <p:spPr>
          <a:xfrm>
            <a:off x="4069080" y="1645919"/>
            <a:ext cx="7726679" cy="292608"/>
          </a:xfrm>
          <a:prstGeom prst="rect">
            <a:avLst/>
          </a:prstGeom>
          <a:noFill/>
        </p:spPr>
        <p:txBody>
          <a:bodyPr wrap="square">
            <a:spAutoFit/>
          </a:bodyPr>
          <a:lstStyle/>
          <a:p>
            <a:pPr algn="l"/>
            <a:r>
              <a:rPr sz="1000" b="0">
                <a:solidFill>
                  <a:srgbClr val="F1F5F9"/>
                </a:solidFill>
              </a:rPr>
              <a:t>▸  Filters: language='en', sort_by='relevancy', page_size=10</a:t>
            </a:r>
          </a:p>
        </p:txBody>
      </p:sp>
      <p:sp>
        <p:nvSpPr>
          <p:cNvPr id="10" name="TextBox 9"/>
          <p:cNvSpPr txBox="1"/>
          <p:nvPr/>
        </p:nvSpPr>
        <p:spPr>
          <a:xfrm>
            <a:off x="4069080" y="1993391"/>
            <a:ext cx="7726679" cy="292608"/>
          </a:xfrm>
          <a:prstGeom prst="rect">
            <a:avLst/>
          </a:prstGeom>
          <a:noFill/>
        </p:spPr>
        <p:txBody>
          <a:bodyPr wrap="square">
            <a:spAutoFit/>
          </a:bodyPr>
          <a:lstStyle/>
          <a:p>
            <a:pPr algn="l"/>
            <a:r>
              <a:rPr sz="1000" b="0">
                <a:solidFill>
                  <a:srgbClr val="F1F5F9"/>
                </a:solidFill>
              </a:rPr>
              <a:t>▸  Returns up to 10 article dictionaries from the API response</a:t>
            </a:r>
          </a:p>
        </p:txBody>
      </p:sp>
      <p:sp>
        <p:nvSpPr>
          <p:cNvPr id="11" name="TextBox 10"/>
          <p:cNvSpPr txBox="1"/>
          <p:nvPr/>
        </p:nvSpPr>
        <p:spPr>
          <a:xfrm>
            <a:off x="4069080" y="2340864"/>
            <a:ext cx="7726679" cy="292608"/>
          </a:xfrm>
          <a:prstGeom prst="rect">
            <a:avLst/>
          </a:prstGeom>
          <a:noFill/>
        </p:spPr>
        <p:txBody>
          <a:bodyPr wrap="square">
            <a:spAutoFit/>
          </a:bodyPr>
          <a:lstStyle/>
          <a:p>
            <a:pPr algn="l"/>
            <a:r>
              <a:rPr sz="1000" b="0">
                <a:solidFill>
                  <a:srgbClr val="F1F5F9"/>
                </a:solidFill>
              </a:rPr>
              <a:t>▸  Each dict contains: title, description, source, publishedAt, url</a:t>
            </a:r>
          </a:p>
        </p:txBody>
      </p:sp>
      <p:sp>
        <p:nvSpPr>
          <p:cNvPr id="12" name="Rectangle 11"/>
          <p:cNvSpPr/>
          <p:nvPr/>
        </p:nvSpPr>
        <p:spPr>
          <a:xfrm>
            <a:off x="320040" y="2999232"/>
            <a:ext cx="3474720" cy="16002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11480" y="3566160"/>
            <a:ext cx="3291840" cy="475488"/>
          </a:xfrm>
          <a:prstGeom prst="rect">
            <a:avLst/>
          </a:prstGeom>
          <a:noFill/>
        </p:spPr>
        <p:txBody>
          <a:bodyPr wrap="square">
            <a:spAutoFit/>
          </a:bodyPr>
          <a:lstStyle/>
          <a:p>
            <a:pPr algn="ctr"/>
            <a:r>
              <a:rPr sz="1200" b="1">
                <a:solidFill>
                  <a:srgbClr val="F1F5F9"/>
                </a:solidFill>
              </a:rPr>
              <a:t>summarize_articles(articles)</a:t>
            </a:r>
          </a:p>
        </p:txBody>
      </p:sp>
      <p:sp>
        <p:nvSpPr>
          <p:cNvPr id="14" name="Rectangle 13"/>
          <p:cNvSpPr/>
          <p:nvPr/>
        </p:nvSpPr>
        <p:spPr>
          <a:xfrm>
            <a:off x="3931920" y="2999232"/>
            <a:ext cx="7955279" cy="1600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069080" y="3108960"/>
            <a:ext cx="7726679" cy="292608"/>
          </a:xfrm>
          <a:prstGeom prst="rect">
            <a:avLst/>
          </a:prstGeom>
          <a:noFill/>
        </p:spPr>
        <p:txBody>
          <a:bodyPr wrap="square">
            <a:spAutoFit/>
          </a:bodyPr>
          <a:lstStyle/>
          <a:p>
            <a:pPr algn="l"/>
            <a:r>
              <a:rPr sz="1000" b="0">
                <a:solidFill>
                  <a:srgbClr val="F1F5F9"/>
                </a:solidFill>
              </a:rPr>
              <a:t>▸  Iterates over the article list from get_news_articles()</a:t>
            </a:r>
          </a:p>
        </p:txBody>
      </p:sp>
      <p:sp>
        <p:nvSpPr>
          <p:cNvPr id="16" name="TextBox 15"/>
          <p:cNvSpPr txBox="1"/>
          <p:nvPr/>
        </p:nvSpPr>
        <p:spPr>
          <a:xfrm>
            <a:off x="4069080" y="3456432"/>
            <a:ext cx="7726679" cy="292608"/>
          </a:xfrm>
          <a:prstGeom prst="rect">
            <a:avLst/>
          </a:prstGeom>
          <a:noFill/>
        </p:spPr>
        <p:txBody>
          <a:bodyPr wrap="square">
            <a:spAutoFit/>
          </a:bodyPr>
          <a:lstStyle/>
          <a:p>
            <a:pPr algn="l"/>
            <a:r>
              <a:rPr sz="1000" b="0">
                <a:solidFill>
                  <a:srgbClr val="F1F5F9"/>
                </a:solidFill>
              </a:rPr>
              <a:t>▸  Extracts article['description'] field from each article</a:t>
            </a:r>
          </a:p>
        </p:txBody>
      </p:sp>
      <p:sp>
        <p:nvSpPr>
          <p:cNvPr id="17" name="TextBox 16"/>
          <p:cNvSpPr txBox="1"/>
          <p:nvPr/>
        </p:nvSpPr>
        <p:spPr>
          <a:xfrm>
            <a:off x="4069080" y="3803904"/>
            <a:ext cx="7726679" cy="292608"/>
          </a:xfrm>
          <a:prstGeom prst="rect">
            <a:avLst/>
          </a:prstGeom>
          <a:noFill/>
        </p:spPr>
        <p:txBody>
          <a:bodyPr wrap="square">
            <a:spAutoFit/>
          </a:bodyPr>
          <a:lstStyle/>
          <a:p>
            <a:pPr algn="l"/>
            <a:r>
              <a:rPr sz="1000" b="0">
                <a:solidFill>
                  <a:srgbClr val="F1F5F9"/>
                </a:solidFill>
              </a:rPr>
              <a:t>▸  Filters out articles where description is None or empty</a:t>
            </a:r>
          </a:p>
        </p:txBody>
      </p:sp>
      <p:sp>
        <p:nvSpPr>
          <p:cNvPr id="18" name="TextBox 17"/>
          <p:cNvSpPr txBox="1"/>
          <p:nvPr/>
        </p:nvSpPr>
        <p:spPr>
          <a:xfrm>
            <a:off x="4069080" y="4151376"/>
            <a:ext cx="7726679" cy="292608"/>
          </a:xfrm>
          <a:prstGeom prst="rect">
            <a:avLst/>
          </a:prstGeom>
          <a:noFill/>
        </p:spPr>
        <p:txBody>
          <a:bodyPr wrap="square">
            <a:spAutoFit/>
          </a:bodyPr>
          <a:lstStyle/>
          <a:p>
            <a:pPr algn="l"/>
            <a:r>
              <a:rPr sz="1000" b="0">
                <a:solidFill>
                  <a:srgbClr val="F1F5F9"/>
                </a:solidFill>
              </a:rPr>
              <a:t>▸  Returns all descriptions joined as a single string for the LLM</a:t>
            </a:r>
          </a:p>
        </p:txBody>
      </p:sp>
      <p:sp>
        <p:nvSpPr>
          <p:cNvPr id="19" name="Rectangle 18"/>
          <p:cNvSpPr/>
          <p:nvPr/>
        </p:nvSpPr>
        <p:spPr>
          <a:xfrm>
            <a:off x="320040" y="4809744"/>
            <a:ext cx="3474720" cy="16002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11480" y="5376672"/>
            <a:ext cx="3291840" cy="475488"/>
          </a:xfrm>
          <a:prstGeom prst="rect">
            <a:avLst/>
          </a:prstGeom>
          <a:noFill/>
        </p:spPr>
        <p:txBody>
          <a:bodyPr wrap="square">
            <a:spAutoFit/>
          </a:bodyPr>
          <a:lstStyle/>
          <a:p>
            <a:pPr algn="ctr"/>
            <a:r>
              <a:rPr sz="1200" b="1">
                <a:solidFill>
                  <a:srgbClr val="F1F5F9"/>
                </a:solidFill>
              </a:rPr>
              <a:t>get_summary(query)</a:t>
            </a:r>
          </a:p>
        </p:txBody>
      </p:sp>
      <p:sp>
        <p:nvSpPr>
          <p:cNvPr id="21" name="Rectangle 20"/>
          <p:cNvSpPr/>
          <p:nvPr/>
        </p:nvSpPr>
        <p:spPr>
          <a:xfrm>
            <a:off x="3931920" y="4809744"/>
            <a:ext cx="7955279" cy="1600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069080" y="4919472"/>
            <a:ext cx="7726679" cy="292608"/>
          </a:xfrm>
          <a:prstGeom prst="rect">
            <a:avLst/>
          </a:prstGeom>
          <a:noFill/>
        </p:spPr>
        <p:txBody>
          <a:bodyPr wrap="square">
            <a:spAutoFit/>
          </a:bodyPr>
          <a:lstStyle/>
          <a:p>
            <a:pPr algn="l"/>
            <a:r>
              <a:rPr sz="1000" b="0">
                <a:solidFill>
                  <a:srgbClr val="F1F5F9"/>
                </a:solidFill>
              </a:rPr>
              <a:t>▸  Single entry point that orchestrates the full NewsAPI pipeline</a:t>
            </a:r>
          </a:p>
        </p:txBody>
      </p:sp>
      <p:sp>
        <p:nvSpPr>
          <p:cNvPr id="23" name="TextBox 22"/>
          <p:cNvSpPr txBox="1"/>
          <p:nvPr/>
        </p:nvSpPr>
        <p:spPr>
          <a:xfrm>
            <a:off x="4069080" y="5266944"/>
            <a:ext cx="7726679" cy="292608"/>
          </a:xfrm>
          <a:prstGeom prst="rect">
            <a:avLst/>
          </a:prstGeom>
          <a:noFill/>
        </p:spPr>
        <p:txBody>
          <a:bodyPr wrap="square">
            <a:spAutoFit/>
          </a:bodyPr>
          <a:lstStyle/>
          <a:p>
            <a:pPr algn="l"/>
            <a:r>
              <a:rPr sz="1000" b="0">
                <a:solidFill>
                  <a:srgbClr val="F1F5F9"/>
                </a:solidFill>
              </a:rPr>
              <a:t>▸  Calls get_news_articles(query) → calls summarize_articles()</a:t>
            </a:r>
          </a:p>
        </p:txBody>
      </p:sp>
      <p:sp>
        <p:nvSpPr>
          <p:cNvPr id="24" name="TextBox 23"/>
          <p:cNvSpPr txBox="1"/>
          <p:nvPr/>
        </p:nvSpPr>
        <p:spPr>
          <a:xfrm>
            <a:off x="4069080" y="5614416"/>
            <a:ext cx="7726679" cy="292608"/>
          </a:xfrm>
          <a:prstGeom prst="rect">
            <a:avLst/>
          </a:prstGeom>
          <a:noFill/>
        </p:spPr>
        <p:txBody>
          <a:bodyPr wrap="square">
            <a:spAutoFit/>
          </a:bodyPr>
          <a:lstStyle/>
          <a:p>
            <a:pPr algn="l"/>
            <a:r>
              <a:rPr sz="1000" b="0">
                <a:solidFill>
                  <a:srgbClr val="F1F5F9"/>
                </a:solidFill>
              </a:rPr>
              <a:t>▸  Returns (None, error_msg) if no articles found for query</a:t>
            </a:r>
          </a:p>
        </p:txBody>
      </p:sp>
      <p:sp>
        <p:nvSpPr>
          <p:cNvPr id="25" name="TextBox 24"/>
          <p:cNvSpPr txBox="1"/>
          <p:nvPr/>
        </p:nvSpPr>
        <p:spPr>
          <a:xfrm>
            <a:off x="4069080" y="5961888"/>
            <a:ext cx="7726679" cy="292608"/>
          </a:xfrm>
          <a:prstGeom prst="rect">
            <a:avLst/>
          </a:prstGeom>
          <a:noFill/>
        </p:spPr>
        <p:txBody>
          <a:bodyPr wrap="square">
            <a:spAutoFit/>
          </a:bodyPr>
          <a:lstStyle/>
          <a:p>
            <a:pPr algn="l"/>
            <a:r>
              <a:rPr sz="1000" b="0">
                <a:solidFill>
                  <a:srgbClr val="F1F5F9"/>
                </a:solidFill>
              </a:rPr>
              <a:t>▸  Returns (articles_list, summaries_string) on success</a:t>
            </a:r>
          </a:p>
        </p:txBody>
      </p:sp>
      <p:sp>
        <p:nvSpPr>
          <p:cNvPr id="26" name="Rectangle 25"/>
          <p:cNvSpPr/>
          <p:nvPr/>
        </p:nvSpPr>
        <p:spPr>
          <a:xfrm>
            <a:off x="320040" y="6446520"/>
            <a:ext cx="11521440" cy="347472"/>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7200" y="6492240"/>
            <a:ext cx="11155680" cy="256032"/>
          </a:xfrm>
          <a:prstGeom prst="rect">
            <a:avLst/>
          </a:prstGeom>
          <a:noFill/>
        </p:spPr>
        <p:txBody>
          <a:bodyPr wrap="square">
            <a:spAutoFit/>
          </a:bodyPr>
          <a:lstStyle/>
          <a:p>
            <a:pPr algn="l"/>
            <a:r>
              <a:rPr sz="1000" b="0">
                <a:solidFill>
                  <a:srgbClr val="F59E0B"/>
                </a:solidFill>
              </a:rPr>
              <a:t>Design principle: get_summary() is the single entry point for app.py — it abstracts the full fetch+extract pipeline.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82296"/>
            <a:ext cx="11521440" cy="548640"/>
          </a:xfrm>
          <a:prstGeom prst="rect">
            <a:avLst/>
          </a:prstGeom>
          <a:noFill/>
        </p:spPr>
        <p:txBody>
          <a:bodyPr wrap="square">
            <a:spAutoFit/>
          </a:bodyPr>
          <a:lstStyle/>
          <a:p>
            <a:pPr algn="l"/>
            <a:r>
              <a:rPr sz="2600" b="1">
                <a:solidFill>
                  <a:srgbClr val="F1F5F9"/>
                </a:solidFill>
              </a:rPr>
              <a:t>Phase 3 &amp; 4 — Streamlit Web Interface</a:t>
            </a:r>
          </a:p>
        </p:txBody>
      </p:sp>
      <p:sp>
        <p:nvSpPr>
          <p:cNvPr id="4" name="TextBox 3"/>
          <p:cNvSpPr txBox="1"/>
          <p:nvPr/>
        </p:nvSpPr>
        <p:spPr>
          <a:xfrm>
            <a:off x="274320" y="658368"/>
            <a:ext cx="11521440" cy="347472"/>
          </a:xfrm>
          <a:prstGeom prst="rect">
            <a:avLst/>
          </a:prstGeom>
          <a:noFill/>
        </p:spPr>
        <p:txBody>
          <a:bodyPr wrap="square">
            <a:spAutoFit/>
          </a:bodyPr>
          <a:lstStyle/>
          <a:p>
            <a:pPr algn="l"/>
            <a:r>
              <a:rPr sz="1100" b="0">
                <a:solidFill>
                  <a:srgbClr val="94A3B8"/>
                </a:solidFill>
              </a:rPr>
              <a:t>app.py: UI components, enhanced integration, and execution flow</a:t>
            </a:r>
          </a:p>
        </p:txBody>
      </p:sp>
      <p:sp>
        <p:nvSpPr>
          <p:cNvPr id="5" name="Rectangle 4"/>
          <p:cNvSpPr/>
          <p:nvPr/>
        </p:nvSpPr>
        <p:spPr>
          <a:xfrm>
            <a:off x="320040" y="1188720"/>
            <a:ext cx="5486400" cy="52120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280160"/>
            <a:ext cx="5212080" cy="292608"/>
          </a:xfrm>
          <a:prstGeom prst="rect">
            <a:avLst/>
          </a:prstGeom>
          <a:noFill/>
        </p:spPr>
        <p:txBody>
          <a:bodyPr wrap="square">
            <a:spAutoFit/>
          </a:bodyPr>
          <a:lstStyle/>
          <a:p>
            <a:pPr algn="l"/>
            <a:r>
              <a:rPr sz="1100" b="1">
                <a:solidFill>
                  <a:srgbClr val="6366F1"/>
                </a:solidFill>
              </a:rPr>
              <a:t>UI Components (app.py)</a:t>
            </a:r>
          </a:p>
        </p:txBody>
      </p:sp>
      <p:sp>
        <p:nvSpPr>
          <p:cNvPr id="7" name="Rectangle 6"/>
          <p:cNvSpPr/>
          <p:nvPr/>
        </p:nvSpPr>
        <p:spPr>
          <a:xfrm>
            <a:off x="411480" y="1664208"/>
            <a:ext cx="2286000" cy="374904"/>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737360"/>
            <a:ext cx="2194560" cy="237744"/>
          </a:xfrm>
          <a:prstGeom prst="rect">
            <a:avLst/>
          </a:prstGeom>
          <a:noFill/>
        </p:spPr>
        <p:txBody>
          <a:bodyPr wrap="square">
            <a:spAutoFit/>
          </a:bodyPr>
          <a:lstStyle/>
          <a:p>
            <a:pPr algn="l"/>
            <a:r>
              <a:rPr sz="800" b="1">
                <a:solidFill>
                  <a:srgbClr val="F1F5F9"/>
                </a:solidFill>
              </a:rPr>
              <a:t>st.set_page_config()</a:t>
            </a:r>
          </a:p>
        </p:txBody>
      </p:sp>
      <p:sp>
        <p:nvSpPr>
          <p:cNvPr id="9" name="TextBox 8"/>
          <p:cNvSpPr txBox="1"/>
          <p:nvPr/>
        </p:nvSpPr>
        <p:spPr>
          <a:xfrm>
            <a:off x="2788920" y="1737360"/>
            <a:ext cx="2834640" cy="237744"/>
          </a:xfrm>
          <a:prstGeom prst="rect">
            <a:avLst/>
          </a:prstGeom>
          <a:noFill/>
        </p:spPr>
        <p:txBody>
          <a:bodyPr wrap="square">
            <a:spAutoFit/>
          </a:bodyPr>
          <a:lstStyle/>
          <a:p>
            <a:pPr algn="l"/>
            <a:r>
              <a:rPr sz="900" b="0">
                <a:solidFill>
                  <a:srgbClr val="94A3B8"/>
                </a:solidFill>
              </a:rPr>
              <a:t>Page title, newspaper icon, wide layout</a:t>
            </a:r>
          </a:p>
        </p:txBody>
      </p:sp>
      <p:sp>
        <p:nvSpPr>
          <p:cNvPr id="10" name="Rectangle 9"/>
          <p:cNvSpPr/>
          <p:nvPr/>
        </p:nvSpPr>
        <p:spPr>
          <a:xfrm>
            <a:off x="411480" y="2112264"/>
            <a:ext cx="2286000" cy="374904"/>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2185416"/>
            <a:ext cx="2194560" cy="237744"/>
          </a:xfrm>
          <a:prstGeom prst="rect">
            <a:avLst/>
          </a:prstGeom>
          <a:noFill/>
        </p:spPr>
        <p:txBody>
          <a:bodyPr wrap="square">
            <a:spAutoFit/>
          </a:bodyPr>
          <a:lstStyle/>
          <a:p>
            <a:pPr algn="l"/>
            <a:r>
              <a:rPr sz="800" b="1">
                <a:solidFill>
                  <a:srgbClr val="F1F5F9"/>
                </a:solidFill>
              </a:rPr>
              <a:t>st.title()</a:t>
            </a:r>
          </a:p>
        </p:txBody>
      </p:sp>
      <p:sp>
        <p:nvSpPr>
          <p:cNvPr id="12" name="TextBox 11"/>
          <p:cNvSpPr txBox="1"/>
          <p:nvPr/>
        </p:nvSpPr>
        <p:spPr>
          <a:xfrm>
            <a:off x="2788920" y="2185416"/>
            <a:ext cx="2834640" cy="237744"/>
          </a:xfrm>
          <a:prstGeom prst="rect">
            <a:avLst/>
          </a:prstGeom>
          <a:noFill/>
        </p:spPr>
        <p:txBody>
          <a:bodyPr wrap="square">
            <a:spAutoFit/>
          </a:bodyPr>
          <a:lstStyle/>
          <a:p>
            <a:pPr algn="l"/>
            <a:r>
              <a:rPr sz="900" b="0">
                <a:solidFill>
                  <a:srgbClr val="94A3B8"/>
                </a:solidFill>
              </a:rPr>
              <a:t>Displays the app heading</a:t>
            </a:r>
          </a:p>
        </p:txBody>
      </p:sp>
      <p:sp>
        <p:nvSpPr>
          <p:cNvPr id="13" name="Rectangle 12"/>
          <p:cNvSpPr/>
          <p:nvPr/>
        </p:nvSpPr>
        <p:spPr>
          <a:xfrm>
            <a:off x="411480" y="2560320"/>
            <a:ext cx="2286000" cy="374904"/>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2633472"/>
            <a:ext cx="2194560" cy="237744"/>
          </a:xfrm>
          <a:prstGeom prst="rect">
            <a:avLst/>
          </a:prstGeom>
          <a:noFill/>
        </p:spPr>
        <p:txBody>
          <a:bodyPr wrap="square">
            <a:spAutoFit/>
          </a:bodyPr>
          <a:lstStyle/>
          <a:p>
            <a:pPr algn="l"/>
            <a:r>
              <a:rPr sz="800" b="1">
                <a:solidFill>
                  <a:srgbClr val="F1F5F9"/>
                </a:solidFill>
              </a:rPr>
              <a:t>st.text_input()</a:t>
            </a:r>
          </a:p>
        </p:txBody>
      </p:sp>
      <p:sp>
        <p:nvSpPr>
          <p:cNvPr id="15" name="TextBox 14"/>
          <p:cNvSpPr txBox="1"/>
          <p:nvPr/>
        </p:nvSpPr>
        <p:spPr>
          <a:xfrm>
            <a:off x="2788920" y="2633472"/>
            <a:ext cx="2834640" cy="237744"/>
          </a:xfrm>
          <a:prstGeom prst="rect">
            <a:avLst/>
          </a:prstGeom>
          <a:noFill/>
        </p:spPr>
        <p:txBody>
          <a:bodyPr wrap="square">
            <a:spAutoFit/>
          </a:bodyPr>
          <a:lstStyle/>
          <a:p>
            <a:pPr algn="l"/>
            <a:r>
              <a:rPr sz="900" b="0">
                <a:solidFill>
                  <a:srgbClr val="94A3B8"/>
                </a:solidFill>
              </a:rPr>
              <a:t>Query box with placeholder text</a:t>
            </a:r>
          </a:p>
        </p:txBody>
      </p:sp>
      <p:sp>
        <p:nvSpPr>
          <p:cNvPr id="16" name="Rectangle 15"/>
          <p:cNvSpPr/>
          <p:nvPr/>
        </p:nvSpPr>
        <p:spPr>
          <a:xfrm>
            <a:off x="411480" y="3008376"/>
            <a:ext cx="2286000" cy="374904"/>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3081528"/>
            <a:ext cx="2194560" cy="237744"/>
          </a:xfrm>
          <a:prstGeom prst="rect">
            <a:avLst/>
          </a:prstGeom>
          <a:noFill/>
        </p:spPr>
        <p:txBody>
          <a:bodyPr wrap="square">
            <a:spAutoFit/>
          </a:bodyPr>
          <a:lstStyle/>
          <a:p>
            <a:pPr algn="l"/>
            <a:r>
              <a:rPr sz="800" b="1">
                <a:solidFill>
                  <a:srgbClr val="F1F5F9"/>
                </a:solidFill>
              </a:rPr>
              <a:t>st.button(type='primary')</a:t>
            </a:r>
          </a:p>
        </p:txBody>
      </p:sp>
      <p:sp>
        <p:nvSpPr>
          <p:cNvPr id="18" name="TextBox 17"/>
          <p:cNvSpPr txBox="1"/>
          <p:nvPr/>
        </p:nvSpPr>
        <p:spPr>
          <a:xfrm>
            <a:off x="2788920" y="3081528"/>
            <a:ext cx="2834640" cy="237744"/>
          </a:xfrm>
          <a:prstGeom prst="rect">
            <a:avLst/>
          </a:prstGeom>
          <a:noFill/>
        </p:spPr>
        <p:txBody>
          <a:bodyPr wrap="square">
            <a:spAutoFit/>
          </a:bodyPr>
          <a:lstStyle/>
          <a:p>
            <a:pPr algn="l"/>
            <a:r>
              <a:rPr sz="900" b="0">
                <a:solidFill>
                  <a:srgbClr val="94A3B8"/>
                </a:solidFill>
              </a:rPr>
              <a:t>Primary 'Get News Summary' trigger</a:t>
            </a:r>
          </a:p>
        </p:txBody>
      </p:sp>
      <p:sp>
        <p:nvSpPr>
          <p:cNvPr id="19" name="Rectangle 18"/>
          <p:cNvSpPr/>
          <p:nvPr/>
        </p:nvSpPr>
        <p:spPr>
          <a:xfrm>
            <a:off x="411480" y="3456432"/>
            <a:ext cx="2286000" cy="374904"/>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3529584"/>
            <a:ext cx="2194560" cy="237744"/>
          </a:xfrm>
          <a:prstGeom prst="rect">
            <a:avLst/>
          </a:prstGeom>
          <a:noFill/>
        </p:spPr>
        <p:txBody>
          <a:bodyPr wrap="square">
            <a:spAutoFit/>
          </a:bodyPr>
          <a:lstStyle/>
          <a:p>
            <a:pPr algn="l"/>
            <a:r>
              <a:rPr sz="800" b="1">
                <a:solidFill>
                  <a:srgbClr val="F1F5F9"/>
                </a:solidFill>
              </a:rPr>
              <a:t>st.spinner()</a:t>
            </a:r>
          </a:p>
        </p:txBody>
      </p:sp>
      <p:sp>
        <p:nvSpPr>
          <p:cNvPr id="21" name="TextBox 20"/>
          <p:cNvSpPr txBox="1"/>
          <p:nvPr/>
        </p:nvSpPr>
        <p:spPr>
          <a:xfrm>
            <a:off x="2788920" y="3529584"/>
            <a:ext cx="2834640" cy="237744"/>
          </a:xfrm>
          <a:prstGeom prst="rect">
            <a:avLst/>
          </a:prstGeom>
          <a:noFill/>
        </p:spPr>
        <p:txBody>
          <a:bodyPr wrap="square">
            <a:spAutoFit/>
          </a:bodyPr>
          <a:lstStyle/>
          <a:p>
            <a:pPr algn="l"/>
            <a:r>
              <a:rPr sz="900" b="0">
                <a:solidFill>
                  <a:srgbClr val="94A3B8"/>
                </a:solidFill>
              </a:rPr>
              <a:t>Loading indicator during API + LLM calls</a:t>
            </a:r>
          </a:p>
        </p:txBody>
      </p:sp>
      <p:sp>
        <p:nvSpPr>
          <p:cNvPr id="22" name="Rectangle 21"/>
          <p:cNvSpPr/>
          <p:nvPr/>
        </p:nvSpPr>
        <p:spPr>
          <a:xfrm>
            <a:off x="411480" y="3904488"/>
            <a:ext cx="2286000" cy="374904"/>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3977640"/>
            <a:ext cx="2194560" cy="237744"/>
          </a:xfrm>
          <a:prstGeom prst="rect">
            <a:avLst/>
          </a:prstGeom>
          <a:noFill/>
        </p:spPr>
        <p:txBody>
          <a:bodyPr wrap="square">
            <a:spAutoFit/>
          </a:bodyPr>
          <a:lstStyle/>
          <a:p>
            <a:pPr algn="l"/>
            <a:r>
              <a:rPr sz="800" b="1">
                <a:solidFill>
                  <a:srgbClr val="F1F5F9"/>
                </a:solidFill>
              </a:rPr>
              <a:t>st.subheader()</a:t>
            </a:r>
          </a:p>
        </p:txBody>
      </p:sp>
      <p:sp>
        <p:nvSpPr>
          <p:cNvPr id="24" name="TextBox 23"/>
          <p:cNvSpPr txBox="1"/>
          <p:nvPr/>
        </p:nvSpPr>
        <p:spPr>
          <a:xfrm>
            <a:off x="2788920" y="3977640"/>
            <a:ext cx="2834640" cy="237744"/>
          </a:xfrm>
          <a:prstGeom prst="rect">
            <a:avLst/>
          </a:prstGeom>
          <a:noFill/>
        </p:spPr>
        <p:txBody>
          <a:bodyPr wrap="square">
            <a:spAutoFit/>
          </a:bodyPr>
          <a:lstStyle/>
          <a:p>
            <a:pPr algn="l"/>
            <a:r>
              <a:rPr sz="900" b="0">
                <a:solidFill>
                  <a:srgbClr val="94A3B8"/>
                </a:solidFill>
              </a:rPr>
              <a:t>Section headers: Summary / Source Articles</a:t>
            </a:r>
          </a:p>
        </p:txBody>
      </p:sp>
      <p:sp>
        <p:nvSpPr>
          <p:cNvPr id="25" name="Rectangle 24"/>
          <p:cNvSpPr/>
          <p:nvPr/>
        </p:nvSpPr>
        <p:spPr>
          <a:xfrm>
            <a:off x="411480" y="4352544"/>
            <a:ext cx="2286000" cy="374904"/>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7200" y="4425696"/>
            <a:ext cx="2194560" cy="237744"/>
          </a:xfrm>
          <a:prstGeom prst="rect">
            <a:avLst/>
          </a:prstGeom>
          <a:noFill/>
        </p:spPr>
        <p:txBody>
          <a:bodyPr wrap="square">
            <a:spAutoFit/>
          </a:bodyPr>
          <a:lstStyle/>
          <a:p>
            <a:pPr algn="l"/>
            <a:r>
              <a:rPr sz="800" b="1">
                <a:solidFill>
                  <a:srgbClr val="F1F5F9"/>
                </a:solidFill>
              </a:rPr>
              <a:t>st.write(response)</a:t>
            </a:r>
          </a:p>
        </p:txBody>
      </p:sp>
      <p:sp>
        <p:nvSpPr>
          <p:cNvPr id="27" name="TextBox 26"/>
          <p:cNvSpPr txBox="1"/>
          <p:nvPr/>
        </p:nvSpPr>
        <p:spPr>
          <a:xfrm>
            <a:off x="2788920" y="4425696"/>
            <a:ext cx="2834640" cy="237744"/>
          </a:xfrm>
          <a:prstGeom prst="rect">
            <a:avLst/>
          </a:prstGeom>
          <a:noFill/>
        </p:spPr>
        <p:txBody>
          <a:bodyPr wrap="square">
            <a:spAutoFit/>
          </a:bodyPr>
          <a:lstStyle/>
          <a:p>
            <a:pPr algn="l"/>
            <a:r>
              <a:rPr sz="900" b="0">
                <a:solidFill>
                  <a:srgbClr val="94A3B8"/>
                </a:solidFill>
              </a:rPr>
              <a:t>Renders AI-generated summary text</a:t>
            </a:r>
          </a:p>
        </p:txBody>
      </p:sp>
      <p:sp>
        <p:nvSpPr>
          <p:cNvPr id="28" name="Rectangle 27"/>
          <p:cNvSpPr/>
          <p:nvPr/>
        </p:nvSpPr>
        <p:spPr>
          <a:xfrm>
            <a:off x="411480" y="4800600"/>
            <a:ext cx="2286000" cy="374904"/>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7200" y="4873752"/>
            <a:ext cx="2194560" cy="237744"/>
          </a:xfrm>
          <a:prstGeom prst="rect">
            <a:avLst/>
          </a:prstGeom>
          <a:noFill/>
        </p:spPr>
        <p:txBody>
          <a:bodyPr wrap="square">
            <a:spAutoFit/>
          </a:bodyPr>
          <a:lstStyle/>
          <a:p>
            <a:pPr algn="l"/>
            <a:r>
              <a:rPr sz="800" b="1">
                <a:solidFill>
                  <a:srgbClr val="F1F5F9"/>
                </a:solidFill>
              </a:rPr>
              <a:t>st.expander()</a:t>
            </a:r>
          </a:p>
        </p:txBody>
      </p:sp>
      <p:sp>
        <p:nvSpPr>
          <p:cNvPr id="30" name="TextBox 29"/>
          <p:cNvSpPr txBox="1"/>
          <p:nvPr/>
        </p:nvSpPr>
        <p:spPr>
          <a:xfrm>
            <a:off x="2788920" y="4873752"/>
            <a:ext cx="2834640" cy="237744"/>
          </a:xfrm>
          <a:prstGeom prst="rect">
            <a:avLst/>
          </a:prstGeom>
          <a:noFill/>
        </p:spPr>
        <p:txBody>
          <a:bodyPr wrap="square">
            <a:spAutoFit/>
          </a:bodyPr>
          <a:lstStyle/>
          <a:p>
            <a:pPr algn="l"/>
            <a:r>
              <a:rPr sz="900" b="0">
                <a:solidFill>
                  <a:srgbClr val="94A3B8"/>
                </a:solidFill>
              </a:rPr>
              <a:t>Collapsible card per source article</a:t>
            </a:r>
          </a:p>
        </p:txBody>
      </p:sp>
      <p:sp>
        <p:nvSpPr>
          <p:cNvPr id="31" name="Rectangle 30"/>
          <p:cNvSpPr/>
          <p:nvPr/>
        </p:nvSpPr>
        <p:spPr>
          <a:xfrm>
            <a:off x="411480" y="5248656"/>
            <a:ext cx="2286000" cy="374904"/>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57200" y="5321808"/>
            <a:ext cx="2194560" cy="237744"/>
          </a:xfrm>
          <a:prstGeom prst="rect">
            <a:avLst/>
          </a:prstGeom>
          <a:noFill/>
        </p:spPr>
        <p:txBody>
          <a:bodyPr wrap="square">
            <a:spAutoFit/>
          </a:bodyPr>
          <a:lstStyle/>
          <a:p>
            <a:pPr algn="l"/>
            <a:r>
              <a:rPr sz="800" b="1">
                <a:solidFill>
                  <a:srgbClr val="F1F5F9"/>
                </a:solidFill>
              </a:rPr>
              <a:t>st.markdown(url_link)</a:t>
            </a:r>
          </a:p>
        </p:txBody>
      </p:sp>
      <p:sp>
        <p:nvSpPr>
          <p:cNvPr id="33" name="TextBox 32"/>
          <p:cNvSpPr txBox="1"/>
          <p:nvPr/>
        </p:nvSpPr>
        <p:spPr>
          <a:xfrm>
            <a:off x="2788920" y="5321808"/>
            <a:ext cx="2834640" cy="237744"/>
          </a:xfrm>
          <a:prstGeom prst="rect">
            <a:avLst/>
          </a:prstGeom>
          <a:noFill/>
        </p:spPr>
        <p:txBody>
          <a:bodyPr wrap="square">
            <a:spAutoFit/>
          </a:bodyPr>
          <a:lstStyle/>
          <a:p>
            <a:pPr algn="l"/>
            <a:r>
              <a:rPr sz="900" b="0">
                <a:solidFill>
                  <a:srgbClr val="94A3B8"/>
                </a:solidFill>
              </a:rPr>
              <a:t>Clickable 'Read full article' link</a:t>
            </a:r>
          </a:p>
        </p:txBody>
      </p:sp>
      <p:sp>
        <p:nvSpPr>
          <p:cNvPr id="34" name="Rectangle 33"/>
          <p:cNvSpPr/>
          <p:nvPr/>
        </p:nvSpPr>
        <p:spPr>
          <a:xfrm>
            <a:off x="411480" y="5696712"/>
            <a:ext cx="2286000" cy="374904"/>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57200" y="5769864"/>
            <a:ext cx="2194560" cy="237744"/>
          </a:xfrm>
          <a:prstGeom prst="rect">
            <a:avLst/>
          </a:prstGeom>
          <a:noFill/>
        </p:spPr>
        <p:txBody>
          <a:bodyPr wrap="square">
            <a:spAutoFit/>
          </a:bodyPr>
          <a:lstStyle/>
          <a:p>
            <a:pPr algn="l"/>
            <a:r>
              <a:rPr sz="800" b="1">
                <a:solidFill>
                  <a:srgbClr val="F1F5F9"/>
                </a:solidFill>
              </a:rPr>
              <a:t>st.warning()</a:t>
            </a:r>
          </a:p>
        </p:txBody>
      </p:sp>
      <p:sp>
        <p:nvSpPr>
          <p:cNvPr id="36" name="TextBox 35"/>
          <p:cNvSpPr txBox="1"/>
          <p:nvPr/>
        </p:nvSpPr>
        <p:spPr>
          <a:xfrm>
            <a:off x="2788920" y="5769864"/>
            <a:ext cx="2834640" cy="237744"/>
          </a:xfrm>
          <a:prstGeom prst="rect">
            <a:avLst/>
          </a:prstGeom>
          <a:noFill/>
        </p:spPr>
        <p:txBody>
          <a:bodyPr wrap="square">
            <a:spAutoFit/>
          </a:bodyPr>
          <a:lstStyle/>
          <a:p>
            <a:pPr algn="l"/>
            <a:r>
              <a:rPr sz="900" b="0">
                <a:solidFill>
                  <a:srgbClr val="94A3B8"/>
                </a:solidFill>
              </a:rPr>
              <a:t>Shows error if query empty / no results</a:t>
            </a:r>
          </a:p>
        </p:txBody>
      </p:sp>
      <p:sp>
        <p:nvSpPr>
          <p:cNvPr id="37" name="Rectangle 36"/>
          <p:cNvSpPr/>
          <p:nvPr/>
        </p:nvSpPr>
        <p:spPr>
          <a:xfrm>
            <a:off x="6035040" y="1188720"/>
            <a:ext cx="5852160" cy="52120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172200" y="1280160"/>
            <a:ext cx="5577840" cy="292608"/>
          </a:xfrm>
          <a:prstGeom prst="rect">
            <a:avLst/>
          </a:prstGeom>
          <a:noFill/>
        </p:spPr>
        <p:txBody>
          <a:bodyPr wrap="square">
            <a:spAutoFit/>
          </a:bodyPr>
          <a:lstStyle/>
          <a:p>
            <a:pPr algn="l"/>
            <a:r>
              <a:rPr sz="1100" b="1">
                <a:solidFill>
                  <a:srgbClr val="10B981"/>
                </a:solidFill>
              </a:rPr>
              <a:t>App Execution Flow</a:t>
            </a:r>
          </a:p>
        </p:txBody>
      </p:sp>
      <p:sp>
        <p:nvSpPr>
          <p:cNvPr id="39" name="Rectangle 38"/>
          <p:cNvSpPr/>
          <p:nvPr/>
        </p:nvSpPr>
        <p:spPr>
          <a:xfrm>
            <a:off x="6126480" y="1664208"/>
            <a:ext cx="457200" cy="47548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126480" y="1792224"/>
            <a:ext cx="457200" cy="237744"/>
          </a:xfrm>
          <a:prstGeom prst="rect">
            <a:avLst/>
          </a:prstGeom>
          <a:noFill/>
        </p:spPr>
        <p:txBody>
          <a:bodyPr wrap="square">
            <a:spAutoFit/>
          </a:bodyPr>
          <a:lstStyle/>
          <a:p>
            <a:pPr algn="ctr"/>
            <a:r>
              <a:rPr sz="1100" b="1">
                <a:solidFill>
                  <a:srgbClr val="F1F5F9"/>
                </a:solidFill>
              </a:rPr>
              <a:t>1</a:t>
            </a:r>
          </a:p>
        </p:txBody>
      </p:sp>
      <p:sp>
        <p:nvSpPr>
          <p:cNvPr id="41" name="Rectangle 40"/>
          <p:cNvSpPr/>
          <p:nvPr/>
        </p:nvSpPr>
        <p:spPr>
          <a:xfrm>
            <a:off x="6656832" y="1664208"/>
            <a:ext cx="5074920" cy="4754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748272" y="1755648"/>
            <a:ext cx="4892040" cy="292608"/>
          </a:xfrm>
          <a:prstGeom prst="rect">
            <a:avLst/>
          </a:prstGeom>
          <a:noFill/>
        </p:spPr>
        <p:txBody>
          <a:bodyPr wrap="square">
            <a:spAutoFit/>
          </a:bodyPr>
          <a:lstStyle/>
          <a:p>
            <a:pPr algn="l"/>
            <a:r>
              <a:rPr sz="1000" b="0">
                <a:solidFill>
                  <a:srgbClr val="F1F5F9"/>
                </a:solidFill>
              </a:rPr>
              <a:t>User types query and clicks the button</a:t>
            </a:r>
          </a:p>
        </p:txBody>
      </p:sp>
      <p:sp>
        <p:nvSpPr>
          <p:cNvPr id="43" name="Rectangle 42"/>
          <p:cNvSpPr/>
          <p:nvPr/>
        </p:nvSpPr>
        <p:spPr>
          <a:xfrm>
            <a:off x="6126480" y="2249424"/>
            <a:ext cx="457200" cy="4754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126480" y="2377440"/>
            <a:ext cx="457200" cy="237744"/>
          </a:xfrm>
          <a:prstGeom prst="rect">
            <a:avLst/>
          </a:prstGeom>
          <a:noFill/>
        </p:spPr>
        <p:txBody>
          <a:bodyPr wrap="square">
            <a:spAutoFit/>
          </a:bodyPr>
          <a:lstStyle/>
          <a:p>
            <a:pPr algn="ctr"/>
            <a:r>
              <a:rPr sz="1100" b="1">
                <a:solidFill>
                  <a:srgbClr val="F1F5F9"/>
                </a:solidFill>
              </a:rPr>
              <a:t>2</a:t>
            </a:r>
          </a:p>
        </p:txBody>
      </p:sp>
      <p:sp>
        <p:nvSpPr>
          <p:cNvPr id="45" name="Rectangle 44"/>
          <p:cNvSpPr/>
          <p:nvPr/>
        </p:nvSpPr>
        <p:spPr>
          <a:xfrm>
            <a:off x="6656832" y="2249424"/>
            <a:ext cx="5074920" cy="4754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748272" y="2340864"/>
            <a:ext cx="4892040" cy="292608"/>
          </a:xfrm>
          <a:prstGeom prst="rect">
            <a:avLst/>
          </a:prstGeom>
          <a:noFill/>
        </p:spPr>
        <p:txBody>
          <a:bodyPr wrap="square">
            <a:spAutoFit/>
          </a:bodyPr>
          <a:lstStyle/>
          <a:p>
            <a:pPr algn="l"/>
            <a:r>
              <a:rPr sz="1000" b="0">
                <a:solidFill>
                  <a:srgbClr val="F1F5F9"/>
                </a:solidFill>
              </a:rPr>
              <a:t>Validate: if query.strip() else st.warning()</a:t>
            </a:r>
          </a:p>
        </p:txBody>
      </p:sp>
      <p:sp>
        <p:nvSpPr>
          <p:cNvPr id="47" name="Rectangle 46"/>
          <p:cNvSpPr/>
          <p:nvPr/>
        </p:nvSpPr>
        <p:spPr>
          <a:xfrm>
            <a:off x="6126480" y="2834640"/>
            <a:ext cx="457200" cy="47548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126480" y="2962656"/>
            <a:ext cx="457200" cy="237744"/>
          </a:xfrm>
          <a:prstGeom prst="rect">
            <a:avLst/>
          </a:prstGeom>
          <a:noFill/>
        </p:spPr>
        <p:txBody>
          <a:bodyPr wrap="square">
            <a:spAutoFit/>
          </a:bodyPr>
          <a:lstStyle/>
          <a:p>
            <a:pPr algn="ctr"/>
            <a:r>
              <a:rPr sz="1100" b="1">
                <a:solidFill>
                  <a:srgbClr val="F1F5F9"/>
                </a:solidFill>
              </a:rPr>
              <a:t>3</a:t>
            </a:r>
          </a:p>
        </p:txBody>
      </p:sp>
      <p:sp>
        <p:nvSpPr>
          <p:cNvPr id="49" name="Rectangle 48"/>
          <p:cNvSpPr/>
          <p:nvPr/>
        </p:nvSpPr>
        <p:spPr>
          <a:xfrm>
            <a:off x="6656832" y="2834640"/>
            <a:ext cx="5074920" cy="4754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748272" y="2926080"/>
            <a:ext cx="4892040" cy="292608"/>
          </a:xfrm>
          <a:prstGeom prst="rect">
            <a:avLst/>
          </a:prstGeom>
          <a:noFill/>
        </p:spPr>
        <p:txBody>
          <a:bodyPr wrap="square">
            <a:spAutoFit/>
          </a:bodyPr>
          <a:lstStyle/>
          <a:p>
            <a:pPr algn="l"/>
            <a:r>
              <a:rPr sz="1000" b="0">
                <a:solidFill>
                  <a:srgbClr val="F1F5F9"/>
                </a:solidFill>
              </a:rPr>
              <a:t>get_summary(query) → NewsAPI fetch</a:t>
            </a:r>
          </a:p>
        </p:txBody>
      </p:sp>
      <p:sp>
        <p:nvSpPr>
          <p:cNvPr id="51" name="Rectangle 50"/>
          <p:cNvSpPr/>
          <p:nvPr/>
        </p:nvSpPr>
        <p:spPr>
          <a:xfrm>
            <a:off x="6126480" y="3419856"/>
            <a:ext cx="457200" cy="4754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126480" y="3547872"/>
            <a:ext cx="457200" cy="237744"/>
          </a:xfrm>
          <a:prstGeom prst="rect">
            <a:avLst/>
          </a:prstGeom>
          <a:noFill/>
        </p:spPr>
        <p:txBody>
          <a:bodyPr wrap="square">
            <a:spAutoFit/>
          </a:bodyPr>
          <a:lstStyle/>
          <a:p>
            <a:pPr algn="ctr"/>
            <a:r>
              <a:rPr sz="1100" b="1">
                <a:solidFill>
                  <a:srgbClr val="F1F5F9"/>
                </a:solidFill>
              </a:rPr>
              <a:t>4</a:t>
            </a:r>
          </a:p>
        </p:txBody>
      </p:sp>
      <p:sp>
        <p:nvSpPr>
          <p:cNvPr id="53" name="Rectangle 52"/>
          <p:cNvSpPr/>
          <p:nvPr/>
        </p:nvSpPr>
        <p:spPr>
          <a:xfrm>
            <a:off x="6656832" y="3419856"/>
            <a:ext cx="5074920" cy="4754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748272" y="3511296"/>
            <a:ext cx="4892040" cy="292608"/>
          </a:xfrm>
          <a:prstGeom prst="rect">
            <a:avLst/>
          </a:prstGeom>
          <a:noFill/>
        </p:spPr>
        <p:txBody>
          <a:bodyPr wrap="square">
            <a:spAutoFit/>
          </a:bodyPr>
          <a:lstStyle/>
          <a:p>
            <a:pPr algn="l"/>
            <a:r>
              <a:rPr sz="1000" b="0">
                <a:solidFill>
                  <a:srgbClr val="F1F5F9"/>
                </a:solidFill>
              </a:rPr>
              <a:t>If articles is None → st.warning(error)</a:t>
            </a:r>
          </a:p>
        </p:txBody>
      </p:sp>
      <p:sp>
        <p:nvSpPr>
          <p:cNvPr id="55" name="Rectangle 54"/>
          <p:cNvSpPr/>
          <p:nvPr/>
        </p:nvSpPr>
        <p:spPr>
          <a:xfrm>
            <a:off x="6126480" y="4005072"/>
            <a:ext cx="457200" cy="475488"/>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126480" y="4133087"/>
            <a:ext cx="457200" cy="237744"/>
          </a:xfrm>
          <a:prstGeom prst="rect">
            <a:avLst/>
          </a:prstGeom>
          <a:noFill/>
        </p:spPr>
        <p:txBody>
          <a:bodyPr wrap="square">
            <a:spAutoFit/>
          </a:bodyPr>
          <a:lstStyle/>
          <a:p>
            <a:pPr algn="ctr"/>
            <a:r>
              <a:rPr sz="1100" b="1">
                <a:solidFill>
                  <a:srgbClr val="F1F5F9"/>
                </a:solidFill>
              </a:rPr>
              <a:t>5</a:t>
            </a:r>
          </a:p>
        </p:txBody>
      </p:sp>
      <p:sp>
        <p:nvSpPr>
          <p:cNvPr id="57" name="Rectangle 56"/>
          <p:cNvSpPr/>
          <p:nvPr/>
        </p:nvSpPr>
        <p:spPr>
          <a:xfrm>
            <a:off x="6656832" y="4005072"/>
            <a:ext cx="5074920" cy="4754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748272" y="4096511"/>
            <a:ext cx="4892040" cy="292608"/>
          </a:xfrm>
          <a:prstGeom prst="rect">
            <a:avLst/>
          </a:prstGeom>
          <a:noFill/>
        </p:spPr>
        <p:txBody>
          <a:bodyPr wrap="square">
            <a:spAutoFit/>
          </a:bodyPr>
          <a:lstStyle/>
          <a:p>
            <a:pPr algn="l"/>
            <a:r>
              <a:rPr sz="1000" b="0">
                <a:solidFill>
                  <a:srgbClr val="F1F5F9"/>
                </a:solidFill>
              </a:rPr>
              <a:t>chain.invoke() → OpenAI summary</a:t>
            </a:r>
          </a:p>
        </p:txBody>
      </p:sp>
      <p:sp>
        <p:nvSpPr>
          <p:cNvPr id="59" name="Rectangle 58"/>
          <p:cNvSpPr/>
          <p:nvPr/>
        </p:nvSpPr>
        <p:spPr>
          <a:xfrm>
            <a:off x="6126480" y="4590288"/>
            <a:ext cx="457200" cy="475488"/>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126480" y="4718304"/>
            <a:ext cx="457200" cy="237744"/>
          </a:xfrm>
          <a:prstGeom prst="rect">
            <a:avLst/>
          </a:prstGeom>
          <a:noFill/>
        </p:spPr>
        <p:txBody>
          <a:bodyPr wrap="square">
            <a:spAutoFit/>
          </a:bodyPr>
          <a:lstStyle/>
          <a:p>
            <a:pPr algn="ctr"/>
            <a:r>
              <a:rPr sz="1100" b="1">
                <a:solidFill>
                  <a:srgbClr val="F1F5F9"/>
                </a:solidFill>
              </a:rPr>
              <a:t>6</a:t>
            </a:r>
          </a:p>
        </p:txBody>
      </p:sp>
      <p:sp>
        <p:nvSpPr>
          <p:cNvPr id="61" name="Rectangle 60"/>
          <p:cNvSpPr/>
          <p:nvPr/>
        </p:nvSpPr>
        <p:spPr>
          <a:xfrm>
            <a:off x="6656832" y="4590288"/>
            <a:ext cx="5074920" cy="4754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748272" y="4681728"/>
            <a:ext cx="4892040" cy="292608"/>
          </a:xfrm>
          <a:prstGeom prst="rect">
            <a:avLst/>
          </a:prstGeom>
          <a:noFill/>
        </p:spPr>
        <p:txBody>
          <a:bodyPr wrap="square">
            <a:spAutoFit/>
          </a:bodyPr>
          <a:lstStyle/>
          <a:p>
            <a:pPr algn="l"/>
            <a:r>
              <a:rPr sz="1000" b="0">
                <a:solidFill>
                  <a:srgbClr val="F1F5F9"/>
                </a:solidFill>
              </a:rPr>
              <a:t>st.write(response) → display summary</a:t>
            </a:r>
          </a:p>
        </p:txBody>
      </p:sp>
      <p:sp>
        <p:nvSpPr>
          <p:cNvPr id="63" name="Rectangle 62"/>
          <p:cNvSpPr/>
          <p:nvPr/>
        </p:nvSpPr>
        <p:spPr>
          <a:xfrm>
            <a:off x="6126480" y="5175504"/>
            <a:ext cx="457200" cy="4754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6126480" y="5303520"/>
            <a:ext cx="457200" cy="237744"/>
          </a:xfrm>
          <a:prstGeom prst="rect">
            <a:avLst/>
          </a:prstGeom>
          <a:noFill/>
        </p:spPr>
        <p:txBody>
          <a:bodyPr wrap="square">
            <a:spAutoFit/>
          </a:bodyPr>
          <a:lstStyle/>
          <a:p>
            <a:pPr algn="ctr"/>
            <a:r>
              <a:rPr sz="1100" b="1">
                <a:solidFill>
                  <a:srgbClr val="F1F5F9"/>
                </a:solidFill>
              </a:rPr>
              <a:t>7</a:t>
            </a:r>
          </a:p>
        </p:txBody>
      </p:sp>
      <p:sp>
        <p:nvSpPr>
          <p:cNvPr id="65" name="Rectangle 64"/>
          <p:cNvSpPr/>
          <p:nvPr/>
        </p:nvSpPr>
        <p:spPr>
          <a:xfrm>
            <a:off x="6656832" y="5175504"/>
            <a:ext cx="5074920" cy="4754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6748272" y="5266944"/>
            <a:ext cx="4892040" cy="292608"/>
          </a:xfrm>
          <a:prstGeom prst="rect">
            <a:avLst/>
          </a:prstGeom>
          <a:noFill/>
        </p:spPr>
        <p:txBody>
          <a:bodyPr wrap="square">
            <a:spAutoFit/>
          </a:bodyPr>
          <a:lstStyle/>
          <a:p>
            <a:pPr algn="l"/>
            <a:r>
              <a:rPr sz="1000" b="0">
                <a:solidFill>
                  <a:srgbClr val="F1F5F9"/>
                </a:solidFill>
              </a:rPr>
              <a:t>for article in articles: st.expander()</a:t>
            </a:r>
          </a:p>
        </p:txBody>
      </p:sp>
      <p:sp>
        <p:nvSpPr>
          <p:cNvPr id="67" name="Rectangle 66"/>
          <p:cNvSpPr/>
          <p:nvPr/>
        </p:nvSpPr>
        <p:spPr>
          <a:xfrm>
            <a:off x="6126480" y="5760720"/>
            <a:ext cx="457200" cy="47548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6126480" y="5888736"/>
            <a:ext cx="457200" cy="237744"/>
          </a:xfrm>
          <a:prstGeom prst="rect">
            <a:avLst/>
          </a:prstGeom>
          <a:noFill/>
        </p:spPr>
        <p:txBody>
          <a:bodyPr wrap="square">
            <a:spAutoFit/>
          </a:bodyPr>
          <a:lstStyle/>
          <a:p>
            <a:pPr algn="ctr"/>
            <a:r>
              <a:rPr sz="1100" b="1">
                <a:solidFill>
                  <a:srgbClr val="F1F5F9"/>
                </a:solidFill>
              </a:rPr>
              <a:t>8</a:t>
            </a:r>
          </a:p>
        </p:txBody>
      </p:sp>
      <p:sp>
        <p:nvSpPr>
          <p:cNvPr id="69" name="Rectangle 68"/>
          <p:cNvSpPr/>
          <p:nvPr/>
        </p:nvSpPr>
        <p:spPr>
          <a:xfrm>
            <a:off x="6656832" y="5760720"/>
            <a:ext cx="5074920" cy="4754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6748272" y="5852160"/>
            <a:ext cx="4892040" cy="292608"/>
          </a:xfrm>
          <a:prstGeom prst="rect">
            <a:avLst/>
          </a:prstGeom>
          <a:noFill/>
        </p:spPr>
        <p:txBody>
          <a:bodyPr wrap="square">
            <a:spAutoFit/>
          </a:bodyPr>
          <a:lstStyle/>
          <a:p>
            <a:pPr algn="l"/>
            <a:r>
              <a:rPr sz="1000" b="0">
                <a:solidFill>
                  <a:srgbClr val="F1F5F9"/>
                </a:solidFill>
              </a:rPr>
              <a:t>st.markdown() → clickable source links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82296"/>
            <a:ext cx="11521440" cy="548640"/>
          </a:xfrm>
          <a:prstGeom prst="rect">
            <a:avLst/>
          </a:prstGeom>
          <a:noFill/>
        </p:spPr>
        <p:txBody>
          <a:bodyPr wrap="square">
            <a:spAutoFit/>
          </a:bodyPr>
          <a:lstStyle/>
          <a:p>
            <a:pPr algn="l"/>
            <a:r>
              <a:rPr sz="2600" b="1">
                <a:solidFill>
                  <a:srgbClr val="F1F5F9"/>
                </a:solidFill>
              </a:rPr>
              <a:t>Jupyter Notebook — news_research_tool.ipynb</a:t>
            </a:r>
          </a:p>
        </p:txBody>
      </p:sp>
      <p:sp>
        <p:nvSpPr>
          <p:cNvPr id="4" name="TextBox 3"/>
          <p:cNvSpPr txBox="1"/>
          <p:nvPr/>
        </p:nvSpPr>
        <p:spPr>
          <a:xfrm>
            <a:off x="274320" y="658368"/>
            <a:ext cx="11521440" cy="347472"/>
          </a:xfrm>
          <a:prstGeom prst="rect">
            <a:avLst/>
          </a:prstGeom>
          <a:noFill/>
        </p:spPr>
        <p:txBody>
          <a:bodyPr wrap="square">
            <a:spAutoFit/>
          </a:bodyPr>
          <a:lstStyle/>
          <a:p>
            <a:pPr algn="l"/>
            <a:r>
              <a:rPr sz="1100" b="0">
                <a:solidFill>
                  <a:srgbClr val="94A3B8"/>
                </a:solidFill>
              </a:rPr>
              <a:t>Development, testing, and interactive demo outside of Streamlit</a:t>
            </a:r>
          </a:p>
        </p:txBody>
      </p:sp>
      <p:sp>
        <p:nvSpPr>
          <p:cNvPr id="5" name="Rectangle 4"/>
          <p:cNvSpPr/>
          <p:nvPr/>
        </p:nvSpPr>
        <p:spPr>
          <a:xfrm>
            <a:off x="320040" y="1188720"/>
            <a:ext cx="5486400" cy="23317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280160"/>
            <a:ext cx="5212080" cy="292608"/>
          </a:xfrm>
          <a:prstGeom prst="rect">
            <a:avLst/>
          </a:prstGeom>
          <a:noFill/>
        </p:spPr>
        <p:txBody>
          <a:bodyPr wrap="square">
            <a:spAutoFit/>
          </a:bodyPr>
          <a:lstStyle/>
          <a:p>
            <a:pPr algn="l"/>
            <a:r>
              <a:rPr sz="1100" b="1">
                <a:solidFill>
                  <a:srgbClr val="10B981"/>
                </a:solidFill>
              </a:rPr>
              <a:t>What WORKS in .ipynb</a:t>
            </a:r>
          </a:p>
        </p:txBody>
      </p:sp>
      <p:sp>
        <p:nvSpPr>
          <p:cNvPr id="7" name="TextBox 6"/>
          <p:cNvSpPr txBox="1"/>
          <p:nvPr/>
        </p:nvSpPr>
        <p:spPr>
          <a:xfrm>
            <a:off x="457200" y="1645920"/>
            <a:ext cx="5212080" cy="1783080"/>
          </a:xfrm>
          <a:prstGeom prst="rect">
            <a:avLst/>
          </a:prstGeom>
          <a:noFill/>
        </p:spPr>
        <p:txBody>
          <a:bodyPr wrap="square">
            <a:spAutoFit/>
          </a:bodyPr>
          <a:lstStyle/>
          <a:p>
            <a:pPr algn="l">
              <a:spcBef>
                <a:spcPts val="300"/>
              </a:spcBef>
            </a:pPr>
            <a:r>
              <a:rPr sz="1000" b="0">
                <a:solidFill>
                  <a:srgbClr val="F1F5F9"/>
                </a:solidFill>
              </a:rPr>
              <a:t>▸  !pip install (package installation cells)</a:t>
            </a:r>
          </a:p>
          <a:p>
            <a:pPr algn="l">
              <a:spcBef>
                <a:spcPts val="300"/>
              </a:spcBef>
            </a:pPr>
            <a:r>
              <a:rPr sz="1000" b="0">
                <a:solidFill>
                  <a:srgbClr val="F1F5F9"/>
                </a:solidFill>
              </a:rPr>
              <a:t>▸  LangChain LLM + PromptTemplate + LCEL chain</a:t>
            </a:r>
          </a:p>
          <a:p>
            <a:pPr algn="l">
              <a:spcBef>
                <a:spcPts val="300"/>
              </a:spcBef>
            </a:pPr>
            <a:r>
              <a:rPr sz="1000" b="0">
                <a:solidFill>
                  <a:srgbClr val="F1F5F9"/>
                </a:solidFill>
              </a:rPr>
              <a:t>▸  NewsAPI article fetching and processing</a:t>
            </a:r>
          </a:p>
          <a:p>
            <a:pPr algn="l">
              <a:spcBef>
                <a:spcPts val="300"/>
              </a:spcBef>
            </a:pPr>
            <a:r>
              <a:rPr sz="1000" b="0">
                <a:solidFill>
                  <a:srgbClr val="F1F5F9"/>
                </a:solidFill>
              </a:rPr>
              <a:t>▸  Full end-to-end run_pipeline() execution</a:t>
            </a:r>
          </a:p>
          <a:p>
            <a:pPr algn="l">
              <a:spcBef>
                <a:spcPts val="300"/>
              </a:spcBef>
            </a:pPr>
            <a:r>
              <a:rPr sz="1000" b="0">
                <a:solidFill>
                  <a:srgbClr val="F1F5F9"/>
                </a:solidFill>
              </a:rPr>
              <a:t>▸  Multi-query testing + programmatic quality checks</a:t>
            </a:r>
          </a:p>
          <a:p>
            <a:pPr algn="l">
              <a:spcBef>
                <a:spcPts val="300"/>
              </a:spcBef>
            </a:pPr>
            <a:r>
              <a:rPr sz="1000" b="0">
                <a:solidFill>
                  <a:srgbClr val="F1F5F9"/>
                </a:solidFill>
              </a:rPr>
              <a:t>▸  ipywidgets interactive demo UI (replaces Streamlit)</a:t>
            </a:r>
          </a:p>
          <a:p>
            <a:pPr algn="l">
              <a:spcBef>
                <a:spcPts val="300"/>
              </a:spcBef>
            </a:pPr>
            <a:r>
              <a:rPr sz="1000" b="0">
                <a:solidFill>
                  <a:srgbClr val="F1F5F9"/>
                </a:solidFill>
              </a:rPr>
              <a:t>▸  CSV export via export_results(query)</a:t>
            </a:r>
          </a:p>
        </p:txBody>
      </p:sp>
      <p:sp>
        <p:nvSpPr>
          <p:cNvPr id="8" name="Rectangle 7"/>
          <p:cNvSpPr/>
          <p:nvPr/>
        </p:nvSpPr>
        <p:spPr>
          <a:xfrm>
            <a:off x="6035040" y="1188720"/>
            <a:ext cx="5852160" cy="23317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172200" y="1280160"/>
            <a:ext cx="5577840" cy="292608"/>
          </a:xfrm>
          <a:prstGeom prst="rect">
            <a:avLst/>
          </a:prstGeom>
          <a:noFill/>
        </p:spPr>
        <p:txBody>
          <a:bodyPr wrap="square">
            <a:spAutoFit/>
          </a:bodyPr>
          <a:lstStyle/>
          <a:p>
            <a:pPr algn="l"/>
            <a:r>
              <a:rPr sz="1100" b="1">
                <a:solidFill>
                  <a:srgbClr val="EF4444"/>
                </a:solidFill>
              </a:rPr>
              <a:t>What does NOT work in .ipynb</a:t>
            </a:r>
          </a:p>
        </p:txBody>
      </p:sp>
      <p:sp>
        <p:nvSpPr>
          <p:cNvPr id="10" name="TextBox 9"/>
          <p:cNvSpPr txBox="1"/>
          <p:nvPr/>
        </p:nvSpPr>
        <p:spPr>
          <a:xfrm>
            <a:off x="6172200" y="1645920"/>
            <a:ext cx="5577840" cy="1783080"/>
          </a:xfrm>
          <a:prstGeom prst="rect">
            <a:avLst/>
          </a:prstGeom>
          <a:noFill/>
        </p:spPr>
        <p:txBody>
          <a:bodyPr wrap="square">
            <a:spAutoFit/>
          </a:bodyPr>
          <a:lstStyle/>
          <a:p>
            <a:pPr algn="l">
              <a:spcBef>
                <a:spcPts val="300"/>
              </a:spcBef>
            </a:pPr>
            <a:r>
              <a:rPr sz="1000" b="0">
                <a:solidFill>
                  <a:srgbClr val="F1F5F9"/>
                </a:solidFill>
              </a:rPr>
              <a:t>▸  streamlit run app.py (needs terminal process)</a:t>
            </a:r>
          </a:p>
          <a:p>
            <a:pPr algn="l">
              <a:spcBef>
                <a:spcPts val="300"/>
              </a:spcBef>
            </a:pPr>
            <a:r>
              <a:rPr sz="1000" b="0">
                <a:solidFill>
                  <a:srgbClr val="F1F5F9"/>
                </a:solidFill>
              </a:rPr>
              <a:t>▸  st.title(), st.text_input(), st.button()</a:t>
            </a:r>
          </a:p>
          <a:p>
            <a:pPr algn="l">
              <a:spcBef>
                <a:spcPts val="300"/>
              </a:spcBef>
            </a:pPr>
            <a:r>
              <a:rPr sz="1000" b="0">
                <a:solidFill>
                  <a:srgbClr val="F1F5F9"/>
                </a:solidFill>
              </a:rPr>
              <a:t>▸  st.spinner(), st.expander(), st.markdown()</a:t>
            </a:r>
          </a:p>
          <a:p>
            <a:pPr algn="l">
              <a:spcBef>
                <a:spcPts val="300"/>
              </a:spcBef>
            </a:pPr>
            <a:r>
              <a:rPr sz="1000" b="0">
                <a:solidFill>
                  <a:srgbClr val="F1F5F9"/>
                </a:solidFill>
              </a:rPr>
              <a:t>▸  Streamlit is a standalone web server — not a widget</a:t>
            </a:r>
          </a:p>
          <a:p>
            <a:pPr algn="l">
              <a:spcBef>
                <a:spcPts val="300"/>
              </a:spcBef>
            </a:pPr>
            <a:r>
              <a:rPr sz="1000" b="0">
                <a:solidFill>
                  <a:srgbClr val="F1F5F9"/>
                </a:solidFill>
              </a:rPr>
              <a:t>▸  Replacement: ipywidgets (Text, Button, Output)</a:t>
            </a:r>
          </a:p>
        </p:txBody>
      </p:sp>
      <p:sp>
        <p:nvSpPr>
          <p:cNvPr id="11" name="Rectangle 10"/>
          <p:cNvSpPr/>
          <p:nvPr/>
        </p:nvSpPr>
        <p:spPr>
          <a:xfrm>
            <a:off x="320040" y="3703320"/>
            <a:ext cx="11521440" cy="29992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3794760"/>
            <a:ext cx="11155680" cy="292608"/>
          </a:xfrm>
          <a:prstGeom prst="rect">
            <a:avLst/>
          </a:prstGeom>
          <a:noFill/>
        </p:spPr>
        <p:txBody>
          <a:bodyPr wrap="square">
            <a:spAutoFit/>
          </a:bodyPr>
          <a:lstStyle/>
          <a:p>
            <a:pPr algn="l"/>
            <a:r>
              <a:rPr sz="1100" b="1">
                <a:solidFill>
                  <a:srgbClr val="F59E0B"/>
                </a:solidFill>
              </a:rPr>
              <a:t>Notebook Sections</a:t>
            </a:r>
          </a:p>
        </p:txBody>
      </p:sp>
      <p:sp>
        <p:nvSpPr>
          <p:cNvPr id="13" name="Rectangle 12"/>
          <p:cNvSpPr/>
          <p:nvPr/>
        </p:nvSpPr>
        <p:spPr>
          <a:xfrm>
            <a:off x="457200" y="4206240"/>
            <a:ext cx="1737360" cy="521207"/>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2920" y="4334255"/>
            <a:ext cx="1645920" cy="274320"/>
          </a:xfrm>
          <a:prstGeom prst="rect">
            <a:avLst/>
          </a:prstGeom>
          <a:noFill/>
        </p:spPr>
        <p:txBody>
          <a:bodyPr wrap="square">
            <a:spAutoFit/>
          </a:bodyPr>
          <a:lstStyle/>
          <a:p>
            <a:pPr algn="ctr"/>
            <a:r>
              <a:rPr sz="1000" b="1">
                <a:solidFill>
                  <a:srgbClr val="F1F5F9"/>
                </a:solidFill>
              </a:rPr>
              <a:t>Phase 1</a:t>
            </a:r>
          </a:p>
        </p:txBody>
      </p:sp>
      <p:sp>
        <p:nvSpPr>
          <p:cNvPr id="15" name="TextBox 14"/>
          <p:cNvSpPr txBox="1"/>
          <p:nvPr/>
        </p:nvSpPr>
        <p:spPr>
          <a:xfrm>
            <a:off x="2331720" y="4315968"/>
            <a:ext cx="3566160" cy="320040"/>
          </a:xfrm>
          <a:prstGeom prst="rect">
            <a:avLst/>
          </a:prstGeom>
          <a:noFill/>
        </p:spPr>
        <p:txBody>
          <a:bodyPr wrap="square">
            <a:spAutoFit/>
          </a:bodyPr>
          <a:lstStyle/>
          <a:p>
            <a:pPr algn="l"/>
            <a:r>
              <a:rPr sz="900" b="0">
                <a:solidFill>
                  <a:srgbClr val="94A3B8"/>
                </a:solidFill>
              </a:rPr>
              <a:t>Install + load_dotenv() API key loading</a:t>
            </a:r>
          </a:p>
        </p:txBody>
      </p:sp>
      <p:sp>
        <p:nvSpPr>
          <p:cNvPr id="16" name="Rectangle 15"/>
          <p:cNvSpPr/>
          <p:nvPr/>
        </p:nvSpPr>
        <p:spPr>
          <a:xfrm>
            <a:off x="6217920" y="4206240"/>
            <a:ext cx="1737360" cy="521207"/>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63640" y="4334255"/>
            <a:ext cx="1645920" cy="274320"/>
          </a:xfrm>
          <a:prstGeom prst="rect">
            <a:avLst/>
          </a:prstGeom>
          <a:noFill/>
        </p:spPr>
        <p:txBody>
          <a:bodyPr wrap="square">
            <a:spAutoFit/>
          </a:bodyPr>
          <a:lstStyle/>
          <a:p>
            <a:pPr algn="ctr"/>
            <a:r>
              <a:rPr sz="1000" b="1">
                <a:solidFill>
                  <a:srgbClr val="F1F5F9"/>
                </a:solidFill>
              </a:rPr>
              <a:t>Phase 2</a:t>
            </a:r>
          </a:p>
        </p:txBody>
      </p:sp>
      <p:sp>
        <p:nvSpPr>
          <p:cNvPr id="18" name="TextBox 17"/>
          <p:cNvSpPr txBox="1"/>
          <p:nvPr/>
        </p:nvSpPr>
        <p:spPr>
          <a:xfrm>
            <a:off x="8092440" y="4315968"/>
            <a:ext cx="3566160" cy="320040"/>
          </a:xfrm>
          <a:prstGeom prst="rect">
            <a:avLst/>
          </a:prstGeom>
          <a:noFill/>
        </p:spPr>
        <p:txBody>
          <a:bodyPr wrap="square">
            <a:spAutoFit/>
          </a:bodyPr>
          <a:lstStyle/>
          <a:p>
            <a:pPr algn="l"/>
            <a:r>
              <a:rPr sz="900" b="0">
                <a:solidFill>
                  <a:srgbClr val="94A3B8"/>
                </a:solidFill>
              </a:rPr>
              <a:t>LLM + PromptTemplate + LCEL chain setup</a:t>
            </a:r>
          </a:p>
        </p:txBody>
      </p:sp>
      <p:sp>
        <p:nvSpPr>
          <p:cNvPr id="19" name="Rectangle 18"/>
          <p:cNvSpPr/>
          <p:nvPr/>
        </p:nvSpPr>
        <p:spPr>
          <a:xfrm>
            <a:off x="457200" y="4864607"/>
            <a:ext cx="1737360" cy="521207"/>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2920" y="4992623"/>
            <a:ext cx="1645920" cy="274320"/>
          </a:xfrm>
          <a:prstGeom prst="rect">
            <a:avLst/>
          </a:prstGeom>
          <a:noFill/>
        </p:spPr>
        <p:txBody>
          <a:bodyPr wrap="square">
            <a:spAutoFit/>
          </a:bodyPr>
          <a:lstStyle/>
          <a:p>
            <a:pPr algn="ctr"/>
            <a:r>
              <a:rPr sz="1000" b="1">
                <a:solidFill>
                  <a:srgbClr val="F1F5F9"/>
                </a:solidFill>
              </a:rPr>
              <a:t>Phase 3</a:t>
            </a:r>
          </a:p>
        </p:txBody>
      </p:sp>
      <p:sp>
        <p:nvSpPr>
          <p:cNvPr id="21" name="TextBox 20"/>
          <p:cNvSpPr txBox="1"/>
          <p:nvPr/>
        </p:nvSpPr>
        <p:spPr>
          <a:xfrm>
            <a:off x="2331720" y="4974336"/>
            <a:ext cx="3566160" cy="320040"/>
          </a:xfrm>
          <a:prstGeom prst="rect">
            <a:avLst/>
          </a:prstGeom>
          <a:noFill/>
        </p:spPr>
        <p:txBody>
          <a:bodyPr wrap="square">
            <a:spAutoFit/>
          </a:bodyPr>
          <a:lstStyle/>
          <a:p>
            <a:pPr algn="l"/>
            <a:r>
              <a:rPr sz="900" b="0">
                <a:solidFill>
                  <a:srgbClr val="94A3B8"/>
                </a:solidFill>
              </a:rPr>
              <a:t>NewsAPI: get_news_articles, summarize_articles, get_summary</a:t>
            </a:r>
          </a:p>
        </p:txBody>
      </p:sp>
      <p:sp>
        <p:nvSpPr>
          <p:cNvPr id="22" name="Rectangle 21"/>
          <p:cNvSpPr/>
          <p:nvPr/>
        </p:nvSpPr>
        <p:spPr>
          <a:xfrm>
            <a:off x="6217920" y="4864607"/>
            <a:ext cx="1737360" cy="521207"/>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63640" y="4992623"/>
            <a:ext cx="1645920" cy="274320"/>
          </a:xfrm>
          <a:prstGeom prst="rect">
            <a:avLst/>
          </a:prstGeom>
          <a:noFill/>
        </p:spPr>
        <p:txBody>
          <a:bodyPr wrap="square">
            <a:spAutoFit/>
          </a:bodyPr>
          <a:lstStyle/>
          <a:p>
            <a:pPr algn="ctr"/>
            <a:r>
              <a:rPr sz="1000" b="1">
                <a:solidFill>
                  <a:srgbClr val="F1F5F9"/>
                </a:solidFill>
              </a:rPr>
              <a:t>Phase 4</a:t>
            </a:r>
          </a:p>
        </p:txBody>
      </p:sp>
      <p:sp>
        <p:nvSpPr>
          <p:cNvPr id="24" name="TextBox 23"/>
          <p:cNvSpPr txBox="1"/>
          <p:nvPr/>
        </p:nvSpPr>
        <p:spPr>
          <a:xfrm>
            <a:off x="8092440" y="4974336"/>
            <a:ext cx="3566160" cy="320040"/>
          </a:xfrm>
          <a:prstGeom prst="rect">
            <a:avLst/>
          </a:prstGeom>
          <a:noFill/>
        </p:spPr>
        <p:txBody>
          <a:bodyPr wrap="square">
            <a:spAutoFit/>
          </a:bodyPr>
          <a:lstStyle/>
          <a:p>
            <a:pPr algn="l"/>
            <a:r>
              <a:rPr sz="900" b="0">
                <a:solidFill>
                  <a:srgbClr val="94A3B8"/>
                </a:solidFill>
              </a:rPr>
              <a:t>run_pipeline(query) — full end-to-end test cell</a:t>
            </a:r>
          </a:p>
        </p:txBody>
      </p:sp>
      <p:sp>
        <p:nvSpPr>
          <p:cNvPr id="25" name="Rectangle 24"/>
          <p:cNvSpPr/>
          <p:nvPr/>
        </p:nvSpPr>
        <p:spPr>
          <a:xfrm>
            <a:off x="457200" y="5522975"/>
            <a:ext cx="1737360" cy="521207"/>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2920" y="5650991"/>
            <a:ext cx="1645920" cy="274320"/>
          </a:xfrm>
          <a:prstGeom prst="rect">
            <a:avLst/>
          </a:prstGeom>
          <a:noFill/>
        </p:spPr>
        <p:txBody>
          <a:bodyPr wrap="square">
            <a:spAutoFit/>
          </a:bodyPr>
          <a:lstStyle/>
          <a:p>
            <a:pPr algn="ctr"/>
            <a:r>
              <a:rPr sz="1000" b="1">
                <a:solidFill>
                  <a:srgbClr val="F1F5F9"/>
                </a:solidFill>
              </a:rPr>
              <a:t>Phase 5</a:t>
            </a:r>
          </a:p>
        </p:txBody>
      </p:sp>
      <p:sp>
        <p:nvSpPr>
          <p:cNvPr id="27" name="TextBox 26"/>
          <p:cNvSpPr txBox="1"/>
          <p:nvPr/>
        </p:nvSpPr>
        <p:spPr>
          <a:xfrm>
            <a:off x="2331720" y="5632703"/>
            <a:ext cx="3566160" cy="320040"/>
          </a:xfrm>
          <a:prstGeom prst="rect">
            <a:avLst/>
          </a:prstGeom>
          <a:noFill/>
        </p:spPr>
        <p:txBody>
          <a:bodyPr wrap="square">
            <a:spAutoFit/>
          </a:bodyPr>
          <a:lstStyle/>
          <a:p>
            <a:pPr algn="l"/>
            <a:r>
              <a:rPr sz="900" b="0">
                <a:solidFill>
                  <a:srgbClr val="94A3B8"/>
                </a:solidFill>
              </a:rPr>
              <a:t>Multi-query testing + 6 quality validation checks</a:t>
            </a:r>
          </a:p>
        </p:txBody>
      </p:sp>
      <p:sp>
        <p:nvSpPr>
          <p:cNvPr id="28" name="Rectangle 27"/>
          <p:cNvSpPr/>
          <p:nvPr/>
        </p:nvSpPr>
        <p:spPr>
          <a:xfrm>
            <a:off x="6217920" y="5522975"/>
            <a:ext cx="1737360" cy="521207"/>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263640" y="5650991"/>
            <a:ext cx="1645920" cy="274320"/>
          </a:xfrm>
          <a:prstGeom prst="rect">
            <a:avLst/>
          </a:prstGeom>
          <a:noFill/>
        </p:spPr>
        <p:txBody>
          <a:bodyPr wrap="square">
            <a:spAutoFit/>
          </a:bodyPr>
          <a:lstStyle/>
          <a:p>
            <a:pPr algn="ctr"/>
            <a:r>
              <a:rPr sz="1000" b="1">
                <a:solidFill>
                  <a:srgbClr val="F1F5F9"/>
                </a:solidFill>
              </a:rPr>
              <a:t>Demo</a:t>
            </a:r>
          </a:p>
        </p:txBody>
      </p:sp>
      <p:sp>
        <p:nvSpPr>
          <p:cNvPr id="30" name="TextBox 29"/>
          <p:cNvSpPr txBox="1"/>
          <p:nvPr/>
        </p:nvSpPr>
        <p:spPr>
          <a:xfrm>
            <a:off x="8092440" y="5632703"/>
            <a:ext cx="3566160" cy="320040"/>
          </a:xfrm>
          <a:prstGeom prst="rect">
            <a:avLst/>
          </a:prstGeom>
          <a:noFill/>
        </p:spPr>
        <p:txBody>
          <a:bodyPr wrap="square">
            <a:spAutoFit/>
          </a:bodyPr>
          <a:lstStyle/>
          <a:p>
            <a:pPr algn="l"/>
            <a:r>
              <a:rPr sz="900" b="0">
                <a:solidFill>
                  <a:srgbClr val="94A3B8"/>
                </a:solidFill>
              </a:rPr>
              <a:t>ipywidgets UI: query box + button + output widget</a:t>
            </a:r>
          </a:p>
        </p:txBody>
      </p:sp>
      <p:sp>
        <p:nvSpPr>
          <p:cNvPr id="31" name="Rectangle 30"/>
          <p:cNvSpPr/>
          <p:nvPr/>
        </p:nvSpPr>
        <p:spPr>
          <a:xfrm>
            <a:off x="457200" y="6181344"/>
            <a:ext cx="1737360" cy="521207"/>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02920" y="6309359"/>
            <a:ext cx="1645920" cy="274320"/>
          </a:xfrm>
          <a:prstGeom prst="rect">
            <a:avLst/>
          </a:prstGeom>
          <a:noFill/>
        </p:spPr>
        <p:txBody>
          <a:bodyPr wrap="square">
            <a:spAutoFit/>
          </a:bodyPr>
          <a:lstStyle/>
          <a:p>
            <a:pPr algn="ctr"/>
            <a:r>
              <a:rPr sz="1000" b="1">
                <a:solidFill>
                  <a:srgbClr val="F1F5F9"/>
                </a:solidFill>
              </a:rPr>
              <a:t>Optional</a:t>
            </a:r>
          </a:p>
        </p:txBody>
      </p:sp>
      <p:sp>
        <p:nvSpPr>
          <p:cNvPr id="33" name="TextBox 32"/>
          <p:cNvSpPr txBox="1"/>
          <p:nvPr/>
        </p:nvSpPr>
        <p:spPr>
          <a:xfrm>
            <a:off x="2331720" y="6291072"/>
            <a:ext cx="3566160" cy="320040"/>
          </a:xfrm>
          <a:prstGeom prst="rect">
            <a:avLst/>
          </a:prstGeom>
          <a:noFill/>
        </p:spPr>
        <p:txBody>
          <a:bodyPr wrap="square">
            <a:spAutoFit/>
          </a:bodyPr>
          <a:lstStyle/>
          <a:p>
            <a:pPr algn="l"/>
            <a:r>
              <a:rPr sz="900" b="0">
                <a:solidFill>
                  <a:srgbClr val="94A3B8"/>
                </a:solidFill>
              </a:rPr>
              <a:t>export_results(query) — saves articles + summary to CSV</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82296"/>
            <a:ext cx="11521440" cy="548640"/>
          </a:xfrm>
          <a:prstGeom prst="rect">
            <a:avLst/>
          </a:prstGeom>
          <a:noFill/>
        </p:spPr>
        <p:txBody>
          <a:bodyPr wrap="square">
            <a:spAutoFit/>
          </a:bodyPr>
          <a:lstStyle/>
          <a:p>
            <a:pPr algn="l"/>
            <a:r>
              <a:rPr sz="2600" b="1">
                <a:solidFill>
                  <a:srgbClr val="F1F5F9"/>
                </a:solidFill>
              </a:rPr>
              <a:t>Phase 5 — Testing &amp; Validation</a:t>
            </a:r>
          </a:p>
        </p:txBody>
      </p:sp>
      <p:sp>
        <p:nvSpPr>
          <p:cNvPr id="4" name="TextBox 3"/>
          <p:cNvSpPr txBox="1"/>
          <p:nvPr/>
        </p:nvSpPr>
        <p:spPr>
          <a:xfrm>
            <a:off x="274320" y="658368"/>
            <a:ext cx="11521440" cy="347472"/>
          </a:xfrm>
          <a:prstGeom prst="rect">
            <a:avLst/>
          </a:prstGeom>
          <a:noFill/>
        </p:spPr>
        <p:txBody>
          <a:bodyPr wrap="square">
            <a:spAutoFit/>
          </a:bodyPr>
          <a:lstStyle/>
          <a:p>
            <a:pPr algn="l"/>
            <a:r>
              <a:rPr sz="1100" b="0">
                <a:solidFill>
                  <a:srgbClr val="94A3B8"/>
                </a:solidFill>
              </a:rPr>
              <a:t>Task 5.1: Multi-query functional tests  ·  Task 5.2: Quality validation checks</a:t>
            </a:r>
          </a:p>
        </p:txBody>
      </p:sp>
      <p:sp>
        <p:nvSpPr>
          <p:cNvPr id="5" name="Rectangle 4"/>
          <p:cNvSpPr/>
          <p:nvPr/>
        </p:nvSpPr>
        <p:spPr>
          <a:xfrm>
            <a:off x="320040" y="1188720"/>
            <a:ext cx="5486400" cy="52120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280160"/>
            <a:ext cx="5212080" cy="292608"/>
          </a:xfrm>
          <a:prstGeom prst="rect">
            <a:avLst/>
          </a:prstGeom>
          <a:noFill/>
        </p:spPr>
        <p:txBody>
          <a:bodyPr wrap="square">
            <a:spAutoFit/>
          </a:bodyPr>
          <a:lstStyle/>
          <a:p>
            <a:pPr algn="l"/>
            <a:r>
              <a:rPr sz="1100" b="1">
                <a:solidFill>
                  <a:srgbClr val="6366F1"/>
                </a:solidFill>
              </a:rPr>
              <a:t>Task 5.1 — Functional Test Queries</a:t>
            </a:r>
          </a:p>
        </p:txBody>
      </p:sp>
      <p:sp>
        <p:nvSpPr>
          <p:cNvPr id="7" name="Rectangle 6"/>
          <p:cNvSpPr/>
          <p:nvPr/>
        </p:nvSpPr>
        <p:spPr>
          <a:xfrm>
            <a:off x="411480" y="1682496"/>
            <a:ext cx="5303520" cy="77724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737360"/>
            <a:ext cx="5029200" cy="292608"/>
          </a:xfrm>
          <a:prstGeom prst="rect">
            <a:avLst/>
          </a:prstGeom>
          <a:noFill/>
        </p:spPr>
        <p:txBody>
          <a:bodyPr wrap="square">
            <a:spAutoFit/>
          </a:bodyPr>
          <a:lstStyle/>
          <a:p>
            <a:pPr algn="l"/>
            <a:r>
              <a:rPr sz="1100" b="1">
                <a:solidFill>
                  <a:srgbClr val="F59E0B"/>
                </a:solidFill>
              </a:rPr>
              <a:t>Apple earnings Q3 2024</a:t>
            </a:r>
          </a:p>
        </p:txBody>
      </p:sp>
      <p:sp>
        <p:nvSpPr>
          <p:cNvPr id="9" name="TextBox 8"/>
          <p:cNvSpPr txBox="1"/>
          <p:nvPr/>
        </p:nvSpPr>
        <p:spPr>
          <a:xfrm>
            <a:off x="548640" y="2121408"/>
            <a:ext cx="5029200" cy="256032"/>
          </a:xfrm>
          <a:prstGeom prst="rect">
            <a:avLst/>
          </a:prstGeom>
          <a:noFill/>
        </p:spPr>
        <p:txBody>
          <a:bodyPr wrap="square">
            <a:spAutoFit/>
          </a:bodyPr>
          <a:lstStyle/>
          <a:p>
            <a:pPr algn="l"/>
            <a:r>
              <a:rPr sz="900" b="0">
                <a:solidFill>
                  <a:srgbClr val="94A3B8"/>
                </a:solidFill>
              </a:rPr>
              <a:t>Company-specific earnings coverage test</a:t>
            </a:r>
          </a:p>
        </p:txBody>
      </p:sp>
      <p:sp>
        <p:nvSpPr>
          <p:cNvPr id="10" name="Rectangle 9"/>
          <p:cNvSpPr/>
          <p:nvPr/>
        </p:nvSpPr>
        <p:spPr>
          <a:xfrm>
            <a:off x="411480" y="2615184"/>
            <a:ext cx="5303520" cy="77724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2670048"/>
            <a:ext cx="5029200" cy="292608"/>
          </a:xfrm>
          <a:prstGeom prst="rect">
            <a:avLst/>
          </a:prstGeom>
          <a:noFill/>
        </p:spPr>
        <p:txBody>
          <a:bodyPr wrap="square">
            <a:spAutoFit/>
          </a:bodyPr>
          <a:lstStyle/>
          <a:p>
            <a:pPr algn="l"/>
            <a:r>
              <a:rPr sz="1100" b="1">
                <a:solidFill>
                  <a:srgbClr val="F59E0B"/>
                </a:solidFill>
              </a:rPr>
              <a:t>Federal Reserve interest rate 2024</a:t>
            </a:r>
          </a:p>
        </p:txBody>
      </p:sp>
      <p:sp>
        <p:nvSpPr>
          <p:cNvPr id="12" name="TextBox 11"/>
          <p:cNvSpPr txBox="1"/>
          <p:nvPr/>
        </p:nvSpPr>
        <p:spPr>
          <a:xfrm>
            <a:off x="548640" y="3054096"/>
            <a:ext cx="5029200" cy="256032"/>
          </a:xfrm>
          <a:prstGeom prst="rect">
            <a:avLst/>
          </a:prstGeom>
          <a:noFill/>
        </p:spPr>
        <p:txBody>
          <a:bodyPr wrap="square">
            <a:spAutoFit/>
          </a:bodyPr>
          <a:lstStyle/>
          <a:p>
            <a:pPr algn="l"/>
            <a:r>
              <a:rPr sz="900" b="0">
                <a:solidFill>
                  <a:srgbClr val="94A3B8"/>
                </a:solidFill>
              </a:rPr>
              <a:t>Macro-economic / policy query test</a:t>
            </a:r>
          </a:p>
        </p:txBody>
      </p:sp>
      <p:sp>
        <p:nvSpPr>
          <p:cNvPr id="13" name="Rectangle 12"/>
          <p:cNvSpPr/>
          <p:nvPr/>
        </p:nvSpPr>
        <p:spPr>
          <a:xfrm>
            <a:off x="411480" y="3547872"/>
            <a:ext cx="5303520" cy="77724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3602736"/>
            <a:ext cx="5029200" cy="292608"/>
          </a:xfrm>
          <a:prstGeom prst="rect">
            <a:avLst/>
          </a:prstGeom>
          <a:noFill/>
        </p:spPr>
        <p:txBody>
          <a:bodyPr wrap="square">
            <a:spAutoFit/>
          </a:bodyPr>
          <a:lstStyle/>
          <a:p>
            <a:pPr algn="l"/>
            <a:r>
              <a:rPr sz="1100" b="1">
                <a:solidFill>
                  <a:srgbClr val="F59E0B"/>
                </a:solidFill>
              </a:rPr>
              <a:t>Tesla quarterly earnings revenue</a:t>
            </a:r>
          </a:p>
        </p:txBody>
      </p:sp>
      <p:sp>
        <p:nvSpPr>
          <p:cNvPr id="15" name="TextBox 14"/>
          <p:cNvSpPr txBox="1"/>
          <p:nvPr/>
        </p:nvSpPr>
        <p:spPr>
          <a:xfrm>
            <a:off x="548640" y="3986783"/>
            <a:ext cx="5029200" cy="256032"/>
          </a:xfrm>
          <a:prstGeom prst="rect">
            <a:avLst/>
          </a:prstGeom>
          <a:noFill/>
        </p:spPr>
        <p:txBody>
          <a:bodyPr wrap="square">
            <a:spAutoFit/>
          </a:bodyPr>
          <a:lstStyle/>
          <a:p>
            <a:pPr algn="l"/>
            <a:r>
              <a:rPr sz="900" b="0">
                <a:solidFill>
                  <a:srgbClr val="94A3B8"/>
                </a:solidFill>
              </a:rPr>
              <a:t>Competitor / peer analysis test</a:t>
            </a:r>
          </a:p>
        </p:txBody>
      </p:sp>
      <p:sp>
        <p:nvSpPr>
          <p:cNvPr id="16" name="Rectangle 15"/>
          <p:cNvSpPr/>
          <p:nvPr/>
        </p:nvSpPr>
        <p:spPr>
          <a:xfrm>
            <a:off x="411480" y="4553712"/>
            <a:ext cx="5303520" cy="77724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48640" y="4535424"/>
            <a:ext cx="5029200" cy="292608"/>
          </a:xfrm>
          <a:prstGeom prst="rect">
            <a:avLst/>
          </a:prstGeom>
          <a:noFill/>
        </p:spPr>
        <p:txBody>
          <a:bodyPr wrap="square">
            <a:spAutoFit/>
          </a:bodyPr>
          <a:lstStyle/>
          <a:p>
            <a:pPr algn="l"/>
            <a:r>
              <a:rPr sz="1100" b="1">
                <a:solidFill>
                  <a:srgbClr val="F59E0B"/>
                </a:solidFill>
              </a:rPr>
              <a:t>AI chip semiconductor market</a:t>
            </a:r>
          </a:p>
        </p:txBody>
      </p:sp>
      <p:sp>
        <p:nvSpPr>
          <p:cNvPr id="18" name="TextBox 17"/>
          <p:cNvSpPr txBox="1"/>
          <p:nvPr/>
        </p:nvSpPr>
        <p:spPr>
          <a:xfrm>
            <a:off x="548640" y="4919472"/>
            <a:ext cx="5029200" cy="256032"/>
          </a:xfrm>
          <a:prstGeom prst="rect">
            <a:avLst/>
          </a:prstGeom>
          <a:noFill/>
        </p:spPr>
        <p:txBody>
          <a:bodyPr wrap="square">
            <a:spAutoFit/>
          </a:bodyPr>
          <a:lstStyle/>
          <a:p>
            <a:pPr algn="l"/>
            <a:r>
              <a:rPr sz="900" b="0">
                <a:solidFill>
                  <a:srgbClr val="94A3B8"/>
                </a:solidFill>
              </a:rPr>
              <a:t>Sector-wide thematic research test</a:t>
            </a:r>
          </a:p>
        </p:txBody>
      </p:sp>
      <p:sp>
        <p:nvSpPr>
          <p:cNvPr id="19" name="TextBox 18"/>
          <p:cNvSpPr txBox="1"/>
          <p:nvPr/>
        </p:nvSpPr>
        <p:spPr>
          <a:xfrm>
            <a:off x="457200" y="5120640"/>
            <a:ext cx="5212080" cy="256032"/>
          </a:xfrm>
          <a:prstGeom prst="rect">
            <a:avLst/>
          </a:prstGeom>
          <a:noFill/>
        </p:spPr>
        <p:txBody>
          <a:bodyPr wrap="square">
            <a:spAutoFit/>
          </a:bodyPr>
          <a:lstStyle/>
          <a:p>
            <a:pPr algn="l"/>
            <a:r>
              <a:rPr sz="900" b="0">
                <a:solidFill>
                  <a:srgbClr val="94A3B8"/>
                </a:solidFill>
              </a:rPr>
              <a:t>Each query validated: articles_found &gt; 0, summary non-empty, response &lt; 2 000 chars.</a:t>
            </a:r>
          </a:p>
        </p:txBody>
      </p:sp>
      <p:sp>
        <p:nvSpPr>
          <p:cNvPr id="20" name="Rectangle 19"/>
          <p:cNvSpPr/>
          <p:nvPr/>
        </p:nvSpPr>
        <p:spPr>
          <a:xfrm>
            <a:off x="6035040" y="1188720"/>
            <a:ext cx="5852160" cy="52120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172200" y="1280160"/>
            <a:ext cx="5577840" cy="292608"/>
          </a:xfrm>
          <a:prstGeom prst="rect">
            <a:avLst/>
          </a:prstGeom>
          <a:noFill/>
        </p:spPr>
        <p:txBody>
          <a:bodyPr wrap="square">
            <a:spAutoFit/>
          </a:bodyPr>
          <a:lstStyle/>
          <a:p>
            <a:pPr algn="l"/>
            <a:r>
              <a:rPr sz="1100" b="1">
                <a:solidFill>
                  <a:srgbClr val="10B981"/>
                </a:solidFill>
              </a:rPr>
              <a:t>Task 5.2 — Quality Validation Checks</a:t>
            </a:r>
          </a:p>
        </p:txBody>
      </p:sp>
      <p:sp>
        <p:nvSpPr>
          <p:cNvPr id="22" name="Rectangle 21"/>
          <p:cNvSpPr/>
          <p:nvPr/>
        </p:nvSpPr>
        <p:spPr>
          <a:xfrm>
            <a:off x="6126480" y="1682496"/>
            <a:ext cx="530352" cy="65836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126480" y="1865376"/>
            <a:ext cx="530352" cy="292608"/>
          </a:xfrm>
          <a:prstGeom prst="rect">
            <a:avLst/>
          </a:prstGeom>
          <a:noFill/>
        </p:spPr>
        <p:txBody>
          <a:bodyPr wrap="square">
            <a:spAutoFit/>
          </a:bodyPr>
          <a:lstStyle/>
          <a:p>
            <a:pPr algn="ctr"/>
            <a:r>
              <a:rPr sz="800" b="1">
                <a:solidFill>
                  <a:srgbClr val="F1F5F9"/>
                </a:solidFill>
              </a:rPr>
              <a:t>PASS</a:t>
            </a:r>
          </a:p>
        </p:txBody>
      </p:sp>
      <p:sp>
        <p:nvSpPr>
          <p:cNvPr id="24" name="Rectangle 23"/>
          <p:cNvSpPr/>
          <p:nvPr/>
        </p:nvSpPr>
        <p:spPr>
          <a:xfrm>
            <a:off x="6729984" y="1682496"/>
            <a:ext cx="5029200" cy="65836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821424" y="1728216"/>
            <a:ext cx="4846320" cy="274320"/>
          </a:xfrm>
          <a:prstGeom prst="rect">
            <a:avLst/>
          </a:prstGeom>
          <a:noFill/>
        </p:spPr>
        <p:txBody>
          <a:bodyPr wrap="square">
            <a:spAutoFit/>
          </a:bodyPr>
          <a:lstStyle/>
          <a:p>
            <a:pPr algn="l"/>
            <a:r>
              <a:rPr sz="1100" b="1">
                <a:solidFill>
                  <a:srgbClr val="F1F5F9"/>
                </a:solidFill>
              </a:rPr>
              <a:t>Non-empty response</a:t>
            </a:r>
          </a:p>
        </p:txBody>
      </p:sp>
      <p:sp>
        <p:nvSpPr>
          <p:cNvPr id="26" name="TextBox 25"/>
          <p:cNvSpPr txBox="1"/>
          <p:nvPr/>
        </p:nvSpPr>
        <p:spPr>
          <a:xfrm>
            <a:off x="6821424" y="2048256"/>
            <a:ext cx="4846320" cy="237744"/>
          </a:xfrm>
          <a:prstGeom prst="rect">
            <a:avLst/>
          </a:prstGeom>
          <a:noFill/>
        </p:spPr>
        <p:txBody>
          <a:bodyPr wrap="square">
            <a:spAutoFit/>
          </a:bodyPr>
          <a:lstStyle/>
          <a:p>
            <a:pPr algn="l"/>
            <a:r>
              <a:rPr sz="900" b="0">
                <a:solidFill>
                  <a:srgbClr val="94A3B8"/>
                </a:solidFill>
              </a:rPr>
              <a:t>len(response) &gt; 50 characters</a:t>
            </a:r>
          </a:p>
        </p:txBody>
      </p:sp>
      <p:sp>
        <p:nvSpPr>
          <p:cNvPr id="27" name="Rectangle 26"/>
          <p:cNvSpPr/>
          <p:nvPr/>
        </p:nvSpPr>
        <p:spPr>
          <a:xfrm>
            <a:off x="6126480" y="2478024"/>
            <a:ext cx="530352" cy="65836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126480" y="2660904"/>
            <a:ext cx="530352" cy="292608"/>
          </a:xfrm>
          <a:prstGeom prst="rect">
            <a:avLst/>
          </a:prstGeom>
          <a:noFill/>
        </p:spPr>
        <p:txBody>
          <a:bodyPr wrap="square">
            <a:spAutoFit/>
          </a:bodyPr>
          <a:lstStyle/>
          <a:p>
            <a:pPr algn="ctr"/>
            <a:r>
              <a:rPr sz="800" b="1">
                <a:solidFill>
                  <a:srgbClr val="F1F5F9"/>
                </a:solidFill>
              </a:rPr>
              <a:t>PASS</a:t>
            </a:r>
          </a:p>
        </p:txBody>
      </p:sp>
      <p:sp>
        <p:nvSpPr>
          <p:cNvPr id="29" name="Rectangle 28"/>
          <p:cNvSpPr/>
          <p:nvPr/>
        </p:nvSpPr>
        <p:spPr>
          <a:xfrm>
            <a:off x="6729984" y="2478024"/>
            <a:ext cx="5029200" cy="65836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821424" y="2523744"/>
            <a:ext cx="4846320" cy="274320"/>
          </a:xfrm>
          <a:prstGeom prst="rect">
            <a:avLst/>
          </a:prstGeom>
          <a:noFill/>
        </p:spPr>
        <p:txBody>
          <a:bodyPr wrap="square">
            <a:spAutoFit/>
          </a:bodyPr>
          <a:lstStyle/>
          <a:p>
            <a:pPr algn="l"/>
            <a:r>
              <a:rPr sz="1100" b="1">
                <a:solidFill>
                  <a:srgbClr val="F1F5F9"/>
                </a:solidFill>
              </a:rPr>
              <a:t>Contains query keyword</a:t>
            </a:r>
          </a:p>
        </p:txBody>
      </p:sp>
      <p:sp>
        <p:nvSpPr>
          <p:cNvPr id="31" name="TextBox 30"/>
          <p:cNvSpPr txBox="1"/>
          <p:nvPr/>
        </p:nvSpPr>
        <p:spPr>
          <a:xfrm>
            <a:off x="6821424" y="2843784"/>
            <a:ext cx="4846320" cy="237744"/>
          </a:xfrm>
          <a:prstGeom prst="rect">
            <a:avLst/>
          </a:prstGeom>
          <a:noFill/>
        </p:spPr>
        <p:txBody>
          <a:bodyPr wrap="square">
            <a:spAutoFit/>
          </a:bodyPr>
          <a:lstStyle/>
          <a:p>
            <a:pPr algn="l"/>
            <a:r>
              <a:rPr sz="900" b="0">
                <a:solidFill>
                  <a:srgbClr val="94A3B8"/>
                </a:solidFill>
              </a:rPr>
              <a:t>Query terms present in LLM output</a:t>
            </a:r>
          </a:p>
        </p:txBody>
      </p:sp>
      <p:sp>
        <p:nvSpPr>
          <p:cNvPr id="32" name="Rectangle 31"/>
          <p:cNvSpPr/>
          <p:nvPr/>
        </p:nvSpPr>
        <p:spPr>
          <a:xfrm>
            <a:off x="6126480" y="3273552"/>
            <a:ext cx="530352" cy="65836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126480" y="3456432"/>
            <a:ext cx="530352" cy="292608"/>
          </a:xfrm>
          <a:prstGeom prst="rect">
            <a:avLst/>
          </a:prstGeom>
          <a:noFill/>
        </p:spPr>
        <p:txBody>
          <a:bodyPr wrap="square">
            <a:spAutoFit/>
          </a:bodyPr>
          <a:lstStyle/>
          <a:p>
            <a:pPr algn="ctr"/>
            <a:r>
              <a:rPr sz="800" b="1">
                <a:solidFill>
                  <a:srgbClr val="F1F5F9"/>
                </a:solidFill>
              </a:rPr>
              <a:t>PASS</a:t>
            </a:r>
          </a:p>
        </p:txBody>
      </p:sp>
      <p:sp>
        <p:nvSpPr>
          <p:cNvPr id="34" name="Rectangle 33"/>
          <p:cNvSpPr/>
          <p:nvPr/>
        </p:nvSpPr>
        <p:spPr>
          <a:xfrm>
            <a:off x="6729984" y="3273552"/>
            <a:ext cx="5029200" cy="65836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821424" y="3319272"/>
            <a:ext cx="4846320" cy="274320"/>
          </a:xfrm>
          <a:prstGeom prst="rect">
            <a:avLst/>
          </a:prstGeom>
          <a:noFill/>
        </p:spPr>
        <p:txBody>
          <a:bodyPr wrap="square">
            <a:spAutoFit/>
          </a:bodyPr>
          <a:lstStyle/>
          <a:p>
            <a:pPr algn="l"/>
            <a:r>
              <a:rPr sz="1100" b="1">
                <a:solidFill>
                  <a:srgbClr val="F1F5F9"/>
                </a:solidFill>
              </a:rPr>
              <a:t>No prompt echo</a:t>
            </a:r>
          </a:p>
        </p:txBody>
      </p:sp>
      <p:sp>
        <p:nvSpPr>
          <p:cNvPr id="36" name="TextBox 35"/>
          <p:cNvSpPr txBox="1"/>
          <p:nvPr/>
        </p:nvSpPr>
        <p:spPr>
          <a:xfrm>
            <a:off x="6821424" y="3639312"/>
            <a:ext cx="4846320" cy="237744"/>
          </a:xfrm>
          <a:prstGeom prst="rect">
            <a:avLst/>
          </a:prstGeom>
          <a:noFill/>
        </p:spPr>
        <p:txBody>
          <a:bodyPr wrap="square">
            <a:spAutoFit/>
          </a:bodyPr>
          <a:lstStyle/>
          <a:p>
            <a:pPr algn="l"/>
            <a:r>
              <a:rPr sz="900" b="0">
                <a:solidFill>
                  <a:srgbClr val="94A3B8"/>
                </a:solidFill>
              </a:rPr>
              <a:t>'Overall Summary:' not in response text</a:t>
            </a:r>
          </a:p>
        </p:txBody>
      </p:sp>
      <p:sp>
        <p:nvSpPr>
          <p:cNvPr id="37" name="Rectangle 36"/>
          <p:cNvSpPr/>
          <p:nvPr/>
        </p:nvSpPr>
        <p:spPr>
          <a:xfrm>
            <a:off x="6126480" y="4069080"/>
            <a:ext cx="530352" cy="658368"/>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126480" y="4251960"/>
            <a:ext cx="530352" cy="292608"/>
          </a:xfrm>
          <a:prstGeom prst="rect">
            <a:avLst/>
          </a:prstGeom>
          <a:noFill/>
        </p:spPr>
        <p:txBody>
          <a:bodyPr wrap="square">
            <a:spAutoFit/>
          </a:bodyPr>
          <a:lstStyle/>
          <a:p>
            <a:pPr algn="ctr"/>
            <a:r>
              <a:rPr sz="800" b="1">
                <a:solidFill>
                  <a:srgbClr val="F1F5F9"/>
                </a:solidFill>
              </a:rPr>
              <a:t>PASS</a:t>
            </a:r>
          </a:p>
        </p:txBody>
      </p:sp>
      <p:sp>
        <p:nvSpPr>
          <p:cNvPr id="39" name="Rectangle 38"/>
          <p:cNvSpPr/>
          <p:nvPr/>
        </p:nvSpPr>
        <p:spPr>
          <a:xfrm>
            <a:off x="6729984" y="4069080"/>
            <a:ext cx="5029200" cy="65836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821424" y="4114800"/>
            <a:ext cx="4846320" cy="274320"/>
          </a:xfrm>
          <a:prstGeom prst="rect">
            <a:avLst/>
          </a:prstGeom>
          <a:noFill/>
        </p:spPr>
        <p:txBody>
          <a:bodyPr wrap="square">
            <a:spAutoFit/>
          </a:bodyPr>
          <a:lstStyle/>
          <a:p>
            <a:pPr algn="l"/>
            <a:r>
              <a:rPr sz="1100" b="1">
                <a:solidFill>
                  <a:srgbClr val="F1F5F9"/>
                </a:solidFill>
              </a:rPr>
              <a:t>Reasonable length</a:t>
            </a:r>
          </a:p>
        </p:txBody>
      </p:sp>
      <p:sp>
        <p:nvSpPr>
          <p:cNvPr id="41" name="TextBox 40"/>
          <p:cNvSpPr txBox="1"/>
          <p:nvPr/>
        </p:nvSpPr>
        <p:spPr>
          <a:xfrm>
            <a:off x="6821424" y="4434840"/>
            <a:ext cx="4846320" cy="237744"/>
          </a:xfrm>
          <a:prstGeom prst="rect">
            <a:avLst/>
          </a:prstGeom>
          <a:noFill/>
        </p:spPr>
        <p:txBody>
          <a:bodyPr wrap="square">
            <a:spAutoFit/>
          </a:bodyPr>
          <a:lstStyle/>
          <a:p>
            <a:pPr algn="l"/>
            <a:r>
              <a:rPr sz="900" b="0">
                <a:solidFill>
                  <a:srgbClr val="94A3B8"/>
                </a:solidFill>
              </a:rPr>
              <a:t>len(response) &lt; 2,000 characters</a:t>
            </a:r>
          </a:p>
        </p:txBody>
      </p:sp>
      <p:sp>
        <p:nvSpPr>
          <p:cNvPr id="42" name="Rectangle 41"/>
          <p:cNvSpPr/>
          <p:nvPr/>
        </p:nvSpPr>
        <p:spPr>
          <a:xfrm>
            <a:off x="6126480" y="4864608"/>
            <a:ext cx="530352" cy="658368"/>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126480" y="5047488"/>
            <a:ext cx="530352" cy="292608"/>
          </a:xfrm>
          <a:prstGeom prst="rect">
            <a:avLst/>
          </a:prstGeom>
          <a:noFill/>
        </p:spPr>
        <p:txBody>
          <a:bodyPr wrap="square">
            <a:spAutoFit/>
          </a:bodyPr>
          <a:lstStyle/>
          <a:p>
            <a:pPr algn="ctr"/>
            <a:r>
              <a:rPr sz="800" b="1">
                <a:solidFill>
                  <a:srgbClr val="F1F5F9"/>
                </a:solidFill>
              </a:rPr>
              <a:t>PASS</a:t>
            </a:r>
          </a:p>
        </p:txBody>
      </p:sp>
      <p:sp>
        <p:nvSpPr>
          <p:cNvPr id="44" name="Rectangle 43"/>
          <p:cNvSpPr/>
          <p:nvPr/>
        </p:nvSpPr>
        <p:spPr>
          <a:xfrm>
            <a:off x="6729984" y="4864608"/>
            <a:ext cx="5029200" cy="65836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821424" y="4910328"/>
            <a:ext cx="4846320" cy="274320"/>
          </a:xfrm>
          <a:prstGeom prst="rect">
            <a:avLst/>
          </a:prstGeom>
          <a:noFill/>
        </p:spPr>
        <p:txBody>
          <a:bodyPr wrap="square">
            <a:spAutoFit/>
          </a:bodyPr>
          <a:lstStyle/>
          <a:p>
            <a:pPr algn="l"/>
            <a:r>
              <a:rPr sz="1100" b="1">
                <a:solidFill>
                  <a:srgbClr val="F1F5F9"/>
                </a:solidFill>
              </a:rPr>
              <a:t>Articles fetched</a:t>
            </a:r>
          </a:p>
        </p:txBody>
      </p:sp>
      <p:sp>
        <p:nvSpPr>
          <p:cNvPr id="46" name="TextBox 45"/>
          <p:cNvSpPr txBox="1"/>
          <p:nvPr/>
        </p:nvSpPr>
        <p:spPr>
          <a:xfrm>
            <a:off x="6821424" y="5230368"/>
            <a:ext cx="4846320" cy="237744"/>
          </a:xfrm>
          <a:prstGeom prst="rect">
            <a:avLst/>
          </a:prstGeom>
          <a:noFill/>
        </p:spPr>
        <p:txBody>
          <a:bodyPr wrap="square">
            <a:spAutoFit/>
          </a:bodyPr>
          <a:lstStyle/>
          <a:p>
            <a:pPr algn="l"/>
            <a:r>
              <a:rPr sz="900" b="0">
                <a:solidFill>
                  <a:srgbClr val="94A3B8"/>
                </a:solidFill>
              </a:rPr>
              <a:t>NewsAPI returns at least 1 article</a:t>
            </a:r>
          </a:p>
        </p:txBody>
      </p:sp>
      <p:sp>
        <p:nvSpPr>
          <p:cNvPr id="47" name="Rectangle 46"/>
          <p:cNvSpPr/>
          <p:nvPr/>
        </p:nvSpPr>
        <p:spPr>
          <a:xfrm>
            <a:off x="6126480" y="5660136"/>
            <a:ext cx="530352" cy="65836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126480" y="5843016"/>
            <a:ext cx="530352" cy="292608"/>
          </a:xfrm>
          <a:prstGeom prst="rect">
            <a:avLst/>
          </a:prstGeom>
          <a:noFill/>
        </p:spPr>
        <p:txBody>
          <a:bodyPr wrap="square">
            <a:spAutoFit/>
          </a:bodyPr>
          <a:lstStyle/>
          <a:p>
            <a:pPr algn="ctr"/>
            <a:r>
              <a:rPr sz="800" b="1">
                <a:solidFill>
                  <a:srgbClr val="F1F5F9"/>
                </a:solidFill>
              </a:rPr>
              <a:t>PASS</a:t>
            </a:r>
          </a:p>
        </p:txBody>
      </p:sp>
      <p:sp>
        <p:nvSpPr>
          <p:cNvPr id="49" name="Rectangle 48"/>
          <p:cNvSpPr/>
          <p:nvPr/>
        </p:nvSpPr>
        <p:spPr>
          <a:xfrm>
            <a:off x="6729984" y="5660136"/>
            <a:ext cx="5029200" cy="65836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821424" y="5705855"/>
            <a:ext cx="4846320" cy="274320"/>
          </a:xfrm>
          <a:prstGeom prst="rect">
            <a:avLst/>
          </a:prstGeom>
          <a:noFill/>
        </p:spPr>
        <p:txBody>
          <a:bodyPr wrap="square">
            <a:spAutoFit/>
          </a:bodyPr>
          <a:lstStyle/>
          <a:p>
            <a:pPr algn="l"/>
            <a:r>
              <a:rPr sz="1100" b="1">
                <a:solidFill>
                  <a:srgbClr val="F1F5F9"/>
                </a:solidFill>
              </a:rPr>
              <a:t>Descriptions available</a:t>
            </a:r>
          </a:p>
        </p:txBody>
      </p:sp>
      <p:sp>
        <p:nvSpPr>
          <p:cNvPr id="51" name="TextBox 50"/>
          <p:cNvSpPr txBox="1"/>
          <p:nvPr/>
        </p:nvSpPr>
        <p:spPr>
          <a:xfrm>
            <a:off x="6821424" y="6025896"/>
            <a:ext cx="4846320" cy="237744"/>
          </a:xfrm>
          <a:prstGeom prst="rect">
            <a:avLst/>
          </a:prstGeom>
          <a:noFill/>
        </p:spPr>
        <p:txBody>
          <a:bodyPr wrap="square">
            <a:spAutoFit/>
          </a:bodyPr>
          <a:lstStyle/>
          <a:p>
            <a:pPr algn="l"/>
            <a:r>
              <a:rPr sz="900" b="0">
                <a:solidFill>
                  <a:srgbClr val="94A3B8"/>
                </a:solidFill>
              </a:rPr>
              <a:t>At least 1 non-null description extracted</a:t>
            </a:r>
          </a:p>
        </p:txBody>
      </p:sp>
      <p:sp>
        <p:nvSpPr>
          <p:cNvPr id="52" name="Rectangle 51"/>
          <p:cNvSpPr/>
          <p:nvPr/>
        </p:nvSpPr>
        <p:spPr>
          <a:xfrm>
            <a:off x="320040" y="6446520"/>
            <a:ext cx="11521440" cy="347472"/>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457200" y="6492240"/>
            <a:ext cx="11155680" cy="256032"/>
          </a:xfrm>
          <a:prstGeom prst="rect">
            <a:avLst/>
          </a:prstGeom>
          <a:noFill/>
        </p:spPr>
        <p:txBody>
          <a:bodyPr wrap="square">
            <a:spAutoFit/>
          </a:bodyPr>
          <a:lstStyle/>
          <a:p>
            <a:pPr algn="l"/>
            <a:r>
              <a:rPr sz="1000" b="0">
                <a:solidFill>
                  <a:srgbClr val="F59E0B"/>
                </a:solidFill>
              </a:rPr>
              <a:t>Approach: run_pipeline() called for each query; all 6 checks evaluated programmatically in the Jupyter notebook.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82296"/>
            <a:ext cx="11521440" cy="548640"/>
          </a:xfrm>
          <a:prstGeom prst="rect">
            <a:avLst/>
          </a:prstGeom>
          <a:noFill/>
        </p:spPr>
        <p:txBody>
          <a:bodyPr wrap="square">
            <a:spAutoFit/>
          </a:bodyPr>
          <a:lstStyle/>
          <a:p>
            <a:pPr algn="l"/>
            <a:r>
              <a:rPr sz="2600" b="1">
                <a:solidFill>
                  <a:srgbClr val="F1F5F9"/>
                </a:solidFill>
              </a:rPr>
              <a:t>Project Structure &amp; Code Architecture</a:t>
            </a:r>
          </a:p>
        </p:txBody>
      </p:sp>
      <p:sp>
        <p:nvSpPr>
          <p:cNvPr id="4" name="TextBox 3"/>
          <p:cNvSpPr txBox="1"/>
          <p:nvPr/>
        </p:nvSpPr>
        <p:spPr>
          <a:xfrm>
            <a:off x="274320" y="658368"/>
            <a:ext cx="11521440" cy="347472"/>
          </a:xfrm>
          <a:prstGeom prst="rect">
            <a:avLst/>
          </a:prstGeom>
          <a:noFill/>
        </p:spPr>
        <p:txBody>
          <a:bodyPr wrap="square">
            <a:spAutoFit/>
          </a:bodyPr>
          <a:lstStyle/>
          <a:p>
            <a:pPr algn="l"/>
            <a:r>
              <a:rPr sz="1100" b="0">
                <a:solidFill>
                  <a:srgbClr val="94A3B8"/>
                </a:solidFill>
              </a:rPr>
              <a:t>Phase 6: File layout, component roles, and module exports</a:t>
            </a:r>
          </a:p>
        </p:txBody>
      </p:sp>
      <p:sp>
        <p:nvSpPr>
          <p:cNvPr id="5" name="Rectangle 4"/>
          <p:cNvSpPr/>
          <p:nvPr/>
        </p:nvSpPr>
        <p:spPr>
          <a:xfrm>
            <a:off x="320040" y="1188720"/>
            <a:ext cx="5029200" cy="52120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280160"/>
            <a:ext cx="4754880" cy="292608"/>
          </a:xfrm>
          <a:prstGeom prst="rect">
            <a:avLst/>
          </a:prstGeom>
          <a:noFill/>
        </p:spPr>
        <p:txBody>
          <a:bodyPr wrap="square">
            <a:spAutoFit/>
          </a:bodyPr>
          <a:lstStyle/>
          <a:p>
            <a:pPr algn="l"/>
            <a:r>
              <a:rPr sz="1100" b="1">
                <a:solidFill>
                  <a:srgbClr val="6366F1"/>
                </a:solidFill>
              </a:rPr>
              <a:t>Project File Structure</a:t>
            </a:r>
          </a:p>
        </p:txBody>
      </p:sp>
      <p:sp>
        <p:nvSpPr>
          <p:cNvPr id="7" name="Rectangle 6"/>
          <p:cNvSpPr/>
          <p:nvPr/>
        </p:nvSpPr>
        <p:spPr>
          <a:xfrm>
            <a:off x="411480" y="1682496"/>
            <a:ext cx="4800600" cy="4937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783080"/>
            <a:ext cx="3063240" cy="292608"/>
          </a:xfrm>
          <a:prstGeom prst="rect">
            <a:avLst/>
          </a:prstGeom>
          <a:noFill/>
        </p:spPr>
        <p:txBody>
          <a:bodyPr wrap="square">
            <a:spAutoFit/>
          </a:bodyPr>
          <a:lstStyle/>
          <a:p>
            <a:pPr algn="l"/>
            <a:r>
              <a:rPr sz="1000" b="1">
                <a:solidFill>
                  <a:srgbClr val="F59E0B"/>
                </a:solidFill>
              </a:rPr>
              <a:t>Project9/</a:t>
            </a:r>
          </a:p>
        </p:txBody>
      </p:sp>
      <p:sp>
        <p:nvSpPr>
          <p:cNvPr id="9" name="Rectangle 8"/>
          <p:cNvSpPr/>
          <p:nvPr/>
        </p:nvSpPr>
        <p:spPr>
          <a:xfrm>
            <a:off x="411480" y="2249424"/>
            <a:ext cx="4800600" cy="49377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2350008"/>
            <a:ext cx="3063240" cy="292608"/>
          </a:xfrm>
          <a:prstGeom prst="rect">
            <a:avLst/>
          </a:prstGeom>
          <a:noFill/>
        </p:spPr>
        <p:txBody>
          <a:bodyPr wrap="square">
            <a:spAutoFit/>
          </a:bodyPr>
          <a:lstStyle/>
          <a:p>
            <a:pPr algn="l"/>
            <a:r>
              <a:rPr sz="1000" b="0">
                <a:solidFill>
                  <a:srgbClr val="F1F5F9"/>
                </a:solidFill>
              </a:rPr>
              <a:t>   app.py</a:t>
            </a:r>
          </a:p>
        </p:txBody>
      </p:sp>
      <p:sp>
        <p:nvSpPr>
          <p:cNvPr id="11" name="TextBox 10"/>
          <p:cNvSpPr txBox="1"/>
          <p:nvPr/>
        </p:nvSpPr>
        <p:spPr>
          <a:xfrm>
            <a:off x="3611880" y="2350008"/>
            <a:ext cx="1554480" cy="292608"/>
          </a:xfrm>
          <a:prstGeom prst="rect">
            <a:avLst/>
          </a:prstGeom>
          <a:noFill/>
        </p:spPr>
        <p:txBody>
          <a:bodyPr wrap="square">
            <a:spAutoFit/>
          </a:bodyPr>
          <a:lstStyle/>
          <a:p>
            <a:pPr algn="l"/>
            <a:r>
              <a:rPr sz="800" b="0">
                <a:solidFill>
                  <a:srgbClr val="94A3B8"/>
                </a:solidFill>
              </a:rPr>
              <a:t>Streamlit web UI</a:t>
            </a:r>
          </a:p>
        </p:txBody>
      </p:sp>
      <p:sp>
        <p:nvSpPr>
          <p:cNvPr id="12" name="Rectangle 11"/>
          <p:cNvSpPr/>
          <p:nvPr/>
        </p:nvSpPr>
        <p:spPr>
          <a:xfrm>
            <a:off x="411480" y="2816352"/>
            <a:ext cx="4800600" cy="49377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2916936"/>
            <a:ext cx="3063240" cy="292608"/>
          </a:xfrm>
          <a:prstGeom prst="rect">
            <a:avLst/>
          </a:prstGeom>
          <a:noFill/>
        </p:spPr>
        <p:txBody>
          <a:bodyPr wrap="square">
            <a:spAutoFit/>
          </a:bodyPr>
          <a:lstStyle/>
          <a:p>
            <a:pPr algn="l"/>
            <a:r>
              <a:rPr sz="1000" b="0">
                <a:solidFill>
                  <a:srgbClr val="F1F5F9"/>
                </a:solidFill>
              </a:rPr>
              <a:t>   langchain_config.py</a:t>
            </a:r>
          </a:p>
        </p:txBody>
      </p:sp>
      <p:sp>
        <p:nvSpPr>
          <p:cNvPr id="14" name="TextBox 13"/>
          <p:cNvSpPr txBox="1"/>
          <p:nvPr/>
        </p:nvSpPr>
        <p:spPr>
          <a:xfrm>
            <a:off x="3611880" y="2916936"/>
            <a:ext cx="1554480" cy="292608"/>
          </a:xfrm>
          <a:prstGeom prst="rect">
            <a:avLst/>
          </a:prstGeom>
          <a:noFill/>
        </p:spPr>
        <p:txBody>
          <a:bodyPr wrap="square">
            <a:spAutoFit/>
          </a:bodyPr>
          <a:lstStyle/>
          <a:p>
            <a:pPr algn="l"/>
            <a:r>
              <a:rPr sz="800" b="0">
                <a:solidFill>
                  <a:srgbClr val="94A3B8"/>
                </a:solidFill>
              </a:rPr>
              <a:t>Core LangChain + NewsAPI logic</a:t>
            </a:r>
          </a:p>
        </p:txBody>
      </p:sp>
      <p:sp>
        <p:nvSpPr>
          <p:cNvPr id="15" name="Rectangle 14"/>
          <p:cNvSpPr/>
          <p:nvPr/>
        </p:nvSpPr>
        <p:spPr>
          <a:xfrm>
            <a:off x="411480" y="3383280"/>
            <a:ext cx="4800600" cy="49377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 y="3483864"/>
            <a:ext cx="3063240" cy="292608"/>
          </a:xfrm>
          <a:prstGeom prst="rect">
            <a:avLst/>
          </a:prstGeom>
          <a:noFill/>
        </p:spPr>
        <p:txBody>
          <a:bodyPr wrap="square">
            <a:spAutoFit/>
          </a:bodyPr>
          <a:lstStyle/>
          <a:p>
            <a:pPr algn="l"/>
            <a:r>
              <a:rPr sz="1000" b="0">
                <a:solidFill>
                  <a:srgbClr val="F1F5F9"/>
                </a:solidFill>
              </a:rPr>
              <a:t>   news_research_tool.ipynb</a:t>
            </a:r>
          </a:p>
        </p:txBody>
      </p:sp>
      <p:sp>
        <p:nvSpPr>
          <p:cNvPr id="17" name="TextBox 16"/>
          <p:cNvSpPr txBox="1"/>
          <p:nvPr/>
        </p:nvSpPr>
        <p:spPr>
          <a:xfrm>
            <a:off x="3611880" y="3483864"/>
            <a:ext cx="1554480" cy="292608"/>
          </a:xfrm>
          <a:prstGeom prst="rect">
            <a:avLst/>
          </a:prstGeom>
          <a:noFill/>
        </p:spPr>
        <p:txBody>
          <a:bodyPr wrap="square">
            <a:spAutoFit/>
          </a:bodyPr>
          <a:lstStyle/>
          <a:p>
            <a:pPr algn="l"/>
            <a:r>
              <a:rPr sz="800" b="0">
                <a:solidFill>
                  <a:srgbClr val="94A3B8"/>
                </a:solidFill>
              </a:rPr>
              <a:t>Jupyter dev &amp; test notebook</a:t>
            </a:r>
          </a:p>
        </p:txBody>
      </p:sp>
      <p:sp>
        <p:nvSpPr>
          <p:cNvPr id="18" name="Rectangle 17"/>
          <p:cNvSpPr/>
          <p:nvPr/>
        </p:nvSpPr>
        <p:spPr>
          <a:xfrm>
            <a:off x="411480" y="3950208"/>
            <a:ext cx="4800600" cy="49377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 y="4050792"/>
            <a:ext cx="3063240" cy="292608"/>
          </a:xfrm>
          <a:prstGeom prst="rect">
            <a:avLst/>
          </a:prstGeom>
          <a:noFill/>
        </p:spPr>
        <p:txBody>
          <a:bodyPr wrap="square">
            <a:spAutoFit/>
          </a:bodyPr>
          <a:lstStyle/>
          <a:p>
            <a:pPr algn="l"/>
            <a:r>
              <a:rPr sz="1000" b="0">
                <a:solidFill>
                  <a:srgbClr val="F1F5F9"/>
                </a:solidFill>
              </a:rPr>
              <a:t>   requirements.txt</a:t>
            </a:r>
          </a:p>
        </p:txBody>
      </p:sp>
      <p:sp>
        <p:nvSpPr>
          <p:cNvPr id="20" name="TextBox 19"/>
          <p:cNvSpPr txBox="1"/>
          <p:nvPr/>
        </p:nvSpPr>
        <p:spPr>
          <a:xfrm>
            <a:off x="3611880" y="4050792"/>
            <a:ext cx="1554480" cy="292608"/>
          </a:xfrm>
          <a:prstGeom prst="rect">
            <a:avLst/>
          </a:prstGeom>
          <a:noFill/>
        </p:spPr>
        <p:txBody>
          <a:bodyPr wrap="square">
            <a:spAutoFit/>
          </a:bodyPr>
          <a:lstStyle/>
          <a:p>
            <a:pPr algn="l"/>
            <a:r>
              <a:rPr sz="800" b="0">
                <a:solidFill>
                  <a:srgbClr val="94A3B8"/>
                </a:solidFill>
              </a:rPr>
              <a:t>Pinned package list</a:t>
            </a:r>
          </a:p>
        </p:txBody>
      </p:sp>
      <p:sp>
        <p:nvSpPr>
          <p:cNvPr id="21" name="Rectangle 20"/>
          <p:cNvSpPr/>
          <p:nvPr/>
        </p:nvSpPr>
        <p:spPr>
          <a:xfrm>
            <a:off x="411480" y="4517136"/>
            <a:ext cx="4800600" cy="49377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02920" y="4617720"/>
            <a:ext cx="3063240" cy="292608"/>
          </a:xfrm>
          <a:prstGeom prst="rect">
            <a:avLst/>
          </a:prstGeom>
          <a:noFill/>
        </p:spPr>
        <p:txBody>
          <a:bodyPr wrap="square">
            <a:spAutoFit/>
          </a:bodyPr>
          <a:lstStyle/>
          <a:p>
            <a:pPr algn="l"/>
            <a:r>
              <a:rPr sz="1000" b="0">
                <a:solidFill>
                  <a:srgbClr val="F1F5F9"/>
                </a:solidFill>
              </a:rPr>
              <a:t>   .env</a:t>
            </a:r>
          </a:p>
        </p:txBody>
      </p:sp>
      <p:sp>
        <p:nvSpPr>
          <p:cNvPr id="23" name="TextBox 22"/>
          <p:cNvSpPr txBox="1"/>
          <p:nvPr/>
        </p:nvSpPr>
        <p:spPr>
          <a:xfrm>
            <a:off x="3611880" y="4617720"/>
            <a:ext cx="1554480" cy="292608"/>
          </a:xfrm>
          <a:prstGeom prst="rect">
            <a:avLst/>
          </a:prstGeom>
          <a:noFill/>
        </p:spPr>
        <p:txBody>
          <a:bodyPr wrap="square">
            <a:spAutoFit/>
          </a:bodyPr>
          <a:lstStyle/>
          <a:p>
            <a:pPr algn="l"/>
            <a:r>
              <a:rPr sz="800" b="0">
                <a:solidFill>
                  <a:srgbClr val="94A3B8"/>
                </a:solidFill>
              </a:rPr>
              <a:t>API keys (not committed)</a:t>
            </a:r>
          </a:p>
        </p:txBody>
      </p:sp>
      <p:sp>
        <p:nvSpPr>
          <p:cNvPr id="24" name="Rectangle 23"/>
          <p:cNvSpPr/>
          <p:nvPr/>
        </p:nvSpPr>
        <p:spPr>
          <a:xfrm>
            <a:off x="411480" y="5084064"/>
            <a:ext cx="4800600" cy="49377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02920" y="5184648"/>
            <a:ext cx="3063240" cy="292608"/>
          </a:xfrm>
          <a:prstGeom prst="rect">
            <a:avLst/>
          </a:prstGeom>
          <a:noFill/>
        </p:spPr>
        <p:txBody>
          <a:bodyPr wrap="square">
            <a:spAutoFit/>
          </a:bodyPr>
          <a:lstStyle/>
          <a:p>
            <a:pPr algn="l"/>
            <a:r>
              <a:rPr sz="1000" b="0">
                <a:solidFill>
                  <a:srgbClr val="F1F5F9"/>
                </a:solidFill>
              </a:rPr>
              <a:t>   env.example</a:t>
            </a:r>
          </a:p>
        </p:txBody>
      </p:sp>
      <p:sp>
        <p:nvSpPr>
          <p:cNvPr id="26" name="TextBox 25"/>
          <p:cNvSpPr txBox="1"/>
          <p:nvPr/>
        </p:nvSpPr>
        <p:spPr>
          <a:xfrm>
            <a:off x="3611880" y="5184648"/>
            <a:ext cx="1554480" cy="292608"/>
          </a:xfrm>
          <a:prstGeom prst="rect">
            <a:avLst/>
          </a:prstGeom>
          <a:noFill/>
        </p:spPr>
        <p:txBody>
          <a:bodyPr wrap="square">
            <a:spAutoFit/>
          </a:bodyPr>
          <a:lstStyle/>
          <a:p>
            <a:pPr algn="l"/>
            <a:r>
              <a:rPr sz="800" b="0">
                <a:solidFill>
                  <a:srgbClr val="94A3B8"/>
                </a:solidFill>
              </a:rPr>
              <a:t>Key template for new users</a:t>
            </a:r>
          </a:p>
        </p:txBody>
      </p:sp>
      <p:sp>
        <p:nvSpPr>
          <p:cNvPr id="27" name="Rectangle 26"/>
          <p:cNvSpPr/>
          <p:nvPr/>
        </p:nvSpPr>
        <p:spPr>
          <a:xfrm>
            <a:off x="411480" y="5650992"/>
            <a:ext cx="4800600" cy="49377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02920" y="5751576"/>
            <a:ext cx="3063240" cy="292608"/>
          </a:xfrm>
          <a:prstGeom prst="rect">
            <a:avLst/>
          </a:prstGeom>
          <a:noFill/>
        </p:spPr>
        <p:txBody>
          <a:bodyPr wrap="square">
            <a:spAutoFit/>
          </a:bodyPr>
          <a:lstStyle/>
          <a:p>
            <a:pPr algn="l"/>
            <a:r>
              <a:rPr sz="1000" b="0">
                <a:solidFill>
                  <a:srgbClr val="F1F5F9"/>
                </a:solidFill>
              </a:rPr>
              <a:t>   README.md</a:t>
            </a:r>
          </a:p>
        </p:txBody>
      </p:sp>
      <p:sp>
        <p:nvSpPr>
          <p:cNvPr id="29" name="TextBox 28"/>
          <p:cNvSpPr txBox="1"/>
          <p:nvPr/>
        </p:nvSpPr>
        <p:spPr>
          <a:xfrm>
            <a:off x="3611880" y="5751576"/>
            <a:ext cx="1554480" cy="292608"/>
          </a:xfrm>
          <a:prstGeom prst="rect">
            <a:avLst/>
          </a:prstGeom>
          <a:noFill/>
        </p:spPr>
        <p:txBody>
          <a:bodyPr wrap="square">
            <a:spAutoFit/>
          </a:bodyPr>
          <a:lstStyle/>
          <a:p>
            <a:pPr algn="l"/>
            <a:r>
              <a:rPr sz="800" b="0">
                <a:solidFill>
                  <a:srgbClr val="94A3B8"/>
                </a:solidFill>
              </a:rPr>
              <a:t>Setup, usage, architecture</a:t>
            </a:r>
          </a:p>
        </p:txBody>
      </p:sp>
      <p:sp>
        <p:nvSpPr>
          <p:cNvPr id="30" name="Rectangle 29"/>
          <p:cNvSpPr/>
          <p:nvPr/>
        </p:nvSpPr>
        <p:spPr>
          <a:xfrm>
            <a:off x="5577840" y="1188720"/>
            <a:ext cx="6309360" cy="24231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715000" y="1280160"/>
            <a:ext cx="6035040" cy="292608"/>
          </a:xfrm>
          <a:prstGeom prst="rect">
            <a:avLst/>
          </a:prstGeom>
          <a:noFill/>
        </p:spPr>
        <p:txBody>
          <a:bodyPr wrap="square">
            <a:spAutoFit/>
          </a:bodyPr>
          <a:lstStyle/>
          <a:p>
            <a:pPr algn="l"/>
            <a:r>
              <a:rPr sz="1100" b="1">
                <a:solidFill>
                  <a:srgbClr val="F59E0B"/>
                </a:solidFill>
              </a:rPr>
              <a:t>langchain_config.py — Exports</a:t>
            </a:r>
          </a:p>
        </p:txBody>
      </p:sp>
      <p:sp>
        <p:nvSpPr>
          <p:cNvPr id="32" name="TextBox 31"/>
          <p:cNvSpPr txBox="1"/>
          <p:nvPr/>
        </p:nvSpPr>
        <p:spPr>
          <a:xfrm>
            <a:off x="5715000" y="1682496"/>
            <a:ext cx="2651760" cy="237744"/>
          </a:xfrm>
          <a:prstGeom prst="rect">
            <a:avLst/>
          </a:prstGeom>
          <a:noFill/>
        </p:spPr>
        <p:txBody>
          <a:bodyPr wrap="square">
            <a:spAutoFit/>
          </a:bodyPr>
          <a:lstStyle/>
          <a:p>
            <a:pPr algn="l"/>
            <a:r>
              <a:rPr sz="900" b="1">
                <a:solidFill>
                  <a:srgbClr val="F59E0B"/>
                </a:solidFill>
              </a:rPr>
              <a:t>llm</a:t>
            </a:r>
          </a:p>
        </p:txBody>
      </p:sp>
      <p:sp>
        <p:nvSpPr>
          <p:cNvPr id="33" name="TextBox 32"/>
          <p:cNvSpPr txBox="1"/>
          <p:nvPr/>
        </p:nvSpPr>
        <p:spPr>
          <a:xfrm>
            <a:off x="8458200" y="1682496"/>
            <a:ext cx="3291840" cy="237744"/>
          </a:xfrm>
          <a:prstGeom prst="rect">
            <a:avLst/>
          </a:prstGeom>
          <a:noFill/>
        </p:spPr>
        <p:txBody>
          <a:bodyPr wrap="square">
            <a:spAutoFit/>
          </a:bodyPr>
          <a:lstStyle/>
          <a:p>
            <a:pPr algn="l"/>
            <a:r>
              <a:rPr sz="900" b="0">
                <a:solidFill>
                  <a:srgbClr val="94A3B8"/>
                </a:solidFill>
              </a:rPr>
              <a:t>OpenAI(api_key=..., temperature=0.7)</a:t>
            </a:r>
          </a:p>
        </p:txBody>
      </p:sp>
      <p:sp>
        <p:nvSpPr>
          <p:cNvPr id="34" name="TextBox 33"/>
          <p:cNvSpPr txBox="1"/>
          <p:nvPr/>
        </p:nvSpPr>
        <p:spPr>
          <a:xfrm>
            <a:off x="5715000" y="1975104"/>
            <a:ext cx="2651760" cy="237744"/>
          </a:xfrm>
          <a:prstGeom prst="rect">
            <a:avLst/>
          </a:prstGeom>
          <a:noFill/>
        </p:spPr>
        <p:txBody>
          <a:bodyPr wrap="square">
            <a:spAutoFit/>
          </a:bodyPr>
          <a:lstStyle/>
          <a:p>
            <a:pPr algn="l"/>
            <a:r>
              <a:rPr sz="900" b="1">
                <a:solidFill>
                  <a:srgbClr val="F59E0B"/>
                </a:solidFill>
              </a:rPr>
              <a:t>prompt</a:t>
            </a:r>
          </a:p>
        </p:txBody>
      </p:sp>
      <p:sp>
        <p:nvSpPr>
          <p:cNvPr id="35" name="TextBox 34"/>
          <p:cNvSpPr txBox="1"/>
          <p:nvPr/>
        </p:nvSpPr>
        <p:spPr>
          <a:xfrm>
            <a:off x="8458200" y="1975104"/>
            <a:ext cx="3291840" cy="237744"/>
          </a:xfrm>
          <a:prstGeom prst="rect">
            <a:avLst/>
          </a:prstGeom>
          <a:noFill/>
        </p:spPr>
        <p:txBody>
          <a:bodyPr wrap="square">
            <a:spAutoFit/>
          </a:bodyPr>
          <a:lstStyle/>
          <a:p>
            <a:pPr algn="l"/>
            <a:r>
              <a:rPr sz="900" b="0">
                <a:solidFill>
                  <a:srgbClr val="94A3B8"/>
                </a:solidFill>
              </a:rPr>
              <a:t>PromptTemplate({query}, {summaries})</a:t>
            </a:r>
          </a:p>
        </p:txBody>
      </p:sp>
      <p:sp>
        <p:nvSpPr>
          <p:cNvPr id="36" name="TextBox 35"/>
          <p:cNvSpPr txBox="1"/>
          <p:nvPr/>
        </p:nvSpPr>
        <p:spPr>
          <a:xfrm>
            <a:off x="5715000" y="2267712"/>
            <a:ext cx="2651760" cy="237744"/>
          </a:xfrm>
          <a:prstGeom prst="rect">
            <a:avLst/>
          </a:prstGeom>
          <a:noFill/>
        </p:spPr>
        <p:txBody>
          <a:bodyPr wrap="square">
            <a:spAutoFit/>
          </a:bodyPr>
          <a:lstStyle/>
          <a:p>
            <a:pPr algn="l"/>
            <a:r>
              <a:rPr sz="900" b="1">
                <a:solidFill>
                  <a:srgbClr val="F59E0B"/>
                </a:solidFill>
              </a:rPr>
              <a:t>chain</a:t>
            </a:r>
          </a:p>
        </p:txBody>
      </p:sp>
      <p:sp>
        <p:nvSpPr>
          <p:cNvPr id="37" name="TextBox 36"/>
          <p:cNvSpPr txBox="1"/>
          <p:nvPr/>
        </p:nvSpPr>
        <p:spPr>
          <a:xfrm>
            <a:off x="8458200" y="2267712"/>
            <a:ext cx="3291840" cy="237744"/>
          </a:xfrm>
          <a:prstGeom prst="rect">
            <a:avLst/>
          </a:prstGeom>
          <a:noFill/>
        </p:spPr>
        <p:txBody>
          <a:bodyPr wrap="square">
            <a:spAutoFit/>
          </a:bodyPr>
          <a:lstStyle/>
          <a:p>
            <a:pPr algn="l"/>
            <a:r>
              <a:rPr sz="900" b="0">
                <a:solidFill>
                  <a:srgbClr val="94A3B8"/>
                </a:solidFill>
              </a:rPr>
              <a:t>prompt | llm  (LCEL pipe chain)</a:t>
            </a:r>
          </a:p>
        </p:txBody>
      </p:sp>
      <p:sp>
        <p:nvSpPr>
          <p:cNvPr id="38" name="TextBox 37"/>
          <p:cNvSpPr txBox="1"/>
          <p:nvPr/>
        </p:nvSpPr>
        <p:spPr>
          <a:xfrm>
            <a:off x="5715000" y="2560320"/>
            <a:ext cx="2651760" cy="237744"/>
          </a:xfrm>
          <a:prstGeom prst="rect">
            <a:avLst/>
          </a:prstGeom>
          <a:noFill/>
        </p:spPr>
        <p:txBody>
          <a:bodyPr wrap="square">
            <a:spAutoFit/>
          </a:bodyPr>
          <a:lstStyle/>
          <a:p>
            <a:pPr algn="l"/>
            <a:r>
              <a:rPr sz="900" b="1">
                <a:solidFill>
                  <a:srgbClr val="F59E0B"/>
                </a:solidFill>
              </a:rPr>
              <a:t>get_news_articles(q)</a:t>
            </a:r>
          </a:p>
        </p:txBody>
      </p:sp>
      <p:sp>
        <p:nvSpPr>
          <p:cNvPr id="39" name="TextBox 38"/>
          <p:cNvSpPr txBox="1"/>
          <p:nvPr/>
        </p:nvSpPr>
        <p:spPr>
          <a:xfrm>
            <a:off x="8458200" y="2560320"/>
            <a:ext cx="3291840" cy="237744"/>
          </a:xfrm>
          <a:prstGeom prst="rect">
            <a:avLst/>
          </a:prstGeom>
          <a:noFill/>
        </p:spPr>
        <p:txBody>
          <a:bodyPr wrap="square">
            <a:spAutoFit/>
          </a:bodyPr>
          <a:lstStyle/>
          <a:p>
            <a:pPr algn="l"/>
            <a:r>
              <a:rPr sz="900" b="0">
                <a:solidFill>
                  <a:srgbClr val="94A3B8"/>
                </a:solidFill>
              </a:rPr>
              <a:t>Fetch articles from NewsAPI</a:t>
            </a:r>
          </a:p>
        </p:txBody>
      </p:sp>
      <p:sp>
        <p:nvSpPr>
          <p:cNvPr id="40" name="TextBox 39"/>
          <p:cNvSpPr txBox="1"/>
          <p:nvPr/>
        </p:nvSpPr>
        <p:spPr>
          <a:xfrm>
            <a:off x="5715000" y="2852928"/>
            <a:ext cx="2651760" cy="237744"/>
          </a:xfrm>
          <a:prstGeom prst="rect">
            <a:avLst/>
          </a:prstGeom>
          <a:noFill/>
        </p:spPr>
        <p:txBody>
          <a:bodyPr wrap="square">
            <a:spAutoFit/>
          </a:bodyPr>
          <a:lstStyle/>
          <a:p>
            <a:pPr algn="l"/>
            <a:r>
              <a:rPr sz="900" b="1">
                <a:solidFill>
                  <a:srgbClr val="F59E0B"/>
                </a:solidFill>
              </a:rPr>
              <a:t>summarize_articles(a)</a:t>
            </a:r>
          </a:p>
        </p:txBody>
      </p:sp>
      <p:sp>
        <p:nvSpPr>
          <p:cNvPr id="41" name="TextBox 40"/>
          <p:cNvSpPr txBox="1"/>
          <p:nvPr/>
        </p:nvSpPr>
        <p:spPr>
          <a:xfrm>
            <a:off x="8458200" y="2852928"/>
            <a:ext cx="3291840" cy="237744"/>
          </a:xfrm>
          <a:prstGeom prst="rect">
            <a:avLst/>
          </a:prstGeom>
          <a:noFill/>
        </p:spPr>
        <p:txBody>
          <a:bodyPr wrap="square">
            <a:spAutoFit/>
          </a:bodyPr>
          <a:lstStyle/>
          <a:p>
            <a:pPr algn="l"/>
            <a:r>
              <a:rPr sz="900" b="0">
                <a:solidFill>
                  <a:srgbClr val="94A3B8"/>
                </a:solidFill>
              </a:rPr>
              <a:t>Extract + join descriptions</a:t>
            </a:r>
          </a:p>
        </p:txBody>
      </p:sp>
      <p:sp>
        <p:nvSpPr>
          <p:cNvPr id="42" name="TextBox 41"/>
          <p:cNvSpPr txBox="1"/>
          <p:nvPr/>
        </p:nvSpPr>
        <p:spPr>
          <a:xfrm>
            <a:off x="5715000" y="3145536"/>
            <a:ext cx="2651760" cy="237744"/>
          </a:xfrm>
          <a:prstGeom prst="rect">
            <a:avLst/>
          </a:prstGeom>
          <a:noFill/>
        </p:spPr>
        <p:txBody>
          <a:bodyPr wrap="square">
            <a:spAutoFit/>
          </a:bodyPr>
          <a:lstStyle/>
          <a:p>
            <a:pPr algn="l"/>
            <a:r>
              <a:rPr sz="900" b="1">
                <a:solidFill>
                  <a:srgbClr val="F59E0B"/>
                </a:solidFill>
              </a:rPr>
              <a:t>get_summary(q)</a:t>
            </a:r>
          </a:p>
        </p:txBody>
      </p:sp>
      <p:sp>
        <p:nvSpPr>
          <p:cNvPr id="43" name="TextBox 42"/>
          <p:cNvSpPr txBox="1"/>
          <p:nvPr/>
        </p:nvSpPr>
        <p:spPr>
          <a:xfrm>
            <a:off x="8458200" y="3145536"/>
            <a:ext cx="3291840" cy="237744"/>
          </a:xfrm>
          <a:prstGeom prst="rect">
            <a:avLst/>
          </a:prstGeom>
          <a:noFill/>
        </p:spPr>
        <p:txBody>
          <a:bodyPr wrap="square">
            <a:spAutoFit/>
          </a:bodyPr>
          <a:lstStyle/>
          <a:p>
            <a:pPr algn="l"/>
            <a:r>
              <a:rPr sz="900" b="0">
                <a:solidFill>
                  <a:srgbClr val="94A3B8"/>
                </a:solidFill>
              </a:rPr>
              <a:t>Orchestrate full pipeline</a:t>
            </a:r>
          </a:p>
        </p:txBody>
      </p:sp>
      <p:sp>
        <p:nvSpPr>
          <p:cNvPr id="44" name="Rectangle 43"/>
          <p:cNvSpPr/>
          <p:nvPr/>
        </p:nvSpPr>
        <p:spPr>
          <a:xfrm>
            <a:off x="5577840" y="3749039"/>
            <a:ext cx="6309360" cy="26517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715000" y="3840480"/>
            <a:ext cx="6035040" cy="292608"/>
          </a:xfrm>
          <a:prstGeom prst="rect">
            <a:avLst/>
          </a:prstGeom>
          <a:noFill/>
        </p:spPr>
        <p:txBody>
          <a:bodyPr wrap="square">
            <a:spAutoFit/>
          </a:bodyPr>
          <a:lstStyle/>
          <a:p>
            <a:pPr algn="l"/>
            <a:r>
              <a:rPr sz="1100" b="1">
                <a:solidFill>
                  <a:srgbClr val="10B981"/>
                </a:solidFill>
              </a:rPr>
              <a:t>app.py — Imports &amp; Responsibilities</a:t>
            </a:r>
          </a:p>
        </p:txBody>
      </p:sp>
      <p:sp>
        <p:nvSpPr>
          <p:cNvPr id="46" name="TextBox 45"/>
          <p:cNvSpPr txBox="1"/>
          <p:nvPr/>
        </p:nvSpPr>
        <p:spPr>
          <a:xfrm>
            <a:off x="5715000" y="4251960"/>
            <a:ext cx="6035040" cy="274320"/>
          </a:xfrm>
          <a:prstGeom prst="rect">
            <a:avLst/>
          </a:prstGeom>
          <a:noFill/>
        </p:spPr>
        <p:txBody>
          <a:bodyPr wrap="square">
            <a:spAutoFit/>
          </a:bodyPr>
          <a:lstStyle/>
          <a:p>
            <a:pPr algn="l"/>
            <a:r>
              <a:rPr sz="900" b="0">
                <a:solidFill>
                  <a:srgbClr val="F1F5F9"/>
                </a:solidFill>
              </a:rPr>
              <a:t>▸  from langchain_config import chain, get_summary</a:t>
            </a:r>
          </a:p>
        </p:txBody>
      </p:sp>
      <p:sp>
        <p:nvSpPr>
          <p:cNvPr id="47" name="TextBox 46"/>
          <p:cNvSpPr txBox="1"/>
          <p:nvPr/>
        </p:nvSpPr>
        <p:spPr>
          <a:xfrm>
            <a:off x="5715000" y="4590288"/>
            <a:ext cx="6035040" cy="274320"/>
          </a:xfrm>
          <a:prstGeom prst="rect">
            <a:avLst/>
          </a:prstGeom>
          <a:noFill/>
        </p:spPr>
        <p:txBody>
          <a:bodyPr wrap="square">
            <a:spAutoFit/>
          </a:bodyPr>
          <a:lstStyle/>
          <a:p>
            <a:pPr algn="l"/>
            <a:r>
              <a:rPr sz="900" b="0">
                <a:solidFill>
                  <a:srgbClr val="F1F5F9"/>
                </a:solidFill>
              </a:rPr>
              <a:t>▸  Render Streamlit page config (title, icon, layout=wide)</a:t>
            </a:r>
          </a:p>
        </p:txBody>
      </p:sp>
      <p:sp>
        <p:nvSpPr>
          <p:cNvPr id="48" name="TextBox 47"/>
          <p:cNvSpPr txBox="1"/>
          <p:nvPr/>
        </p:nvSpPr>
        <p:spPr>
          <a:xfrm>
            <a:off x="5715000" y="4928616"/>
            <a:ext cx="6035040" cy="274320"/>
          </a:xfrm>
          <a:prstGeom prst="rect">
            <a:avLst/>
          </a:prstGeom>
          <a:noFill/>
        </p:spPr>
        <p:txBody>
          <a:bodyPr wrap="square">
            <a:spAutoFit/>
          </a:bodyPr>
          <a:lstStyle/>
          <a:p>
            <a:pPr algn="l"/>
            <a:r>
              <a:rPr sz="900" b="0">
                <a:solidFill>
                  <a:srgbClr val="F1F5F9"/>
                </a:solidFill>
              </a:rPr>
              <a:t>▸  Accept query via st.text_input() with placeholder</a:t>
            </a:r>
          </a:p>
        </p:txBody>
      </p:sp>
      <p:sp>
        <p:nvSpPr>
          <p:cNvPr id="49" name="TextBox 48"/>
          <p:cNvSpPr txBox="1"/>
          <p:nvPr/>
        </p:nvSpPr>
        <p:spPr>
          <a:xfrm>
            <a:off x="5715000" y="5266944"/>
            <a:ext cx="6035040" cy="274320"/>
          </a:xfrm>
          <a:prstGeom prst="rect">
            <a:avLst/>
          </a:prstGeom>
          <a:noFill/>
        </p:spPr>
        <p:txBody>
          <a:bodyPr wrap="square">
            <a:spAutoFit/>
          </a:bodyPr>
          <a:lstStyle/>
          <a:p>
            <a:pPr algn="l"/>
            <a:r>
              <a:rPr sz="900" b="0">
                <a:solidFill>
                  <a:srgbClr val="F1F5F9"/>
                </a:solidFill>
              </a:rPr>
              <a:t>▸  On click: call get_summary(q) → chain.invoke()</a:t>
            </a:r>
          </a:p>
        </p:txBody>
      </p:sp>
      <p:sp>
        <p:nvSpPr>
          <p:cNvPr id="50" name="TextBox 49"/>
          <p:cNvSpPr txBox="1"/>
          <p:nvPr/>
        </p:nvSpPr>
        <p:spPr>
          <a:xfrm>
            <a:off x="5715000" y="5605272"/>
            <a:ext cx="6035040" cy="274320"/>
          </a:xfrm>
          <a:prstGeom prst="rect">
            <a:avLst/>
          </a:prstGeom>
          <a:noFill/>
        </p:spPr>
        <p:txBody>
          <a:bodyPr wrap="square">
            <a:spAutoFit/>
          </a:bodyPr>
          <a:lstStyle/>
          <a:p>
            <a:pPr algn="l"/>
            <a:r>
              <a:rPr sz="900" b="0">
                <a:solidFill>
                  <a:srgbClr val="F1F5F9"/>
                </a:solidFill>
              </a:rPr>
              <a:t>▸  Display AI summary + expandable article source cards</a:t>
            </a:r>
          </a:p>
        </p:txBody>
      </p:sp>
      <p:sp>
        <p:nvSpPr>
          <p:cNvPr id="51" name="TextBox 50"/>
          <p:cNvSpPr txBox="1"/>
          <p:nvPr/>
        </p:nvSpPr>
        <p:spPr>
          <a:xfrm>
            <a:off x="5715000" y="5943600"/>
            <a:ext cx="6035040" cy="274320"/>
          </a:xfrm>
          <a:prstGeom prst="rect">
            <a:avLst/>
          </a:prstGeom>
          <a:noFill/>
        </p:spPr>
        <p:txBody>
          <a:bodyPr wrap="square">
            <a:spAutoFit/>
          </a:bodyPr>
          <a:lstStyle/>
          <a:p>
            <a:pPr algn="l"/>
            <a:r>
              <a:rPr sz="900" b="0">
                <a:solidFill>
                  <a:srgbClr val="F1F5F9"/>
                </a:solidFill>
              </a:rPr>
              <a:t>▸  Handle empty query and no-results edge cases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82296"/>
            <a:ext cx="11521440" cy="548640"/>
          </a:xfrm>
          <a:prstGeom prst="rect">
            <a:avLst/>
          </a:prstGeom>
          <a:noFill/>
        </p:spPr>
        <p:txBody>
          <a:bodyPr wrap="square">
            <a:spAutoFit/>
          </a:bodyPr>
          <a:lstStyle/>
          <a:p>
            <a:pPr algn="l"/>
            <a:r>
              <a:rPr sz="2600" b="1">
                <a:solidFill>
                  <a:srgbClr val="F1F5F9"/>
                </a:solidFill>
              </a:rPr>
              <a:t>Key Results &amp; Sample Output</a:t>
            </a:r>
          </a:p>
        </p:txBody>
      </p:sp>
      <p:sp>
        <p:nvSpPr>
          <p:cNvPr id="4" name="TextBox 3"/>
          <p:cNvSpPr txBox="1"/>
          <p:nvPr/>
        </p:nvSpPr>
        <p:spPr>
          <a:xfrm>
            <a:off x="274320" y="658368"/>
            <a:ext cx="11521440" cy="347472"/>
          </a:xfrm>
          <a:prstGeom prst="rect">
            <a:avLst/>
          </a:prstGeom>
          <a:noFill/>
        </p:spPr>
        <p:txBody>
          <a:bodyPr wrap="square">
            <a:spAutoFit/>
          </a:bodyPr>
          <a:lstStyle/>
          <a:p>
            <a:pPr algn="l"/>
            <a:r>
              <a:rPr sz="1100" b="0">
                <a:solidFill>
                  <a:srgbClr val="94A3B8"/>
                </a:solidFill>
              </a:rPr>
              <a:t>What the tool delivers for a real equity research query</a:t>
            </a:r>
          </a:p>
        </p:txBody>
      </p:sp>
      <p:sp>
        <p:nvSpPr>
          <p:cNvPr id="5" name="Rectangle 4"/>
          <p:cNvSpPr/>
          <p:nvPr/>
        </p:nvSpPr>
        <p:spPr>
          <a:xfrm>
            <a:off x="320040" y="1188720"/>
            <a:ext cx="11521440" cy="3886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280160"/>
            <a:ext cx="11155680" cy="292608"/>
          </a:xfrm>
          <a:prstGeom prst="rect">
            <a:avLst/>
          </a:prstGeom>
          <a:noFill/>
        </p:spPr>
        <p:txBody>
          <a:bodyPr wrap="square">
            <a:spAutoFit/>
          </a:bodyPr>
          <a:lstStyle/>
          <a:p>
            <a:pPr algn="l"/>
            <a:r>
              <a:rPr sz="1100" b="1">
                <a:solidFill>
                  <a:srgbClr val="6366F1"/>
                </a:solidFill>
              </a:rPr>
              <a:t>Sample Query:  'Apple earnings Q3 2024'</a:t>
            </a:r>
          </a:p>
        </p:txBody>
      </p:sp>
      <p:sp>
        <p:nvSpPr>
          <p:cNvPr id="7" name="TextBox 6"/>
          <p:cNvSpPr txBox="1"/>
          <p:nvPr/>
        </p:nvSpPr>
        <p:spPr>
          <a:xfrm>
            <a:off x="457200" y="1645920"/>
            <a:ext cx="11155680" cy="256032"/>
          </a:xfrm>
          <a:prstGeom prst="rect">
            <a:avLst/>
          </a:prstGeom>
          <a:noFill/>
        </p:spPr>
        <p:txBody>
          <a:bodyPr wrap="square">
            <a:spAutoFit/>
          </a:bodyPr>
          <a:lstStyle/>
          <a:p>
            <a:pPr algn="l"/>
            <a:r>
              <a:rPr sz="1000" b="0">
                <a:solidFill>
                  <a:srgbClr val="94A3B8"/>
                </a:solidFill>
              </a:rPr>
              <a:t>AI-Generated Summary (OpenAI via LangChain):</a:t>
            </a:r>
          </a:p>
        </p:txBody>
      </p:sp>
      <p:sp>
        <p:nvSpPr>
          <p:cNvPr id="8" name="TextBox 7"/>
          <p:cNvSpPr txBox="1"/>
          <p:nvPr/>
        </p:nvSpPr>
        <p:spPr>
          <a:xfrm>
            <a:off x="457200" y="1975104"/>
            <a:ext cx="4425696" cy="1954381"/>
          </a:xfrm>
          <a:prstGeom prst="rect">
            <a:avLst/>
          </a:prstGeom>
          <a:noFill/>
        </p:spPr>
        <p:txBody>
          <a:bodyPr wrap="square">
            <a:spAutoFit/>
          </a:bodyPr>
          <a:lstStyle/>
          <a:p>
            <a:pPr algn="l"/>
            <a:r>
              <a:rPr sz="1100" b="0" dirty="0">
                <a:solidFill>
                  <a:srgbClr val="F1F5F9"/>
                </a:solidFill>
              </a:rPr>
              <a:t>"Apple Inc. reported third-quarter 2024 earnings that beat Wall Street expectations, driven by stronger-than-expected iPhone sales and Services segment growth. Revenue grew 5% year-over-year to $85.8 billion, with EPS of $1.40 surpassing analyst forecasts of $1.35. The Services division reached a record $24.2 billion, underscoring Apple's ongoing diversification beyond hardware. CEO Tim Cook cited strong demand in emerging markets and early AI integrations across iOS 18 as key growth catalysts for the coming quarters. Analysts remain cautiously optimistic on iPhone 16 upgrade cycle momentum heading into Q4 2024."</a:t>
            </a:r>
            <a:endParaRPr lang="en-IN" sz="1100" b="0" dirty="0">
              <a:solidFill>
                <a:srgbClr val="F1F5F9"/>
              </a:solidFill>
            </a:endParaRPr>
          </a:p>
          <a:p>
            <a:pPr algn="l"/>
            <a:endParaRPr lang="en-IN" sz="1100" dirty="0">
              <a:solidFill>
                <a:srgbClr val="F1F5F9"/>
              </a:solidFill>
            </a:endParaRPr>
          </a:p>
          <a:p>
            <a:pPr algn="l"/>
            <a:endParaRPr sz="1100" b="0" dirty="0">
              <a:solidFill>
                <a:srgbClr val="F1F5F9"/>
              </a:solidFill>
            </a:endParaRPr>
          </a:p>
        </p:txBody>
      </p:sp>
      <p:sp>
        <p:nvSpPr>
          <p:cNvPr id="9" name="TextBox 8"/>
          <p:cNvSpPr txBox="1"/>
          <p:nvPr/>
        </p:nvSpPr>
        <p:spPr>
          <a:xfrm>
            <a:off x="457200" y="4617720"/>
            <a:ext cx="11155680" cy="256032"/>
          </a:xfrm>
          <a:prstGeom prst="rect">
            <a:avLst/>
          </a:prstGeom>
          <a:noFill/>
        </p:spPr>
        <p:txBody>
          <a:bodyPr wrap="square">
            <a:spAutoFit/>
          </a:bodyPr>
          <a:lstStyle/>
          <a:p>
            <a:pPr algn="l"/>
            <a:r>
              <a:rPr sz="1000" b="0">
                <a:solidFill>
                  <a:srgbClr val="94A3B8"/>
                </a:solidFill>
              </a:rPr>
              <a:t>Source Articles (10 fetched, sorted by relevancy):</a:t>
            </a:r>
          </a:p>
        </p:txBody>
      </p:sp>
      <p:sp>
        <p:nvSpPr>
          <p:cNvPr id="10" name="Rectangle 9"/>
          <p:cNvSpPr/>
          <p:nvPr/>
        </p:nvSpPr>
        <p:spPr>
          <a:xfrm>
            <a:off x="457200" y="4956048"/>
            <a:ext cx="1371600" cy="347472"/>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4974336"/>
            <a:ext cx="1371600" cy="274320"/>
          </a:xfrm>
          <a:prstGeom prst="rect">
            <a:avLst/>
          </a:prstGeom>
          <a:noFill/>
        </p:spPr>
        <p:txBody>
          <a:bodyPr wrap="square">
            <a:spAutoFit/>
          </a:bodyPr>
          <a:lstStyle/>
          <a:p>
            <a:pPr algn="ctr"/>
            <a:r>
              <a:rPr sz="900" b="1">
                <a:solidFill>
                  <a:srgbClr val="F1F5F9"/>
                </a:solidFill>
              </a:rPr>
              <a:t>Reuters</a:t>
            </a:r>
          </a:p>
        </p:txBody>
      </p:sp>
      <p:sp>
        <p:nvSpPr>
          <p:cNvPr id="12" name="TextBox 11"/>
          <p:cNvSpPr txBox="1"/>
          <p:nvPr/>
        </p:nvSpPr>
        <p:spPr>
          <a:xfrm>
            <a:off x="1920240" y="4974336"/>
            <a:ext cx="9784080" cy="274320"/>
          </a:xfrm>
          <a:prstGeom prst="rect">
            <a:avLst/>
          </a:prstGeom>
          <a:noFill/>
        </p:spPr>
        <p:txBody>
          <a:bodyPr wrap="square">
            <a:spAutoFit/>
          </a:bodyPr>
          <a:lstStyle/>
          <a:p>
            <a:pPr algn="l"/>
            <a:r>
              <a:rPr sz="1000" b="0">
                <a:solidFill>
                  <a:srgbClr val="94A3B8"/>
                </a:solidFill>
              </a:rPr>
              <a:t>Apple tops Q3 2024 estimates on strength in Services and iPhone</a:t>
            </a:r>
          </a:p>
        </p:txBody>
      </p:sp>
      <p:sp>
        <p:nvSpPr>
          <p:cNvPr id="13" name="Rectangle 12"/>
          <p:cNvSpPr/>
          <p:nvPr/>
        </p:nvSpPr>
        <p:spPr>
          <a:xfrm>
            <a:off x="457200" y="5376672"/>
            <a:ext cx="1371600" cy="347472"/>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5394960"/>
            <a:ext cx="1371600" cy="274320"/>
          </a:xfrm>
          <a:prstGeom prst="rect">
            <a:avLst/>
          </a:prstGeom>
          <a:noFill/>
        </p:spPr>
        <p:txBody>
          <a:bodyPr wrap="square">
            <a:spAutoFit/>
          </a:bodyPr>
          <a:lstStyle/>
          <a:p>
            <a:pPr algn="ctr"/>
            <a:r>
              <a:rPr sz="900" b="1">
                <a:solidFill>
                  <a:srgbClr val="F1F5F9"/>
                </a:solidFill>
              </a:rPr>
              <a:t>Bloomberg</a:t>
            </a:r>
          </a:p>
        </p:txBody>
      </p:sp>
      <p:sp>
        <p:nvSpPr>
          <p:cNvPr id="15" name="TextBox 14"/>
          <p:cNvSpPr txBox="1"/>
          <p:nvPr/>
        </p:nvSpPr>
        <p:spPr>
          <a:xfrm>
            <a:off x="1920240" y="5394960"/>
            <a:ext cx="9784080" cy="274320"/>
          </a:xfrm>
          <a:prstGeom prst="rect">
            <a:avLst/>
          </a:prstGeom>
          <a:noFill/>
        </p:spPr>
        <p:txBody>
          <a:bodyPr wrap="square">
            <a:spAutoFit/>
          </a:bodyPr>
          <a:lstStyle/>
          <a:p>
            <a:pPr algn="l"/>
            <a:r>
              <a:rPr sz="1000" b="0">
                <a:solidFill>
                  <a:srgbClr val="94A3B8"/>
                </a:solidFill>
              </a:rPr>
              <a:t>Apple Q3 Revenue $85.8B, EPS $1.40 — beats consensus across all segments</a:t>
            </a:r>
          </a:p>
        </p:txBody>
      </p:sp>
      <p:sp>
        <p:nvSpPr>
          <p:cNvPr id="16" name="Rectangle 15"/>
          <p:cNvSpPr/>
          <p:nvPr/>
        </p:nvSpPr>
        <p:spPr>
          <a:xfrm>
            <a:off x="457200" y="5797296"/>
            <a:ext cx="1371600" cy="347472"/>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5815584"/>
            <a:ext cx="1371600" cy="274320"/>
          </a:xfrm>
          <a:prstGeom prst="rect">
            <a:avLst/>
          </a:prstGeom>
          <a:noFill/>
        </p:spPr>
        <p:txBody>
          <a:bodyPr wrap="square">
            <a:spAutoFit/>
          </a:bodyPr>
          <a:lstStyle/>
          <a:p>
            <a:pPr algn="ctr"/>
            <a:r>
              <a:rPr sz="900" b="1">
                <a:solidFill>
                  <a:srgbClr val="F1F5F9"/>
                </a:solidFill>
              </a:rPr>
              <a:t>CNBC</a:t>
            </a:r>
          </a:p>
        </p:txBody>
      </p:sp>
      <p:sp>
        <p:nvSpPr>
          <p:cNvPr id="18" name="TextBox 17"/>
          <p:cNvSpPr txBox="1"/>
          <p:nvPr/>
        </p:nvSpPr>
        <p:spPr>
          <a:xfrm>
            <a:off x="1920240" y="5815584"/>
            <a:ext cx="9784080" cy="274320"/>
          </a:xfrm>
          <a:prstGeom prst="rect">
            <a:avLst/>
          </a:prstGeom>
          <a:noFill/>
        </p:spPr>
        <p:txBody>
          <a:bodyPr wrap="square">
            <a:spAutoFit/>
          </a:bodyPr>
          <a:lstStyle/>
          <a:p>
            <a:pPr algn="l"/>
            <a:r>
              <a:rPr sz="1000" b="0">
                <a:solidFill>
                  <a:srgbClr val="94A3B8"/>
                </a:solidFill>
              </a:rPr>
              <a:t>Cook: AI features to drive iPhone upgrade cycle and long-term Services growth</a:t>
            </a:r>
          </a:p>
        </p:txBody>
      </p:sp>
      <p:sp>
        <p:nvSpPr>
          <p:cNvPr id="19" name="Rectangle 18"/>
          <p:cNvSpPr/>
          <p:nvPr/>
        </p:nvSpPr>
        <p:spPr>
          <a:xfrm>
            <a:off x="320040" y="6291072"/>
            <a:ext cx="2697480" cy="4754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6336792"/>
            <a:ext cx="2468880" cy="320040"/>
          </a:xfrm>
          <a:prstGeom prst="rect">
            <a:avLst/>
          </a:prstGeom>
          <a:noFill/>
        </p:spPr>
        <p:txBody>
          <a:bodyPr wrap="square">
            <a:spAutoFit/>
          </a:bodyPr>
          <a:lstStyle/>
          <a:p>
            <a:pPr algn="l"/>
            <a:r>
              <a:rPr sz="1000" b="0">
                <a:solidFill>
                  <a:srgbClr val="10B981"/>
                </a:solidFill>
              </a:rPr>
              <a:t>10 articles per query</a:t>
            </a:r>
          </a:p>
        </p:txBody>
      </p:sp>
      <p:sp>
        <p:nvSpPr>
          <p:cNvPr id="21" name="Rectangle 20"/>
          <p:cNvSpPr/>
          <p:nvPr/>
        </p:nvSpPr>
        <p:spPr>
          <a:xfrm>
            <a:off x="3200400" y="6291072"/>
            <a:ext cx="2697480" cy="4754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337560" y="6336792"/>
            <a:ext cx="2468880" cy="320040"/>
          </a:xfrm>
          <a:prstGeom prst="rect">
            <a:avLst/>
          </a:prstGeom>
          <a:noFill/>
        </p:spPr>
        <p:txBody>
          <a:bodyPr wrap="square">
            <a:spAutoFit/>
          </a:bodyPr>
          <a:lstStyle/>
          <a:p>
            <a:pPr algn="l"/>
            <a:r>
              <a:rPr sz="1000" b="0">
                <a:solidFill>
                  <a:srgbClr val="F59E0B"/>
                </a:solidFill>
              </a:rPr>
              <a:t>&lt; 30s response time</a:t>
            </a:r>
          </a:p>
        </p:txBody>
      </p:sp>
      <p:sp>
        <p:nvSpPr>
          <p:cNvPr id="23" name="Rectangle 22"/>
          <p:cNvSpPr/>
          <p:nvPr/>
        </p:nvSpPr>
        <p:spPr>
          <a:xfrm>
            <a:off x="6080760" y="6291072"/>
            <a:ext cx="2697480" cy="4754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17920" y="6336792"/>
            <a:ext cx="2468880" cy="320040"/>
          </a:xfrm>
          <a:prstGeom prst="rect">
            <a:avLst/>
          </a:prstGeom>
          <a:noFill/>
        </p:spPr>
        <p:txBody>
          <a:bodyPr wrap="square">
            <a:spAutoFit/>
          </a:bodyPr>
          <a:lstStyle/>
          <a:p>
            <a:pPr algn="l"/>
            <a:r>
              <a:rPr sz="1000" b="0">
                <a:solidFill>
                  <a:srgbClr val="6366F1"/>
                </a:solidFill>
              </a:rPr>
              <a:t>Analyst-grade summary</a:t>
            </a:r>
          </a:p>
        </p:txBody>
      </p:sp>
      <p:sp>
        <p:nvSpPr>
          <p:cNvPr id="25" name="Rectangle 24"/>
          <p:cNvSpPr/>
          <p:nvPr/>
        </p:nvSpPr>
        <p:spPr>
          <a:xfrm>
            <a:off x="8961120" y="6291072"/>
            <a:ext cx="2834640" cy="4754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098280" y="6336792"/>
            <a:ext cx="2606040" cy="320040"/>
          </a:xfrm>
          <a:prstGeom prst="rect">
            <a:avLst/>
          </a:prstGeom>
          <a:noFill/>
        </p:spPr>
        <p:txBody>
          <a:bodyPr wrap="square">
            <a:spAutoFit/>
          </a:bodyPr>
          <a:lstStyle/>
          <a:p>
            <a:pPr algn="l"/>
            <a:r>
              <a:rPr sz="1000" b="0">
                <a:solidFill>
                  <a:srgbClr val="A855F7"/>
                </a:solidFill>
              </a:rPr>
              <a:t>Clickable source links</a:t>
            </a:r>
          </a:p>
        </p:txBody>
      </p:sp>
      <p:pic>
        <p:nvPicPr>
          <p:cNvPr id="28" name="Picture 27">
            <a:extLst>
              <a:ext uri="{FF2B5EF4-FFF2-40B4-BE49-F238E27FC236}">
                <a16:creationId xmlns:a16="http://schemas.microsoft.com/office/drawing/2014/main" id="{78C3B4F9-FC36-D6E3-37F7-C4D4CA0E2F9B}"/>
              </a:ext>
            </a:extLst>
          </p:cNvPr>
          <p:cNvPicPr>
            <a:picLocks noChangeAspect="1"/>
          </p:cNvPicPr>
          <p:nvPr/>
        </p:nvPicPr>
        <p:blipFill>
          <a:blip r:embed="rId2"/>
          <a:stretch>
            <a:fillRect/>
          </a:stretch>
        </p:blipFill>
        <p:spPr>
          <a:xfrm>
            <a:off x="5075707" y="1527576"/>
            <a:ext cx="6426530" cy="306728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82296"/>
            <a:ext cx="11521440" cy="548640"/>
          </a:xfrm>
          <a:prstGeom prst="rect">
            <a:avLst/>
          </a:prstGeom>
          <a:noFill/>
        </p:spPr>
        <p:txBody>
          <a:bodyPr wrap="square">
            <a:spAutoFit/>
          </a:bodyPr>
          <a:lstStyle/>
          <a:p>
            <a:pPr algn="l"/>
            <a:r>
              <a:rPr sz="2600" b="1">
                <a:solidFill>
                  <a:srgbClr val="F1F5F9"/>
                </a:solidFill>
              </a:rPr>
              <a:t>Optional Enhancements — Phase 7</a:t>
            </a:r>
          </a:p>
        </p:txBody>
      </p:sp>
      <p:sp>
        <p:nvSpPr>
          <p:cNvPr id="4" name="TextBox 3"/>
          <p:cNvSpPr txBox="1"/>
          <p:nvPr/>
        </p:nvSpPr>
        <p:spPr>
          <a:xfrm>
            <a:off x="274320" y="658368"/>
            <a:ext cx="11521440" cy="347472"/>
          </a:xfrm>
          <a:prstGeom prst="rect">
            <a:avLst/>
          </a:prstGeom>
          <a:noFill/>
        </p:spPr>
        <p:txBody>
          <a:bodyPr wrap="square">
            <a:spAutoFit/>
          </a:bodyPr>
          <a:lstStyle/>
          <a:p>
            <a:pPr algn="l"/>
            <a:r>
              <a:rPr sz="1100" b="0">
                <a:solidFill>
                  <a:srgbClr val="94A3B8"/>
                </a:solidFill>
              </a:rPr>
              <a:t>Three extensions to improve the tool beyond core requirements</a:t>
            </a:r>
          </a:p>
        </p:txBody>
      </p:sp>
      <p:sp>
        <p:nvSpPr>
          <p:cNvPr id="5" name="Rectangle 4"/>
          <p:cNvSpPr/>
          <p:nvPr/>
        </p:nvSpPr>
        <p:spPr>
          <a:xfrm>
            <a:off x="320040" y="1188720"/>
            <a:ext cx="2011680" cy="1572768"/>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1325880"/>
            <a:ext cx="1828800" cy="347472"/>
          </a:xfrm>
          <a:prstGeom prst="rect">
            <a:avLst/>
          </a:prstGeom>
          <a:noFill/>
        </p:spPr>
        <p:txBody>
          <a:bodyPr wrap="square">
            <a:spAutoFit/>
          </a:bodyPr>
          <a:lstStyle/>
          <a:p>
            <a:pPr algn="ctr"/>
            <a:r>
              <a:rPr sz="1100" b="1">
                <a:solidFill>
                  <a:srgbClr val="F1F5F9"/>
                </a:solidFill>
              </a:rPr>
              <a:t>Task 7.1</a:t>
            </a:r>
          </a:p>
        </p:txBody>
      </p:sp>
      <p:sp>
        <p:nvSpPr>
          <p:cNvPr id="7" name="TextBox 6"/>
          <p:cNvSpPr txBox="1"/>
          <p:nvPr/>
        </p:nvSpPr>
        <p:spPr>
          <a:xfrm>
            <a:off x="411480" y="1783080"/>
            <a:ext cx="1828800" cy="658368"/>
          </a:xfrm>
          <a:prstGeom prst="rect">
            <a:avLst/>
          </a:prstGeom>
          <a:noFill/>
        </p:spPr>
        <p:txBody>
          <a:bodyPr wrap="square">
            <a:spAutoFit/>
          </a:bodyPr>
          <a:lstStyle/>
          <a:p>
            <a:pPr algn="ctr"/>
            <a:r>
              <a:rPr sz="1100" b="1">
                <a:solidFill>
                  <a:srgbClr val="F1F5F9"/>
                </a:solidFill>
              </a:rPr>
              <a:t>User Authentication</a:t>
            </a:r>
          </a:p>
        </p:txBody>
      </p:sp>
      <p:sp>
        <p:nvSpPr>
          <p:cNvPr id="8" name="Rectangle 7"/>
          <p:cNvSpPr/>
          <p:nvPr/>
        </p:nvSpPr>
        <p:spPr>
          <a:xfrm>
            <a:off x="2468880" y="1188720"/>
            <a:ext cx="9418320" cy="157276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606040" y="1280160"/>
            <a:ext cx="9144000" cy="246888"/>
          </a:xfrm>
          <a:prstGeom prst="rect">
            <a:avLst/>
          </a:prstGeom>
          <a:noFill/>
        </p:spPr>
        <p:txBody>
          <a:bodyPr wrap="square">
            <a:spAutoFit/>
          </a:bodyPr>
          <a:lstStyle/>
          <a:p>
            <a:pPr algn="l"/>
            <a:r>
              <a:rPr sz="1000" b="0">
                <a:solidFill>
                  <a:srgbClr val="F1F5F9"/>
                </a:solidFill>
              </a:rPr>
              <a:t>▸  Restrict access to authorised equity research analysts only</a:t>
            </a:r>
          </a:p>
        </p:txBody>
      </p:sp>
      <p:sp>
        <p:nvSpPr>
          <p:cNvPr id="10" name="TextBox 9"/>
          <p:cNvSpPr txBox="1"/>
          <p:nvPr/>
        </p:nvSpPr>
        <p:spPr>
          <a:xfrm>
            <a:off x="2606040" y="1554480"/>
            <a:ext cx="9144000" cy="246888"/>
          </a:xfrm>
          <a:prstGeom prst="rect">
            <a:avLst/>
          </a:prstGeom>
          <a:noFill/>
        </p:spPr>
        <p:txBody>
          <a:bodyPr wrap="square">
            <a:spAutoFit/>
          </a:bodyPr>
          <a:lstStyle/>
          <a:p>
            <a:pPr algn="l"/>
            <a:r>
              <a:rPr sz="1000" b="0">
                <a:solidFill>
                  <a:srgbClr val="F1F5F9"/>
                </a:solidFill>
              </a:rPr>
              <a:t>▸  Implement via Streamlit-Authenticator (cookie-based sessions)</a:t>
            </a:r>
          </a:p>
        </p:txBody>
      </p:sp>
      <p:sp>
        <p:nvSpPr>
          <p:cNvPr id="11" name="TextBox 10"/>
          <p:cNvSpPr txBox="1"/>
          <p:nvPr/>
        </p:nvSpPr>
        <p:spPr>
          <a:xfrm>
            <a:off x="2606040" y="1828800"/>
            <a:ext cx="9144000" cy="246888"/>
          </a:xfrm>
          <a:prstGeom prst="rect">
            <a:avLst/>
          </a:prstGeom>
          <a:noFill/>
        </p:spPr>
        <p:txBody>
          <a:bodyPr wrap="square">
            <a:spAutoFit/>
          </a:bodyPr>
          <a:lstStyle/>
          <a:p>
            <a:pPr algn="l"/>
            <a:r>
              <a:rPr sz="1000" b="0">
                <a:solidFill>
                  <a:srgbClr val="F1F5F9"/>
                </a:solidFill>
              </a:rPr>
              <a:t>▸  Store hashed credentials in a YAML config file (no plaintext passwords)</a:t>
            </a:r>
          </a:p>
        </p:txBody>
      </p:sp>
      <p:sp>
        <p:nvSpPr>
          <p:cNvPr id="12" name="TextBox 11"/>
          <p:cNvSpPr txBox="1"/>
          <p:nvPr/>
        </p:nvSpPr>
        <p:spPr>
          <a:xfrm>
            <a:off x="2606040" y="2103120"/>
            <a:ext cx="9144000" cy="246888"/>
          </a:xfrm>
          <a:prstGeom prst="rect">
            <a:avLst/>
          </a:prstGeom>
          <a:noFill/>
        </p:spPr>
        <p:txBody>
          <a:bodyPr wrap="square">
            <a:spAutoFit/>
          </a:bodyPr>
          <a:lstStyle/>
          <a:p>
            <a:pPr algn="l"/>
            <a:r>
              <a:rPr sz="1000" b="0">
                <a:solidFill>
                  <a:srgbClr val="F1F5F9"/>
                </a:solidFill>
              </a:rPr>
              <a:t>▸  Supports multi-user access with individual session management</a:t>
            </a:r>
          </a:p>
        </p:txBody>
      </p:sp>
      <p:sp>
        <p:nvSpPr>
          <p:cNvPr id="13" name="TextBox 12"/>
          <p:cNvSpPr txBox="1"/>
          <p:nvPr/>
        </p:nvSpPr>
        <p:spPr>
          <a:xfrm>
            <a:off x="2606040" y="2377440"/>
            <a:ext cx="9144000" cy="246888"/>
          </a:xfrm>
          <a:prstGeom prst="rect">
            <a:avLst/>
          </a:prstGeom>
          <a:noFill/>
        </p:spPr>
        <p:txBody>
          <a:bodyPr wrap="square">
            <a:spAutoFit/>
          </a:bodyPr>
          <a:lstStyle/>
          <a:p>
            <a:pPr algn="l"/>
            <a:r>
              <a:rPr sz="1000" b="0">
                <a:solidFill>
                  <a:srgbClr val="F1F5F9"/>
                </a:solidFill>
              </a:rPr>
              <a:t>▸  Login screen shown before query input becomes accessible</a:t>
            </a:r>
          </a:p>
        </p:txBody>
      </p:sp>
      <p:sp>
        <p:nvSpPr>
          <p:cNvPr id="14" name="Rectangle 13"/>
          <p:cNvSpPr/>
          <p:nvPr/>
        </p:nvSpPr>
        <p:spPr>
          <a:xfrm>
            <a:off x="320040" y="2971800"/>
            <a:ext cx="2011680" cy="157276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3108960"/>
            <a:ext cx="1828800" cy="347472"/>
          </a:xfrm>
          <a:prstGeom prst="rect">
            <a:avLst/>
          </a:prstGeom>
          <a:noFill/>
        </p:spPr>
        <p:txBody>
          <a:bodyPr wrap="square">
            <a:spAutoFit/>
          </a:bodyPr>
          <a:lstStyle/>
          <a:p>
            <a:pPr algn="ctr"/>
            <a:r>
              <a:rPr sz="1100" b="1">
                <a:solidFill>
                  <a:srgbClr val="F1F5F9"/>
                </a:solidFill>
              </a:rPr>
              <a:t>Task 7.2</a:t>
            </a:r>
          </a:p>
        </p:txBody>
      </p:sp>
      <p:sp>
        <p:nvSpPr>
          <p:cNvPr id="16" name="TextBox 15"/>
          <p:cNvSpPr txBox="1"/>
          <p:nvPr/>
        </p:nvSpPr>
        <p:spPr>
          <a:xfrm>
            <a:off x="411480" y="3566160"/>
            <a:ext cx="1828800" cy="658368"/>
          </a:xfrm>
          <a:prstGeom prst="rect">
            <a:avLst/>
          </a:prstGeom>
          <a:noFill/>
        </p:spPr>
        <p:txBody>
          <a:bodyPr wrap="square">
            <a:spAutoFit/>
          </a:bodyPr>
          <a:lstStyle/>
          <a:p>
            <a:pPr algn="ctr"/>
            <a:r>
              <a:rPr sz="1100" b="1">
                <a:solidFill>
                  <a:srgbClr val="F1F5F9"/>
                </a:solidFill>
              </a:rPr>
              <a:t>Enhanced UI/UX</a:t>
            </a:r>
          </a:p>
        </p:txBody>
      </p:sp>
      <p:sp>
        <p:nvSpPr>
          <p:cNvPr id="17" name="Rectangle 16"/>
          <p:cNvSpPr/>
          <p:nvPr/>
        </p:nvSpPr>
        <p:spPr>
          <a:xfrm>
            <a:off x="2468880" y="2971800"/>
            <a:ext cx="9418320" cy="157276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606040" y="3063240"/>
            <a:ext cx="9144000" cy="246888"/>
          </a:xfrm>
          <a:prstGeom prst="rect">
            <a:avLst/>
          </a:prstGeom>
          <a:noFill/>
        </p:spPr>
        <p:txBody>
          <a:bodyPr wrap="square">
            <a:spAutoFit/>
          </a:bodyPr>
          <a:lstStyle/>
          <a:p>
            <a:pPr algn="l"/>
            <a:r>
              <a:rPr sz="1000" b="0">
                <a:solidFill>
                  <a:srgbClr val="F1F5F9"/>
                </a:solidFill>
              </a:rPr>
              <a:t>▸  Query history sidebar — recall and re-run recent searches instantly</a:t>
            </a:r>
          </a:p>
        </p:txBody>
      </p:sp>
      <p:sp>
        <p:nvSpPr>
          <p:cNvPr id="19" name="TextBox 18"/>
          <p:cNvSpPr txBox="1"/>
          <p:nvPr/>
        </p:nvSpPr>
        <p:spPr>
          <a:xfrm>
            <a:off x="2606040" y="3337560"/>
            <a:ext cx="9144000" cy="246888"/>
          </a:xfrm>
          <a:prstGeom prst="rect">
            <a:avLst/>
          </a:prstGeom>
          <a:noFill/>
        </p:spPr>
        <p:txBody>
          <a:bodyPr wrap="square">
            <a:spAutoFit/>
          </a:bodyPr>
          <a:lstStyle/>
          <a:p>
            <a:pPr algn="l"/>
            <a:r>
              <a:rPr sz="1000" b="0">
                <a:solidFill>
                  <a:srgbClr val="F1F5F9"/>
                </a:solidFill>
              </a:rPr>
              <a:t>▸  Date range filter for NewsAPI (from / to date pickers)</a:t>
            </a:r>
          </a:p>
        </p:txBody>
      </p:sp>
      <p:sp>
        <p:nvSpPr>
          <p:cNvPr id="20" name="TextBox 19"/>
          <p:cNvSpPr txBox="1"/>
          <p:nvPr/>
        </p:nvSpPr>
        <p:spPr>
          <a:xfrm>
            <a:off x="2606040" y="3611880"/>
            <a:ext cx="9144000" cy="246888"/>
          </a:xfrm>
          <a:prstGeom prst="rect">
            <a:avLst/>
          </a:prstGeom>
          <a:noFill/>
        </p:spPr>
        <p:txBody>
          <a:bodyPr wrap="square">
            <a:spAutoFit/>
          </a:bodyPr>
          <a:lstStyle/>
          <a:p>
            <a:pPr algn="l"/>
            <a:r>
              <a:rPr sz="1000" b="0">
                <a:solidFill>
                  <a:srgbClr val="F1F5F9"/>
                </a:solidFill>
              </a:rPr>
              <a:t>▸  Language selector — extend beyond English to multi-lingual results</a:t>
            </a:r>
          </a:p>
        </p:txBody>
      </p:sp>
      <p:sp>
        <p:nvSpPr>
          <p:cNvPr id="21" name="TextBox 20"/>
          <p:cNvSpPr txBox="1"/>
          <p:nvPr/>
        </p:nvSpPr>
        <p:spPr>
          <a:xfrm>
            <a:off x="2606040" y="3886200"/>
            <a:ext cx="9144000" cy="246888"/>
          </a:xfrm>
          <a:prstGeom prst="rect">
            <a:avLst/>
          </a:prstGeom>
          <a:noFill/>
        </p:spPr>
        <p:txBody>
          <a:bodyPr wrap="square">
            <a:spAutoFit/>
          </a:bodyPr>
          <a:lstStyle/>
          <a:p>
            <a:pPr algn="l"/>
            <a:r>
              <a:rPr sz="1000" b="0">
                <a:solidFill>
                  <a:srgbClr val="F1F5F9"/>
                </a:solidFill>
              </a:rPr>
              <a:t>▸  Source reliability indicator or sentiment score per article</a:t>
            </a:r>
          </a:p>
        </p:txBody>
      </p:sp>
      <p:sp>
        <p:nvSpPr>
          <p:cNvPr id="22" name="TextBox 21"/>
          <p:cNvSpPr txBox="1"/>
          <p:nvPr/>
        </p:nvSpPr>
        <p:spPr>
          <a:xfrm>
            <a:off x="2606040" y="4160520"/>
            <a:ext cx="9144000" cy="246888"/>
          </a:xfrm>
          <a:prstGeom prst="rect">
            <a:avLst/>
          </a:prstGeom>
          <a:noFill/>
        </p:spPr>
        <p:txBody>
          <a:bodyPr wrap="square">
            <a:spAutoFit/>
          </a:bodyPr>
          <a:lstStyle/>
          <a:p>
            <a:pPr algn="l"/>
            <a:r>
              <a:rPr sz="1000" b="0">
                <a:solidFill>
                  <a:srgbClr val="F1F5F9"/>
                </a:solidFill>
              </a:rPr>
              <a:t>▸  Copy-to-clipboard button on the AI summary output block</a:t>
            </a:r>
          </a:p>
        </p:txBody>
      </p:sp>
      <p:sp>
        <p:nvSpPr>
          <p:cNvPr id="23" name="Rectangle 22"/>
          <p:cNvSpPr/>
          <p:nvPr/>
        </p:nvSpPr>
        <p:spPr>
          <a:xfrm>
            <a:off x="320040" y="4754880"/>
            <a:ext cx="2011680" cy="157276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11480" y="4892040"/>
            <a:ext cx="1828800" cy="347472"/>
          </a:xfrm>
          <a:prstGeom prst="rect">
            <a:avLst/>
          </a:prstGeom>
          <a:noFill/>
        </p:spPr>
        <p:txBody>
          <a:bodyPr wrap="square">
            <a:spAutoFit/>
          </a:bodyPr>
          <a:lstStyle/>
          <a:p>
            <a:pPr algn="ctr"/>
            <a:r>
              <a:rPr sz="1100" b="1">
                <a:solidFill>
                  <a:srgbClr val="F1F5F9"/>
                </a:solidFill>
              </a:rPr>
              <a:t>Task 7.3</a:t>
            </a:r>
          </a:p>
        </p:txBody>
      </p:sp>
      <p:sp>
        <p:nvSpPr>
          <p:cNvPr id="25" name="TextBox 24"/>
          <p:cNvSpPr txBox="1"/>
          <p:nvPr/>
        </p:nvSpPr>
        <p:spPr>
          <a:xfrm>
            <a:off x="411480" y="5349240"/>
            <a:ext cx="1828800" cy="658368"/>
          </a:xfrm>
          <a:prstGeom prst="rect">
            <a:avLst/>
          </a:prstGeom>
          <a:noFill/>
        </p:spPr>
        <p:txBody>
          <a:bodyPr wrap="square">
            <a:spAutoFit/>
          </a:bodyPr>
          <a:lstStyle/>
          <a:p>
            <a:pPr algn="ctr"/>
            <a:r>
              <a:rPr sz="1100" b="1">
                <a:solidFill>
                  <a:srgbClr val="F1F5F9"/>
                </a:solidFill>
              </a:rPr>
              <a:t>Extended Functionality  [IMPLEMENTED]</a:t>
            </a:r>
          </a:p>
        </p:txBody>
      </p:sp>
      <p:sp>
        <p:nvSpPr>
          <p:cNvPr id="26" name="Rectangle 25"/>
          <p:cNvSpPr/>
          <p:nvPr/>
        </p:nvSpPr>
        <p:spPr>
          <a:xfrm>
            <a:off x="2468880" y="4754880"/>
            <a:ext cx="9418320" cy="157276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606040" y="4846320"/>
            <a:ext cx="9144000" cy="246888"/>
          </a:xfrm>
          <a:prstGeom prst="rect">
            <a:avLst/>
          </a:prstGeom>
          <a:noFill/>
        </p:spPr>
        <p:txBody>
          <a:bodyPr wrap="square">
            <a:spAutoFit/>
          </a:bodyPr>
          <a:lstStyle/>
          <a:p>
            <a:pPr algn="l"/>
            <a:r>
              <a:rPr sz="1000" b="0">
                <a:solidFill>
                  <a:srgbClr val="F1F5F9"/>
                </a:solidFill>
              </a:rPr>
              <a:t>▸  export_results(query) function implemented in the Jupyter notebook</a:t>
            </a:r>
          </a:p>
        </p:txBody>
      </p:sp>
      <p:sp>
        <p:nvSpPr>
          <p:cNvPr id="28" name="TextBox 27"/>
          <p:cNvSpPr txBox="1"/>
          <p:nvPr/>
        </p:nvSpPr>
        <p:spPr>
          <a:xfrm>
            <a:off x="2606040" y="5120640"/>
            <a:ext cx="9144000" cy="246888"/>
          </a:xfrm>
          <a:prstGeom prst="rect">
            <a:avLst/>
          </a:prstGeom>
          <a:noFill/>
        </p:spPr>
        <p:txBody>
          <a:bodyPr wrap="square">
            <a:spAutoFit/>
          </a:bodyPr>
          <a:lstStyle/>
          <a:p>
            <a:pPr algn="l"/>
            <a:r>
              <a:rPr sz="1000" b="0">
                <a:solidFill>
                  <a:srgbClr val="F1F5F9"/>
                </a:solidFill>
              </a:rPr>
              <a:t>▸  Fetches articles, generates LLM summary, saves to a dated CSV file</a:t>
            </a:r>
          </a:p>
        </p:txBody>
      </p:sp>
      <p:sp>
        <p:nvSpPr>
          <p:cNvPr id="29" name="TextBox 28"/>
          <p:cNvSpPr txBox="1"/>
          <p:nvPr/>
        </p:nvSpPr>
        <p:spPr>
          <a:xfrm>
            <a:off x="2606040" y="5394959"/>
            <a:ext cx="9144000" cy="246888"/>
          </a:xfrm>
          <a:prstGeom prst="rect">
            <a:avLst/>
          </a:prstGeom>
          <a:noFill/>
        </p:spPr>
        <p:txBody>
          <a:bodyPr wrap="square">
            <a:spAutoFit/>
          </a:bodyPr>
          <a:lstStyle/>
          <a:p>
            <a:pPr algn="l"/>
            <a:r>
              <a:rPr sz="1000" b="0">
                <a:solidFill>
                  <a:srgbClr val="F1F5F9"/>
                </a:solidFill>
              </a:rPr>
              <a:t>▸  Columns: query, title, source, published_at, description, url, llm_summary</a:t>
            </a:r>
          </a:p>
        </p:txBody>
      </p:sp>
      <p:sp>
        <p:nvSpPr>
          <p:cNvPr id="30" name="TextBox 29"/>
          <p:cNvSpPr txBox="1"/>
          <p:nvPr/>
        </p:nvSpPr>
        <p:spPr>
          <a:xfrm>
            <a:off x="2606040" y="5669279"/>
            <a:ext cx="9144000" cy="246888"/>
          </a:xfrm>
          <a:prstGeom prst="rect">
            <a:avLst/>
          </a:prstGeom>
          <a:noFill/>
        </p:spPr>
        <p:txBody>
          <a:bodyPr wrap="square">
            <a:spAutoFit/>
          </a:bodyPr>
          <a:lstStyle/>
          <a:p>
            <a:pPr algn="l"/>
            <a:r>
              <a:rPr sz="1000" b="0">
                <a:solidFill>
                  <a:srgbClr val="F1F5F9"/>
                </a:solidFill>
              </a:rPr>
              <a:t>▸  Useful for audit trails, client report generation, historical comparison</a:t>
            </a:r>
          </a:p>
        </p:txBody>
      </p:sp>
      <p:sp>
        <p:nvSpPr>
          <p:cNvPr id="31" name="TextBox 30"/>
          <p:cNvSpPr txBox="1"/>
          <p:nvPr/>
        </p:nvSpPr>
        <p:spPr>
          <a:xfrm>
            <a:off x="2606040" y="5943600"/>
            <a:ext cx="9144000" cy="246888"/>
          </a:xfrm>
          <a:prstGeom prst="rect">
            <a:avLst/>
          </a:prstGeom>
          <a:noFill/>
        </p:spPr>
        <p:txBody>
          <a:bodyPr wrap="square">
            <a:spAutoFit/>
          </a:bodyPr>
          <a:lstStyle/>
          <a:p>
            <a:pPr algn="l"/>
            <a:r>
              <a:rPr sz="1000" b="0">
                <a:solidFill>
                  <a:srgbClr val="F1F5F9"/>
                </a:solidFill>
              </a:rPr>
              <a:t>▸  Extendable to Excel export, database persistence, or scheduled runs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82296"/>
            <a:ext cx="11521440" cy="548640"/>
          </a:xfrm>
          <a:prstGeom prst="rect">
            <a:avLst/>
          </a:prstGeom>
          <a:noFill/>
        </p:spPr>
        <p:txBody>
          <a:bodyPr wrap="square">
            <a:spAutoFit/>
          </a:bodyPr>
          <a:lstStyle/>
          <a:p>
            <a:pPr algn="l"/>
            <a:r>
              <a:rPr sz="2600" b="1">
                <a:solidFill>
                  <a:srgbClr val="F1F5F9"/>
                </a:solidFill>
              </a:rPr>
              <a:t>Conclusion &amp; Key Learnings</a:t>
            </a:r>
          </a:p>
        </p:txBody>
      </p:sp>
      <p:sp>
        <p:nvSpPr>
          <p:cNvPr id="4" name="TextBox 3"/>
          <p:cNvSpPr txBox="1"/>
          <p:nvPr/>
        </p:nvSpPr>
        <p:spPr>
          <a:xfrm>
            <a:off x="274320" y="658368"/>
            <a:ext cx="11521440" cy="347472"/>
          </a:xfrm>
          <a:prstGeom prst="rect">
            <a:avLst/>
          </a:prstGeom>
          <a:noFill/>
        </p:spPr>
        <p:txBody>
          <a:bodyPr wrap="square">
            <a:spAutoFit/>
          </a:bodyPr>
          <a:lstStyle/>
          <a:p>
            <a:pPr algn="l"/>
            <a:r>
              <a:rPr sz="1100" b="0">
                <a:solidFill>
                  <a:srgbClr val="94A3B8"/>
                </a:solidFill>
              </a:rPr>
              <a:t>What this project demonstrates and the skills it builds</a:t>
            </a:r>
          </a:p>
        </p:txBody>
      </p:sp>
      <p:sp>
        <p:nvSpPr>
          <p:cNvPr id="5" name="Rectangle 4"/>
          <p:cNvSpPr/>
          <p:nvPr/>
        </p:nvSpPr>
        <p:spPr>
          <a:xfrm>
            <a:off x="320040" y="1188720"/>
            <a:ext cx="11521440" cy="14173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280160"/>
            <a:ext cx="11155680" cy="292608"/>
          </a:xfrm>
          <a:prstGeom prst="rect">
            <a:avLst/>
          </a:prstGeom>
          <a:noFill/>
        </p:spPr>
        <p:txBody>
          <a:bodyPr wrap="square">
            <a:spAutoFit/>
          </a:bodyPr>
          <a:lstStyle/>
          <a:p>
            <a:pPr algn="l"/>
            <a:r>
              <a:rPr sz="1100" b="1">
                <a:solidFill>
                  <a:srgbClr val="6366F1"/>
                </a:solidFill>
              </a:rPr>
              <a:t>Project Summary</a:t>
            </a:r>
          </a:p>
        </p:txBody>
      </p:sp>
      <p:sp>
        <p:nvSpPr>
          <p:cNvPr id="7" name="TextBox 6"/>
          <p:cNvSpPr txBox="1"/>
          <p:nvPr/>
        </p:nvSpPr>
        <p:spPr>
          <a:xfrm>
            <a:off x="457200" y="1645920"/>
            <a:ext cx="11155680" cy="868680"/>
          </a:xfrm>
          <a:prstGeom prst="rect">
            <a:avLst/>
          </a:prstGeom>
          <a:noFill/>
        </p:spPr>
        <p:txBody>
          <a:bodyPr wrap="square">
            <a:spAutoFit/>
          </a:bodyPr>
          <a:lstStyle/>
          <a:p>
            <a:pPr algn="l"/>
            <a:r>
              <a:rPr sz="1100" b="0">
                <a:solidFill>
                  <a:srgbClr val="F1F5F9"/>
                </a:solidFill>
              </a:rPr>
              <a:t>This project delivers a fully functional, end-to-end AI news research tool for equity analysts. It integrates real-time news data (NewsAPI), orchestrated LLM summarisation (LangChain + OpenAI), and an interactive web interface (Streamlit) — demonstrating a practical LLMOps stack from data ingestion through to a deployed, user-facing application.</a:t>
            </a:r>
          </a:p>
        </p:txBody>
      </p:sp>
      <p:sp>
        <p:nvSpPr>
          <p:cNvPr id="8" name="Rectangle 7"/>
          <p:cNvSpPr/>
          <p:nvPr/>
        </p:nvSpPr>
        <p:spPr>
          <a:xfrm>
            <a:off x="320040" y="2788920"/>
            <a:ext cx="1828800" cy="1170432"/>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79" y="3172968"/>
            <a:ext cx="1645920" cy="402336"/>
          </a:xfrm>
          <a:prstGeom prst="rect">
            <a:avLst/>
          </a:prstGeom>
          <a:noFill/>
        </p:spPr>
        <p:txBody>
          <a:bodyPr wrap="square">
            <a:spAutoFit/>
          </a:bodyPr>
          <a:lstStyle/>
          <a:p>
            <a:pPr algn="ctr"/>
            <a:r>
              <a:rPr sz="1200" b="1">
                <a:solidFill>
                  <a:srgbClr val="F1F5F9"/>
                </a:solidFill>
              </a:rPr>
              <a:t>LangChain LCEL</a:t>
            </a:r>
          </a:p>
        </p:txBody>
      </p:sp>
      <p:sp>
        <p:nvSpPr>
          <p:cNvPr id="10" name="Rectangle 9"/>
          <p:cNvSpPr/>
          <p:nvPr/>
        </p:nvSpPr>
        <p:spPr>
          <a:xfrm>
            <a:off x="2286000" y="2788920"/>
            <a:ext cx="3703320" cy="11704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77440" y="2916936"/>
            <a:ext cx="3520440" cy="914400"/>
          </a:xfrm>
          <a:prstGeom prst="rect">
            <a:avLst/>
          </a:prstGeom>
          <a:noFill/>
        </p:spPr>
        <p:txBody>
          <a:bodyPr wrap="square">
            <a:spAutoFit/>
          </a:bodyPr>
          <a:lstStyle/>
          <a:p>
            <a:pPr algn="l"/>
            <a:r>
              <a:rPr sz="1000" b="0">
                <a:solidFill>
                  <a:srgbClr val="F1F5F9"/>
                </a:solidFill>
              </a:rPr>
              <a:t>Built declarative LLM pipelines using the | operator — composing prompts and models without LLMChain boilerplate</a:t>
            </a:r>
          </a:p>
        </p:txBody>
      </p:sp>
      <p:sp>
        <p:nvSpPr>
          <p:cNvPr id="12" name="Rectangle 11"/>
          <p:cNvSpPr/>
          <p:nvPr/>
        </p:nvSpPr>
        <p:spPr>
          <a:xfrm>
            <a:off x="6126479" y="2788920"/>
            <a:ext cx="1828800" cy="117043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17919" y="3172968"/>
            <a:ext cx="1645920" cy="402336"/>
          </a:xfrm>
          <a:prstGeom prst="rect">
            <a:avLst/>
          </a:prstGeom>
          <a:noFill/>
        </p:spPr>
        <p:txBody>
          <a:bodyPr wrap="square">
            <a:spAutoFit/>
          </a:bodyPr>
          <a:lstStyle/>
          <a:p>
            <a:pPr algn="ctr"/>
            <a:r>
              <a:rPr sz="1200" b="1">
                <a:solidFill>
                  <a:srgbClr val="F1F5F9"/>
                </a:solidFill>
              </a:rPr>
              <a:t>OpenAI API</a:t>
            </a:r>
          </a:p>
        </p:txBody>
      </p:sp>
      <p:sp>
        <p:nvSpPr>
          <p:cNvPr id="14" name="Rectangle 13"/>
          <p:cNvSpPr/>
          <p:nvPr/>
        </p:nvSpPr>
        <p:spPr>
          <a:xfrm>
            <a:off x="8092440" y="2788920"/>
            <a:ext cx="3703320" cy="11704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83879" y="2916936"/>
            <a:ext cx="3520440" cy="914400"/>
          </a:xfrm>
          <a:prstGeom prst="rect">
            <a:avLst/>
          </a:prstGeom>
          <a:noFill/>
        </p:spPr>
        <p:txBody>
          <a:bodyPr wrap="square">
            <a:spAutoFit/>
          </a:bodyPr>
          <a:lstStyle/>
          <a:p>
            <a:pPr algn="l"/>
            <a:r>
              <a:rPr sz="1000" b="0">
                <a:solidFill>
                  <a:srgbClr val="F1F5F9"/>
                </a:solidFill>
              </a:rPr>
              <a:t>Integrated GPT securely via langchain-openai with temperature tuning for research-quality output</a:t>
            </a:r>
          </a:p>
        </p:txBody>
      </p:sp>
      <p:sp>
        <p:nvSpPr>
          <p:cNvPr id="16" name="Rectangle 15"/>
          <p:cNvSpPr/>
          <p:nvPr/>
        </p:nvSpPr>
        <p:spPr>
          <a:xfrm>
            <a:off x="320040" y="4114800"/>
            <a:ext cx="1828800" cy="117043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11479" y="4498848"/>
            <a:ext cx="1645920" cy="402336"/>
          </a:xfrm>
          <a:prstGeom prst="rect">
            <a:avLst/>
          </a:prstGeom>
          <a:noFill/>
        </p:spPr>
        <p:txBody>
          <a:bodyPr wrap="square">
            <a:spAutoFit/>
          </a:bodyPr>
          <a:lstStyle/>
          <a:p>
            <a:pPr algn="ctr"/>
            <a:r>
              <a:rPr sz="1200" b="1">
                <a:solidFill>
                  <a:srgbClr val="F1F5F9"/>
                </a:solidFill>
              </a:rPr>
              <a:t>NewsAPI</a:t>
            </a:r>
          </a:p>
        </p:txBody>
      </p:sp>
      <p:sp>
        <p:nvSpPr>
          <p:cNvPr id="18" name="Rectangle 17"/>
          <p:cNvSpPr/>
          <p:nvPr/>
        </p:nvSpPr>
        <p:spPr>
          <a:xfrm>
            <a:off x="2286000" y="4114800"/>
            <a:ext cx="3703320" cy="11704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377440" y="4242816"/>
            <a:ext cx="3520440" cy="914400"/>
          </a:xfrm>
          <a:prstGeom prst="rect">
            <a:avLst/>
          </a:prstGeom>
          <a:noFill/>
        </p:spPr>
        <p:txBody>
          <a:bodyPr wrap="square">
            <a:spAutoFit/>
          </a:bodyPr>
          <a:lstStyle/>
          <a:p>
            <a:pPr algn="l"/>
            <a:r>
              <a:rPr sz="1000" b="0">
                <a:solidFill>
                  <a:srgbClr val="F1F5F9"/>
                </a:solidFill>
              </a:rPr>
              <a:t>Consumed a real-time REST news API — fetching, filtering, and processing structured JSON article data</a:t>
            </a:r>
          </a:p>
        </p:txBody>
      </p:sp>
      <p:sp>
        <p:nvSpPr>
          <p:cNvPr id="20" name="Rectangle 19"/>
          <p:cNvSpPr/>
          <p:nvPr/>
        </p:nvSpPr>
        <p:spPr>
          <a:xfrm>
            <a:off x="6126479" y="4114800"/>
            <a:ext cx="1828800" cy="117043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217919" y="4498848"/>
            <a:ext cx="1645920" cy="402336"/>
          </a:xfrm>
          <a:prstGeom prst="rect">
            <a:avLst/>
          </a:prstGeom>
          <a:noFill/>
        </p:spPr>
        <p:txBody>
          <a:bodyPr wrap="square">
            <a:spAutoFit/>
          </a:bodyPr>
          <a:lstStyle/>
          <a:p>
            <a:pPr algn="ctr"/>
            <a:r>
              <a:rPr sz="1200" b="1">
                <a:solidFill>
                  <a:srgbClr val="F1F5F9"/>
                </a:solidFill>
              </a:rPr>
              <a:t>Streamlit</a:t>
            </a:r>
          </a:p>
        </p:txBody>
      </p:sp>
      <p:sp>
        <p:nvSpPr>
          <p:cNvPr id="22" name="Rectangle 21"/>
          <p:cNvSpPr/>
          <p:nvPr/>
        </p:nvSpPr>
        <p:spPr>
          <a:xfrm>
            <a:off x="8092440" y="4114800"/>
            <a:ext cx="3703320" cy="11704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183879" y="4242816"/>
            <a:ext cx="3520440" cy="914400"/>
          </a:xfrm>
          <a:prstGeom prst="rect">
            <a:avLst/>
          </a:prstGeom>
          <a:noFill/>
        </p:spPr>
        <p:txBody>
          <a:bodyPr wrap="square">
            <a:spAutoFit/>
          </a:bodyPr>
          <a:lstStyle/>
          <a:p>
            <a:pPr algn="l"/>
            <a:r>
              <a:rPr sz="1000" b="0">
                <a:solidFill>
                  <a:srgbClr val="F1F5F9"/>
                </a:solidFill>
              </a:rPr>
              <a:t>Built a production-quality web UI — spinner, expanders, markdown links, and edge-case handling in pure Python</a:t>
            </a:r>
          </a:p>
        </p:txBody>
      </p:sp>
      <p:sp>
        <p:nvSpPr>
          <p:cNvPr id="24" name="Rectangle 23"/>
          <p:cNvSpPr/>
          <p:nvPr/>
        </p:nvSpPr>
        <p:spPr>
          <a:xfrm>
            <a:off x="320040" y="5440679"/>
            <a:ext cx="1828800" cy="1170432"/>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11479" y="5824727"/>
            <a:ext cx="1645920" cy="402336"/>
          </a:xfrm>
          <a:prstGeom prst="rect">
            <a:avLst/>
          </a:prstGeom>
          <a:noFill/>
        </p:spPr>
        <p:txBody>
          <a:bodyPr wrap="square">
            <a:spAutoFit/>
          </a:bodyPr>
          <a:lstStyle/>
          <a:p>
            <a:pPr algn="ctr"/>
            <a:r>
              <a:rPr sz="1200" b="1">
                <a:solidFill>
                  <a:srgbClr val="F1F5F9"/>
                </a:solidFill>
              </a:rPr>
              <a:t>Prompt Engineering</a:t>
            </a:r>
          </a:p>
        </p:txBody>
      </p:sp>
      <p:sp>
        <p:nvSpPr>
          <p:cNvPr id="26" name="Rectangle 25"/>
          <p:cNvSpPr/>
          <p:nvPr/>
        </p:nvSpPr>
        <p:spPr>
          <a:xfrm>
            <a:off x="2286000" y="5440679"/>
            <a:ext cx="3703320" cy="11704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377440" y="5568695"/>
            <a:ext cx="3520440" cy="914400"/>
          </a:xfrm>
          <a:prstGeom prst="rect">
            <a:avLst/>
          </a:prstGeom>
          <a:noFill/>
        </p:spPr>
        <p:txBody>
          <a:bodyPr wrap="square">
            <a:spAutoFit/>
          </a:bodyPr>
          <a:lstStyle/>
          <a:p>
            <a:pPr algn="l"/>
            <a:r>
              <a:rPr sz="1000" b="0">
                <a:solidFill>
                  <a:srgbClr val="F1F5F9"/>
                </a:solidFill>
              </a:rPr>
              <a:t>Designed an analyst-role system prompt with {query} and {summaries} placeholders for context-aware summarisation</a:t>
            </a:r>
          </a:p>
        </p:txBody>
      </p:sp>
      <p:sp>
        <p:nvSpPr>
          <p:cNvPr id="28" name="Rectangle 27"/>
          <p:cNvSpPr/>
          <p:nvPr/>
        </p:nvSpPr>
        <p:spPr>
          <a:xfrm>
            <a:off x="6126479" y="5440679"/>
            <a:ext cx="1828800" cy="1170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217919" y="5824727"/>
            <a:ext cx="1645920" cy="402336"/>
          </a:xfrm>
          <a:prstGeom prst="rect">
            <a:avLst/>
          </a:prstGeom>
          <a:noFill/>
        </p:spPr>
        <p:txBody>
          <a:bodyPr wrap="square">
            <a:spAutoFit/>
          </a:bodyPr>
          <a:lstStyle/>
          <a:p>
            <a:pPr algn="ctr"/>
            <a:r>
              <a:rPr sz="1200" b="1">
                <a:solidFill>
                  <a:srgbClr val="F1F5F9"/>
                </a:solidFill>
              </a:rPr>
              <a:t>Jupyter Testing</a:t>
            </a:r>
          </a:p>
        </p:txBody>
      </p:sp>
      <p:sp>
        <p:nvSpPr>
          <p:cNvPr id="30" name="Rectangle 29"/>
          <p:cNvSpPr/>
          <p:nvPr/>
        </p:nvSpPr>
        <p:spPr>
          <a:xfrm>
            <a:off x="8092440" y="5440679"/>
            <a:ext cx="3703320" cy="11704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183879" y="5568695"/>
            <a:ext cx="3520440" cy="914400"/>
          </a:xfrm>
          <a:prstGeom prst="rect">
            <a:avLst/>
          </a:prstGeom>
          <a:noFill/>
        </p:spPr>
        <p:txBody>
          <a:bodyPr wrap="square">
            <a:spAutoFit/>
          </a:bodyPr>
          <a:lstStyle/>
          <a:p>
            <a:pPr algn="l"/>
            <a:r>
              <a:rPr sz="1000" b="0">
                <a:solidFill>
                  <a:srgbClr val="F1F5F9"/>
                </a:solidFill>
              </a:rPr>
              <a:t>Validated the full pipeline with programmatic quality checks across multiple real-world test queries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82296"/>
            <a:ext cx="11521440" cy="548640"/>
          </a:xfrm>
          <a:prstGeom prst="rect">
            <a:avLst/>
          </a:prstGeom>
          <a:noFill/>
        </p:spPr>
        <p:txBody>
          <a:bodyPr wrap="square">
            <a:spAutoFit/>
          </a:bodyPr>
          <a:lstStyle/>
          <a:p>
            <a:pPr algn="l"/>
            <a:r>
              <a:rPr sz="2600" b="1">
                <a:solidFill>
                  <a:srgbClr val="F1F5F9"/>
                </a:solidFill>
              </a:rPr>
              <a:t>References</a:t>
            </a:r>
          </a:p>
        </p:txBody>
      </p:sp>
      <p:sp>
        <p:nvSpPr>
          <p:cNvPr id="4" name="TextBox 3"/>
          <p:cNvSpPr txBox="1"/>
          <p:nvPr/>
        </p:nvSpPr>
        <p:spPr>
          <a:xfrm>
            <a:off x="274320" y="658368"/>
            <a:ext cx="11521440" cy="347472"/>
          </a:xfrm>
          <a:prstGeom prst="rect">
            <a:avLst/>
          </a:prstGeom>
          <a:noFill/>
        </p:spPr>
        <p:txBody>
          <a:bodyPr wrap="square">
            <a:spAutoFit/>
          </a:bodyPr>
          <a:lstStyle/>
          <a:p>
            <a:pPr algn="l"/>
            <a:r>
              <a:rPr sz="1100" b="0">
                <a:solidFill>
                  <a:srgbClr val="94A3B8"/>
                </a:solidFill>
              </a:rPr>
              <a:t>Documentation, APIs, and resources used throughout this project</a:t>
            </a:r>
          </a:p>
        </p:txBody>
      </p:sp>
      <p:sp>
        <p:nvSpPr>
          <p:cNvPr id="5" name="Rectangle 4"/>
          <p:cNvSpPr/>
          <p:nvPr/>
        </p:nvSpPr>
        <p:spPr>
          <a:xfrm>
            <a:off x="320040" y="1188720"/>
            <a:ext cx="475488" cy="77724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1408176"/>
            <a:ext cx="475488" cy="347472"/>
          </a:xfrm>
          <a:prstGeom prst="rect">
            <a:avLst/>
          </a:prstGeom>
          <a:noFill/>
        </p:spPr>
        <p:txBody>
          <a:bodyPr wrap="square">
            <a:spAutoFit/>
          </a:bodyPr>
          <a:lstStyle/>
          <a:p>
            <a:pPr algn="ctr"/>
            <a:r>
              <a:rPr sz="1400" b="1">
                <a:solidFill>
                  <a:srgbClr val="F1F5F9"/>
                </a:solidFill>
              </a:rPr>
              <a:t>1</a:t>
            </a:r>
          </a:p>
        </p:txBody>
      </p:sp>
      <p:sp>
        <p:nvSpPr>
          <p:cNvPr id="7" name="Rectangle 6"/>
          <p:cNvSpPr/>
          <p:nvPr/>
        </p:nvSpPr>
        <p:spPr>
          <a:xfrm>
            <a:off x="886968" y="1188720"/>
            <a:ext cx="11018520" cy="7772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24128" y="1234440"/>
            <a:ext cx="10744200" cy="274320"/>
          </a:xfrm>
          <a:prstGeom prst="rect">
            <a:avLst/>
          </a:prstGeom>
          <a:noFill/>
        </p:spPr>
        <p:txBody>
          <a:bodyPr wrap="square">
            <a:spAutoFit/>
          </a:bodyPr>
          <a:lstStyle/>
          <a:p>
            <a:pPr algn="l"/>
            <a:r>
              <a:rPr sz="1200" b="1">
                <a:solidFill>
                  <a:srgbClr val="F1F5F9"/>
                </a:solidFill>
              </a:rPr>
              <a:t>LangChain Python Documentation</a:t>
            </a:r>
          </a:p>
        </p:txBody>
      </p:sp>
      <p:sp>
        <p:nvSpPr>
          <p:cNvPr id="9" name="TextBox 8"/>
          <p:cNvSpPr txBox="1"/>
          <p:nvPr/>
        </p:nvSpPr>
        <p:spPr>
          <a:xfrm>
            <a:off x="1024128" y="1536192"/>
            <a:ext cx="10744200" cy="201168"/>
          </a:xfrm>
          <a:prstGeom prst="rect">
            <a:avLst/>
          </a:prstGeom>
          <a:noFill/>
        </p:spPr>
        <p:txBody>
          <a:bodyPr wrap="square">
            <a:spAutoFit/>
          </a:bodyPr>
          <a:lstStyle/>
          <a:p>
            <a:pPr algn="l"/>
            <a:r>
              <a:rPr sz="900" b="0">
                <a:solidFill>
                  <a:srgbClr val="94A3B8"/>
                </a:solidFill>
              </a:rPr>
              <a:t>Official docs covering PromptTemplate, LLMChain, and LCEL (LangChain Expression Language).</a:t>
            </a:r>
          </a:p>
        </p:txBody>
      </p:sp>
      <p:sp>
        <p:nvSpPr>
          <p:cNvPr id="10" name="TextBox 9"/>
          <p:cNvSpPr txBox="1"/>
          <p:nvPr/>
        </p:nvSpPr>
        <p:spPr>
          <a:xfrm>
            <a:off x="1024128" y="1755648"/>
            <a:ext cx="10744200" cy="201168"/>
          </a:xfrm>
          <a:prstGeom prst="rect">
            <a:avLst/>
          </a:prstGeom>
          <a:noFill/>
        </p:spPr>
        <p:txBody>
          <a:bodyPr wrap="none">
            <a:spAutoFit/>
          </a:bodyPr>
          <a:lstStyle/>
          <a:p>
            <a:r>
              <a:rPr sz="900">
                <a:solidFill>
                  <a:srgbClr val="3B82F6"/>
                </a:solidFill>
              </a:rPr>
              <a:t>https://python.langchain.com/docs/</a:t>
            </a:r>
          </a:p>
        </p:txBody>
      </p:sp>
      <p:sp>
        <p:nvSpPr>
          <p:cNvPr id="11" name="Rectangle 10"/>
          <p:cNvSpPr/>
          <p:nvPr/>
        </p:nvSpPr>
        <p:spPr>
          <a:xfrm>
            <a:off x="320040" y="2112264"/>
            <a:ext cx="475488" cy="7772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0040" y="2331720"/>
            <a:ext cx="475488" cy="347472"/>
          </a:xfrm>
          <a:prstGeom prst="rect">
            <a:avLst/>
          </a:prstGeom>
          <a:noFill/>
        </p:spPr>
        <p:txBody>
          <a:bodyPr wrap="square">
            <a:spAutoFit/>
          </a:bodyPr>
          <a:lstStyle/>
          <a:p>
            <a:pPr algn="ctr"/>
            <a:r>
              <a:rPr sz="1400" b="1">
                <a:solidFill>
                  <a:srgbClr val="F1F5F9"/>
                </a:solidFill>
              </a:rPr>
              <a:t>2</a:t>
            </a:r>
          </a:p>
        </p:txBody>
      </p:sp>
      <p:sp>
        <p:nvSpPr>
          <p:cNvPr id="13" name="Rectangle 12"/>
          <p:cNvSpPr/>
          <p:nvPr/>
        </p:nvSpPr>
        <p:spPr>
          <a:xfrm>
            <a:off x="886968" y="2112264"/>
            <a:ext cx="11018520" cy="7772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24128" y="2157984"/>
            <a:ext cx="10744200" cy="274320"/>
          </a:xfrm>
          <a:prstGeom prst="rect">
            <a:avLst/>
          </a:prstGeom>
          <a:noFill/>
        </p:spPr>
        <p:txBody>
          <a:bodyPr wrap="square">
            <a:spAutoFit/>
          </a:bodyPr>
          <a:lstStyle/>
          <a:p>
            <a:pPr algn="l"/>
            <a:r>
              <a:rPr sz="1200" b="1">
                <a:solidFill>
                  <a:srgbClr val="F1F5F9"/>
                </a:solidFill>
              </a:rPr>
              <a:t>OpenAI API Reference</a:t>
            </a:r>
          </a:p>
        </p:txBody>
      </p:sp>
      <p:sp>
        <p:nvSpPr>
          <p:cNvPr id="15" name="TextBox 14"/>
          <p:cNvSpPr txBox="1"/>
          <p:nvPr/>
        </p:nvSpPr>
        <p:spPr>
          <a:xfrm>
            <a:off x="1024128" y="2459736"/>
            <a:ext cx="10744200" cy="201168"/>
          </a:xfrm>
          <a:prstGeom prst="rect">
            <a:avLst/>
          </a:prstGeom>
          <a:noFill/>
        </p:spPr>
        <p:txBody>
          <a:bodyPr wrap="square">
            <a:spAutoFit/>
          </a:bodyPr>
          <a:lstStyle/>
          <a:p>
            <a:pPr algn="l"/>
            <a:r>
              <a:rPr sz="900" b="0">
                <a:solidFill>
                  <a:srgbClr val="94A3B8"/>
                </a:solidFill>
              </a:rPr>
              <a:t>Developer platform reference for Completions endpoint used via the langchain-openai package.</a:t>
            </a:r>
          </a:p>
        </p:txBody>
      </p:sp>
      <p:sp>
        <p:nvSpPr>
          <p:cNvPr id="16" name="TextBox 15"/>
          <p:cNvSpPr txBox="1"/>
          <p:nvPr/>
        </p:nvSpPr>
        <p:spPr>
          <a:xfrm>
            <a:off x="1024128" y="2679192"/>
            <a:ext cx="10744200" cy="201168"/>
          </a:xfrm>
          <a:prstGeom prst="rect">
            <a:avLst/>
          </a:prstGeom>
          <a:noFill/>
        </p:spPr>
        <p:txBody>
          <a:bodyPr wrap="none">
            <a:spAutoFit/>
          </a:bodyPr>
          <a:lstStyle/>
          <a:p>
            <a:r>
              <a:rPr sz="900">
                <a:solidFill>
                  <a:srgbClr val="3B82F6"/>
                </a:solidFill>
              </a:rPr>
              <a:t>https://platform.openai.com/docs/</a:t>
            </a:r>
          </a:p>
        </p:txBody>
      </p:sp>
      <p:sp>
        <p:nvSpPr>
          <p:cNvPr id="17" name="Rectangle 16"/>
          <p:cNvSpPr/>
          <p:nvPr/>
        </p:nvSpPr>
        <p:spPr>
          <a:xfrm>
            <a:off x="320040" y="3035808"/>
            <a:ext cx="475488" cy="777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20040" y="3255264"/>
            <a:ext cx="475488" cy="347472"/>
          </a:xfrm>
          <a:prstGeom prst="rect">
            <a:avLst/>
          </a:prstGeom>
          <a:noFill/>
        </p:spPr>
        <p:txBody>
          <a:bodyPr wrap="square">
            <a:spAutoFit/>
          </a:bodyPr>
          <a:lstStyle/>
          <a:p>
            <a:pPr algn="ctr"/>
            <a:r>
              <a:rPr sz="1400" b="1">
                <a:solidFill>
                  <a:srgbClr val="F1F5F9"/>
                </a:solidFill>
              </a:rPr>
              <a:t>3</a:t>
            </a:r>
          </a:p>
        </p:txBody>
      </p:sp>
      <p:sp>
        <p:nvSpPr>
          <p:cNvPr id="19" name="Rectangle 18"/>
          <p:cNvSpPr/>
          <p:nvPr/>
        </p:nvSpPr>
        <p:spPr>
          <a:xfrm>
            <a:off x="886968" y="3035808"/>
            <a:ext cx="11018520" cy="7772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4128" y="3081528"/>
            <a:ext cx="10744200" cy="274320"/>
          </a:xfrm>
          <a:prstGeom prst="rect">
            <a:avLst/>
          </a:prstGeom>
          <a:noFill/>
        </p:spPr>
        <p:txBody>
          <a:bodyPr wrap="square">
            <a:spAutoFit/>
          </a:bodyPr>
          <a:lstStyle/>
          <a:p>
            <a:pPr algn="l"/>
            <a:r>
              <a:rPr sz="1200" b="1">
                <a:solidFill>
                  <a:srgbClr val="F1F5F9"/>
                </a:solidFill>
              </a:rPr>
              <a:t>NewsAPI Documentation</a:t>
            </a:r>
          </a:p>
        </p:txBody>
      </p:sp>
      <p:sp>
        <p:nvSpPr>
          <p:cNvPr id="21" name="TextBox 20"/>
          <p:cNvSpPr txBox="1"/>
          <p:nvPr/>
        </p:nvSpPr>
        <p:spPr>
          <a:xfrm>
            <a:off x="1024128" y="3383280"/>
            <a:ext cx="10744200" cy="201168"/>
          </a:xfrm>
          <a:prstGeom prst="rect">
            <a:avLst/>
          </a:prstGeom>
          <a:noFill/>
        </p:spPr>
        <p:txBody>
          <a:bodyPr wrap="square">
            <a:spAutoFit/>
          </a:bodyPr>
          <a:lstStyle/>
          <a:p>
            <a:pPr algn="l"/>
            <a:r>
              <a:rPr sz="900" b="0">
                <a:solidFill>
                  <a:srgbClr val="94A3B8"/>
                </a:solidFill>
              </a:rPr>
              <a:t>Developer docs for the /everything endpoint — query parameters, response schema, Python client.</a:t>
            </a:r>
          </a:p>
        </p:txBody>
      </p:sp>
      <p:sp>
        <p:nvSpPr>
          <p:cNvPr id="22" name="TextBox 21"/>
          <p:cNvSpPr txBox="1"/>
          <p:nvPr/>
        </p:nvSpPr>
        <p:spPr>
          <a:xfrm>
            <a:off x="1024128" y="3602736"/>
            <a:ext cx="10744200" cy="201168"/>
          </a:xfrm>
          <a:prstGeom prst="rect">
            <a:avLst/>
          </a:prstGeom>
          <a:noFill/>
        </p:spPr>
        <p:txBody>
          <a:bodyPr wrap="none">
            <a:spAutoFit/>
          </a:bodyPr>
          <a:lstStyle/>
          <a:p>
            <a:r>
              <a:rPr sz="900">
                <a:solidFill>
                  <a:srgbClr val="3B82F6"/>
                </a:solidFill>
              </a:rPr>
              <a:t>https://newsapi.org/docs/</a:t>
            </a:r>
          </a:p>
        </p:txBody>
      </p:sp>
      <p:sp>
        <p:nvSpPr>
          <p:cNvPr id="23" name="Rectangle 22"/>
          <p:cNvSpPr/>
          <p:nvPr/>
        </p:nvSpPr>
        <p:spPr>
          <a:xfrm>
            <a:off x="320040" y="3959352"/>
            <a:ext cx="475488" cy="7772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20040" y="4178808"/>
            <a:ext cx="475488" cy="347472"/>
          </a:xfrm>
          <a:prstGeom prst="rect">
            <a:avLst/>
          </a:prstGeom>
          <a:noFill/>
        </p:spPr>
        <p:txBody>
          <a:bodyPr wrap="square">
            <a:spAutoFit/>
          </a:bodyPr>
          <a:lstStyle/>
          <a:p>
            <a:pPr algn="ctr"/>
            <a:r>
              <a:rPr sz="1400" b="1">
                <a:solidFill>
                  <a:srgbClr val="F1F5F9"/>
                </a:solidFill>
              </a:rPr>
              <a:t>4</a:t>
            </a:r>
          </a:p>
        </p:txBody>
      </p:sp>
      <p:sp>
        <p:nvSpPr>
          <p:cNvPr id="25" name="Rectangle 24"/>
          <p:cNvSpPr/>
          <p:nvPr/>
        </p:nvSpPr>
        <p:spPr>
          <a:xfrm>
            <a:off x="886968" y="3959352"/>
            <a:ext cx="11018520" cy="7772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24128" y="4005072"/>
            <a:ext cx="10744200" cy="274320"/>
          </a:xfrm>
          <a:prstGeom prst="rect">
            <a:avLst/>
          </a:prstGeom>
          <a:noFill/>
        </p:spPr>
        <p:txBody>
          <a:bodyPr wrap="square">
            <a:spAutoFit/>
          </a:bodyPr>
          <a:lstStyle/>
          <a:p>
            <a:pPr algn="l"/>
            <a:r>
              <a:rPr sz="1200" b="1">
                <a:solidFill>
                  <a:srgbClr val="F1F5F9"/>
                </a:solidFill>
              </a:rPr>
              <a:t>Streamlit Documentation</a:t>
            </a:r>
          </a:p>
        </p:txBody>
      </p:sp>
      <p:sp>
        <p:nvSpPr>
          <p:cNvPr id="27" name="TextBox 26"/>
          <p:cNvSpPr txBox="1"/>
          <p:nvPr/>
        </p:nvSpPr>
        <p:spPr>
          <a:xfrm>
            <a:off x="1024128" y="4306824"/>
            <a:ext cx="10744200" cy="201168"/>
          </a:xfrm>
          <a:prstGeom prst="rect">
            <a:avLst/>
          </a:prstGeom>
          <a:noFill/>
        </p:spPr>
        <p:txBody>
          <a:bodyPr wrap="square">
            <a:spAutoFit/>
          </a:bodyPr>
          <a:lstStyle/>
          <a:p>
            <a:pPr algn="l"/>
            <a:r>
              <a:rPr sz="900" b="0">
                <a:solidFill>
                  <a:srgbClr val="94A3B8"/>
                </a:solidFill>
              </a:rPr>
              <a:t>Official Streamlit docs covering st.text_input, st.button, st.expander, st.spinner, and page config.</a:t>
            </a:r>
          </a:p>
        </p:txBody>
      </p:sp>
      <p:sp>
        <p:nvSpPr>
          <p:cNvPr id="28" name="TextBox 27"/>
          <p:cNvSpPr txBox="1"/>
          <p:nvPr/>
        </p:nvSpPr>
        <p:spPr>
          <a:xfrm>
            <a:off x="1024128" y="4526280"/>
            <a:ext cx="10744200" cy="201168"/>
          </a:xfrm>
          <a:prstGeom prst="rect">
            <a:avLst/>
          </a:prstGeom>
          <a:noFill/>
        </p:spPr>
        <p:txBody>
          <a:bodyPr wrap="none">
            <a:spAutoFit/>
          </a:bodyPr>
          <a:lstStyle/>
          <a:p>
            <a:r>
              <a:rPr sz="900">
                <a:solidFill>
                  <a:srgbClr val="3B82F6"/>
                </a:solidFill>
              </a:rPr>
              <a:t>https://docs.streamlit.io/</a:t>
            </a:r>
          </a:p>
        </p:txBody>
      </p:sp>
      <p:sp>
        <p:nvSpPr>
          <p:cNvPr id="29" name="Rectangle 28"/>
          <p:cNvSpPr/>
          <p:nvPr/>
        </p:nvSpPr>
        <p:spPr>
          <a:xfrm>
            <a:off x="320040" y="4882896"/>
            <a:ext cx="475488" cy="777240"/>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20040" y="5102352"/>
            <a:ext cx="475488" cy="347472"/>
          </a:xfrm>
          <a:prstGeom prst="rect">
            <a:avLst/>
          </a:prstGeom>
          <a:noFill/>
        </p:spPr>
        <p:txBody>
          <a:bodyPr wrap="square">
            <a:spAutoFit/>
          </a:bodyPr>
          <a:lstStyle/>
          <a:p>
            <a:pPr algn="ctr"/>
            <a:r>
              <a:rPr sz="1400" b="1">
                <a:solidFill>
                  <a:srgbClr val="F1F5F9"/>
                </a:solidFill>
              </a:rPr>
              <a:t>5</a:t>
            </a:r>
          </a:p>
        </p:txBody>
      </p:sp>
      <p:sp>
        <p:nvSpPr>
          <p:cNvPr id="31" name="Rectangle 30"/>
          <p:cNvSpPr/>
          <p:nvPr/>
        </p:nvSpPr>
        <p:spPr>
          <a:xfrm>
            <a:off x="886968" y="4882896"/>
            <a:ext cx="11018520" cy="7772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24128" y="4928616"/>
            <a:ext cx="10744200" cy="274320"/>
          </a:xfrm>
          <a:prstGeom prst="rect">
            <a:avLst/>
          </a:prstGeom>
          <a:noFill/>
        </p:spPr>
        <p:txBody>
          <a:bodyPr wrap="square">
            <a:spAutoFit/>
          </a:bodyPr>
          <a:lstStyle/>
          <a:p>
            <a:pPr algn="l"/>
            <a:r>
              <a:rPr sz="1200" b="1">
                <a:solidFill>
                  <a:srgbClr val="F1F5F9"/>
                </a:solidFill>
              </a:rPr>
              <a:t>python-dotenv</a:t>
            </a:r>
          </a:p>
        </p:txBody>
      </p:sp>
      <p:sp>
        <p:nvSpPr>
          <p:cNvPr id="33" name="TextBox 32"/>
          <p:cNvSpPr txBox="1"/>
          <p:nvPr/>
        </p:nvSpPr>
        <p:spPr>
          <a:xfrm>
            <a:off x="1024128" y="5230368"/>
            <a:ext cx="10744200" cy="201168"/>
          </a:xfrm>
          <a:prstGeom prst="rect">
            <a:avLst/>
          </a:prstGeom>
          <a:noFill/>
        </p:spPr>
        <p:txBody>
          <a:bodyPr wrap="square">
            <a:spAutoFit/>
          </a:bodyPr>
          <a:lstStyle/>
          <a:p>
            <a:pPr algn="l"/>
            <a:r>
              <a:rPr sz="900" b="0">
                <a:solidFill>
                  <a:srgbClr val="94A3B8"/>
                </a:solidFill>
              </a:rPr>
              <a:t>Library docs for loading environment variables securely from .env files in Python projects.</a:t>
            </a:r>
          </a:p>
        </p:txBody>
      </p:sp>
      <p:sp>
        <p:nvSpPr>
          <p:cNvPr id="34" name="TextBox 33"/>
          <p:cNvSpPr txBox="1"/>
          <p:nvPr/>
        </p:nvSpPr>
        <p:spPr>
          <a:xfrm>
            <a:off x="1024128" y="5449824"/>
            <a:ext cx="10744200" cy="201168"/>
          </a:xfrm>
          <a:prstGeom prst="rect">
            <a:avLst/>
          </a:prstGeom>
          <a:noFill/>
        </p:spPr>
        <p:txBody>
          <a:bodyPr wrap="none">
            <a:spAutoFit/>
          </a:bodyPr>
          <a:lstStyle/>
          <a:p>
            <a:r>
              <a:rPr sz="900">
                <a:solidFill>
                  <a:srgbClr val="3B82F6"/>
                </a:solidFill>
              </a:rPr>
              <a:t>https://pypi.org/project/python-dotenv/</a:t>
            </a:r>
          </a:p>
        </p:txBody>
      </p:sp>
      <p:sp>
        <p:nvSpPr>
          <p:cNvPr id="35" name="Rectangle 34"/>
          <p:cNvSpPr/>
          <p:nvPr/>
        </p:nvSpPr>
        <p:spPr>
          <a:xfrm>
            <a:off x="320040" y="5806440"/>
            <a:ext cx="475488"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20040" y="6025896"/>
            <a:ext cx="475488" cy="347472"/>
          </a:xfrm>
          <a:prstGeom prst="rect">
            <a:avLst/>
          </a:prstGeom>
          <a:noFill/>
        </p:spPr>
        <p:txBody>
          <a:bodyPr wrap="square">
            <a:spAutoFit/>
          </a:bodyPr>
          <a:lstStyle/>
          <a:p>
            <a:pPr algn="ctr"/>
            <a:r>
              <a:rPr sz="1400" b="1">
                <a:solidFill>
                  <a:srgbClr val="F1F5F9"/>
                </a:solidFill>
              </a:rPr>
              <a:t>6</a:t>
            </a:r>
          </a:p>
        </p:txBody>
      </p:sp>
      <p:sp>
        <p:nvSpPr>
          <p:cNvPr id="37" name="Rectangle 36"/>
          <p:cNvSpPr/>
          <p:nvPr/>
        </p:nvSpPr>
        <p:spPr>
          <a:xfrm>
            <a:off x="886968" y="5806440"/>
            <a:ext cx="11018520" cy="7772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24128" y="5852159"/>
            <a:ext cx="10744200" cy="274320"/>
          </a:xfrm>
          <a:prstGeom prst="rect">
            <a:avLst/>
          </a:prstGeom>
          <a:noFill/>
        </p:spPr>
        <p:txBody>
          <a:bodyPr wrap="square">
            <a:spAutoFit/>
          </a:bodyPr>
          <a:lstStyle/>
          <a:p>
            <a:pPr algn="l"/>
            <a:r>
              <a:rPr sz="1200" b="1">
                <a:solidFill>
                  <a:srgbClr val="F1F5F9"/>
                </a:solidFill>
              </a:rPr>
              <a:t>Dev.to Reference Article</a:t>
            </a:r>
          </a:p>
        </p:txBody>
      </p:sp>
      <p:sp>
        <p:nvSpPr>
          <p:cNvPr id="39" name="TextBox 38"/>
          <p:cNvSpPr txBox="1"/>
          <p:nvPr/>
        </p:nvSpPr>
        <p:spPr>
          <a:xfrm>
            <a:off x="1024128" y="6153912"/>
            <a:ext cx="10744200" cy="201168"/>
          </a:xfrm>
          <a:prstGeom prst="rect">
            <a:avLst/>
          </a:prstGeom>
          <a:noFill/>
        </p:spPr>
        <p:txBody>
          <a:bodyPr wrap="square">
            <a:spAutoFit/>
          </a:bodyPr>
          <a:lstStyle/>
          <a:p>
            <a:pPr algn="l"/>
            <a:r>
              <a:rPr sz="900" b="0">
                <a:solidFill>
                  <a:srgbClr val="94A3B8"/>
                </a:solidFill>
              </a:rPr>
              <a:t>Build a Real-Time News AI Agent using LangChain — practical walkthrough informing the project architecture.</a:t>
            </a:r>
          </a:p>
        </p:txBody>
      </p:sp>
      <p:sp>
        <p:nvSpPr>
          <p:cNvPr id="40" name="TextBox 39"/>
          <p:cNvSpPr txBox="1"/>
          <p:nvPr/>
        </p:nvSpPr>
        <p:spPr>
          <a:xfrm>
            <a:off x="1024128" y="6373368"/>
            <a:ext cx="10744200" cy="201168"/>
          </a:xfrm>
          <a:prstGeom prst="rect">
            <a:avLst/>
          </a:prstGeom>
          <a:noFill/>
        </p:spPr>
        <p:txBody>
          <a:bodyPr wrap="none">
            <a:spAutoFit/>
          </a:bodyPr>
          <a:lstStyle/>
          <a:p>
            <a:r>
              <a:rPr sz="900">
                <a:solidFill>
                  <a:srgbClr val="3B82F6"/>
                </a:solidFill>
              </a:rPr>
              <a:t>https://dev.to/pavanbelagatti/build-a-real-time-news-ai-agent-using-langchain-in-just-a-few-steps-4d60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71</TotalTime>
  <Words>2762</Words>
  <Application>Microsoft Office PowerPoint</Application>
  <PresentationFormat>Custom</PresentationFormat>
  <Paragraphs>353</Paragraphs>
  <Slides>15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Subhash Sahoo</cp:lastModifiedBy>
  <cp:revision>1</cp:revision>
  <dcterms:created xsi:type="dcterms:W3CDTF">2013-01-27T09:14:16Z</dcterms:created>
  <dcterms:modified xsi:type="dcterms:W3CDTF">2026-10-24T15:39:08Z</dcterms:modified>
  <cp:category/>
</cp:coreProperties>
</file>